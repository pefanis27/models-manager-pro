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Χρόνος Inference (ms)</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PyTorch
CPU</c:v>
                  </c:pt>
                  <c:pt idx="1">
                    <c:v>ONNX
CPU</c:v>
                  </c:pt>
                  <c:pt idx="2">
                    <c:v>ONNX
CUDA</c:v>
                  </c:pt>
                  <c:pt idx="3">
                    <c:v>TensorRT
FP32</c:v>
                  </c:pt>
                  <c:pt idx="4">
                    <c:v>TensorRT
FP16</c:v>
                  </c:pt>
                </c:lvl>
              </c:multiLvlStrCache>
            </c:multiLvlStrRef>
          </c:cat>
          <c:val>
            <c:numRef>
              <c:f>Sheet1!$B$2:$B$6</c:f>
              <c:numCache>
                <c:formatCode>General</c:formatCode>
                <c:ptCount val="5"/>
                <c:pt idx="0">
                  <c:v>85</c:v>
                </c:pt>
                <c:pt idx="1">
                  <c:v>42</c:v>
                </c:pt>
                <c:pt idx="2">
                  <c:v>18</c:v>
                </c:pt>
                <c:pt idx="3">
                  <c:v>9</c:v>
                </c:pt>
                <c:pt idx="4">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FPS</c:v>
                </c:pt>
              </c:strCache>
            </c:strRef>
          </c:tx>
          <c:spPr>
            <a:solidFill>
              <a:srgbClr val="FF6B35"/>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FF6B35"/>
              </a:solidFill>
              <a:effectLst/>
            </c:spPr>
          </c:dPt>
          <c:dPt>
            <c:idx val="1"/>
            <c:invertIfNegative val="0"/>
            <c:bubble3D val="0"/>
            <c:spPr>
              <a:solidFill>
                <a:srgbClr val="00D4FF"/>
              </a:solidFill>
              <a:effectLst/>
            </c:spPr>
          </c:dPt>
          <c:dPt>
            <c:idx val="2"/>
            <c:invertIfNegative val="0"/>
            <c:bubble3D val="0"/>
            <c:spPr>
              <a:solidFill>
                <a:srgbClr val="00FF9D"/>
              </a:solidFill>
              <a:effectLst/>
            </c:spPr>
          </c:dPt>
          <c:dPt>
            <c:idx val="3"/>
            <c:invertIfNegative val="0"/>
            <c:bubble3D val="0"/>
            <c:spPr>
              <a:solidFill>
                <a:srgbClr val="7B2FBE"/>
              </a:solidFill>
              <a:effectLst/>
            </c:spPr>
          </c:dPt>
          <c:dPt>
            <c:idx val="4"/>
            <c:invertIfNegative val="0"/>
            <c:bubble3D val="0"/>
            <c:spPr>
              <a:solidFill>
                <a:srgbClr val="FF6B35"/>
              </a:solidFill>
              <a:effectLst/>
            </c:spPr>
          </c:dPt>
          <c:dPt>
            <c:idx val="5"/>
            <c:invertIfNegative val="0"/>
            <c:bubble3D val="0"/>
            <c:spPr>
              <a:solidFill>
                <a:srgbClr val="FFD700"/>
              </a:solidFill>
              <a:effectLst/>
            </c:spPr>
          </c:dPt>
          <c:cat>
            <c:multiLvlStrRef>
              <c:f>Sheet1!$A$2:$A$7</c:f>
              <c:multiLvlStrCache>
                <c:ptCount val="6"/>
                <c:lvl>
                  <c:pt idx="0">
                    <c:v>CPU FP32</c:v>
                  </c:pt>
                  <c:pt idx="1">
                    <c:v>CUDA FP32</c:v>
                  </c:pt>
                  <c:pt idx="2">
                    <c:v>CUDA FP16</c:v>
                  </c:pt>
                  <c:pt idx="3">
                    <c:v>TRT FP32</c:v>
                  </c:pt>
                  <c:pt idx="4">
                    <c:v>TRT FP16</c:v>
                  </c:pt>
                  <c:pt idx="5">
                    <c:v>TRT INT8</c:v>
                  </c:pt>
                </c:lvl>
              </c:multiLvlStrCache>
            </c:multiLvlStrRef>
          </c:cat>
          <c:val>
            <c:numRef>
              <c:f>Sheet1!$B$2:$B$7</c:f>
              <c:numCache>
                <c:formatCode>General</c:formatCode>
                <c:ptCount val="6"/>
                <c:pt idx="0">
                  <c:v>8</c:v>
                </c:pt>
                <c:pt idx="1">
                  <c:v>28</c:v>
                </c:pt>
                <c:pt idx="2">
                  <c:v>45</c:v>
                </c:pt>
                <c:pt idx="3">
                  <c:v>55</c:v>
                </c:pt>
                <c:pt idx="4">
                  <c:v>62</c:v>
                </c:pt>
                <c:pt idx="5">
                  <c:v>70</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3A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2254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mAP@0.5</c:v>
                </c:pt>
              </c:strCache>
            </c:strRef>
          </c:tx>
          <c:spPr>
            <a:solidFill>
              <a:srgbClr val="00D4FF"/>
            </a:solidFill>
            <a:ln w="25400" cap="flat">
              <a:solidFill>
                <a:srgbClr val="00D4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FF"/>
              </a:solidFill>
              <a:ln w="9525" cap="flat">
                <a:solidFill>
                  <a:srgbClr val="00D4FF"/>
                </a:solidFill>
                <a:prstDash val="solid"/>
                <a:round/>
              </a:ln>
              <a:effectLst/>
            </c:spPr>
          </c:marker>
          <c:cat>
            <c:multiLvlStrRef>
              <c:f>Sheet1!$A$2:$A$11</c:f>
              <c:multiLvlStrCache>
                <c:ptCount val="10"/>
                <c:lvl>
                  <c:pt idx="0">
                    <c:v>10</c:v>
                  </c:pt>
                  <c:pt idx="1">
                    <c:v>20</c:v>
                  </c:pt>
                  <c:pt idx="2">
                    <c:v>30</c:v>
                  </c:pt>
                  <c:pt idx="3">
                    <c:v>40</c:v>
                  </c:pt>
                  <c:pt idx="4">
                    <c:v>50</c:v>
                  </c:pt>
                  <c:pt idx="5">
                    <c:v>60</c:v>
                  </c:pt>
                  <c:pt idx="6">
                    <c:v>70</c:v>
                  </c:pt>
                  <c:pt idx="7">
                    <c:v>80</c:v>
                  </c:pt>
                  <c:pt idx="8">
                    <c:v>90</c:v>
                  </c:pt>
                  <c:pt idx="9">
                    <c:v>100</c:v>
                  </c:pt>
                </c:lvl>
              </c:multiLvlStrCache>
            </c:multiLvlStrRef>
          </c:cat>
          <c:val>
            <c:numRef>
              <c:f>Sheet1!$B$2:$B$11</c:f>
              <c:numCache>
                <c:formatCode>General</c:formatCode>
                <c:ptCount val="10"/>
                <c:pt idx="0">
                  <c:v>0.22</c:v>
                </c:pt>
                <c:pt idx="1">
                  <c:v>0.38</c:v>
                </c:pt>
                <c:pt idx="2">
                  <c:v>0.52</c:v>
                </c:pt>
                <c:pt idx="3">
                  <c:v>0.61</c:v>
                </c:pt>
                <c:pt idx="4">
                  <c:v>0.68</c:v>
                </c:pt>
                <c:pt idx="5">
                  <c:v>0.73</c:v>
                </c:pt>
                <c:pt idx="6">
                  <c:v>0.76</c:v>
                </c:pt>
                <c:pt idx="7">
                  <c:v>0.78</c:v>
                </c:pt>
                <c:pt idx="8">
                  <c:v>0.79</c:v>
                </c:pt>
                <c:pt idx="9">
                  <c:v>0.8</c:v>
                </c:pt>
              </c:numCache>
            </c:numRef>
          </c:val>
          <c:smooth val="1"/>
        </c:ser>
        <c:ser>
          <c:idx val="1"/>
          <c:order val="1"/>
          <c:tx>
            <c:strRef>
              <c:f>Sheet1!$C$1</c:f>
              <c:strCache>
                <c:ptCount val="1"/>
                <c:pt idx="0">
                  <c:v>Val Loss</c:v>
                </c:pt>
              </c:strCache>
            </c:strRef>
          </c:tx>
          <c:spPr>
            <a:solidFill>
              <a:srgbClr val="FF6B35"/>
            </a:solidFill>
            <a:ln w="25400" cap="flat">
              <a:solidFill>
                <a:srgbClr val="FF6B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B35"/>
              </a:solidFill>
              <a:ln w="9525" cap="flat">
                <a:solidFill>
                  <a:srgbClr val="FF6B35"/>
                </a:solidFill>
                <a:prstDash val="solid"/>
                <a:round/>
              </a:ln>
              <a:effectLst/>
            </c:spPr>
          </c:marker>
          <c:cat>
            <c:multiLvlStrRef>
              <c:f>Sheet1!$A$2:$A$11</c:f>
              <c:multiLvlStrCache>
                <c:ptCount val="10"/>
                <c:lvl>
                  <c:pt idx="0">
                    <c:v>10</c:v>
                  </c:pt>
                  <c:pt idx="1">
                    <c:v>20</c:v>
                  </c:pt>
                  <c:pt idx="2">
                    <c:v>30</c:v>
                  </c:pt>
                  <c:pt idx="3">
                    <c:v>40</c:v>
                  </c:pt>
                  <c:pt idx="4">
                    <c:v>50</c:v>
                  </c:pt>
                  <c:pt idx="5">
                    <c:v>60</c:v>
                  </c:pt>
                  <c:pt idx="6">
                    <c:v>70</c:v>
                  </c:pt>
                  <c:pt idx="7">
                    <c:v>80</c:v>
                  </c:pt>
                  <c:pt idx="8">
                    <c:v>90</c:v>
                  </c:pt>
                  <c:pt idx="9">
                    <c:v>100</c:v>
                  </c:pt>
                </c:lvl>
              </c:multiLvlStrCache>
            </c:multiLvlStrRef>
          </c:cat>
          <c:val>
            <c:numRef>
              <c:f>Sheet1!$C$2:$C$11</c:f>
              <c:numCache>
                <c:formatCode>General</c:formatCode>
                <c:ptCount val="10"/>
                <c:pt idx="0">
                  <c:v>0.85</c:v>
                </c:pt>
                <c:pt idx="1">
                  <c:v>0.72</c:v>
                </c:pt>
                <c:pt idx="2">
                  <c:v>0.61</c:v>
                </c:pt>
                <c:pt idx="3">
                  <c:v>0.52</c:v>
                </c:pt>
                <c:pt idx="4">
                  <c:v>0.46</c:v>
                </c:pt>
                <c:pt idx="5">
                  <c:v>0.41</c:v>
                </c:pt>
                <c:pt idx="6">
                  <c:v>0.38</c:v>
                </c:pt>
                <c:pt idx="7">
                  <c:v>0.36</c:v>
                </c:pt>
                <c:pt idx="8">
                  <c:v>0.35</c:v>
                </c:pt>
                <c:pt idx="9">
                  <c:v>0.34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3A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chart>
  <c:spPr>
    <a:solidFill>
      <a:srgbClr val="122544"/>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mAP@0.5 (%)</c:v>
                </c:pt>
              </c:strCache>
            </c:strRef>
          </c:tx>
          <c:spPr>
            <a:solidFill>
              <a:srgbClr val="4488FF"/>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4488FF"/>
              </a:solidFill>
              <a:effectLst/>
            </c:spPr>
          </c:dPt>
          <c:dPt>
            <c:idx val="1"/>
            <c:invertIfNegative val="0"/>
            <c:bubble3D val="0"/>
            <c:spPr>
              <a:solidFill>
                <a:srgbClr val="00D4FF"/>
              </a:solidFill>
              <a:effectLst/>
            </c:spPr>
          </c:dPt>
          <c:dPt>
            <c:idx val="2"/>
            <c:invertIfNegative val="0"/>
            <c:bubble3D val="0"/>
            <c:spPr>
              <a:solidFill>
                <a:srgbClr val="00FF9D"/>
              </a:solidFill>
              <a:effectLst/>
            </c:spPr>
          </c:dPt>
          <c:dPt>
            <c:idx val="3"/>
            <c:invertIfNegative val="0"/>
            <c:bubble3D val="0"/>
            <c:spPr>
              <a:solidFill>
                <a:srgbClr val="7B2FBE"/>
              </a:solidFill>
              <a:effectLst/>
            </c:spPr>
          </c:dPt>
          <c:dPt>
            <c:idx val="4"/>
            <c:invertIfNegative val="0"/>
            <c:bubble3D val="0"/>
            <c:spPr>
              <a:solidFill>
                <a:srgbClr val="FF6B35"/>
              </a:solidFill>
              <a:effectLst/>
            </c:spPr>
          </c:dPt>
          <c:dPt>
            <c:idx val="5"/>
            <c:invertIfNegative val="0"/>
            <c:bubble3D val="0"/>
            <c:spPr>
              <a:solidFill>
                <a:srgbClr val="FFD700"/>
              </a:solidFill>
              <a:effectLst/>
            </c:spPr>
          </c:dPt>
          <c:dPt>
            <c:idx val="6"/>
            <c:invertIfNegative val="0"/>
            <c:bubble3D val="0"/>
            <c:spPr>
              <a:solidFill>
                <a:srgbClr val="FF2D78"/>
              </a:solidFill>
              <a:effectLst/>
            </c:spPr>
          </c:dPt>
          <c:dPt>
            <c:idx val="7"/>
            <c:invertIfNegative val="0"/>
            <c:bubble3D val="0"/>
            <c:spPr>
              <a:solidFill>
                <a:srgbClr val="00D4FF"/>
              </a:solidFill>
              <a:effectLst/>
            </c:spPr>
          </c:dPt>
          <c:cat>
            <c:multiLvlStrRef>
              <c:f>Sheet1!$A$2:$A$9</c:f>
              <c:multiLvlStrCache>
                <c:ptCount val="8"/>
                <c:lvl>
                  <c:pt idx="0">
                    <c:v>YOLOv5n</c:v>
                  </c:pt>
                  <c:pt idx="1">
                    <c:v>YOLOv5s</c:v>
                  </c:pt>
                  <c:pt idx="2">
                    <c:v>YOLOv8n</c:v>
                  </c:pt>
                  <c:pt idx="3">
                    <c:v>YOLOv8s</c:v>
                  </c:pt>
                  <c:pt idx="4">
                    <c:v>YOLOv9s</c:v>
                  </c:pt>
                  <c:pt idx="5">
                    <c:v>YOLOv10s</c:v>
                  </c:pt>
                  <c:pt idx="6">
                    <c:v>YOLOv11s</c:v>
                  </c:pt>
                  <c:pt idx="7">
                    <c:v>YOLOv12s</c:v>
                  </c:pt>
                </c:lvl>
              </c:multiLvlStrCache>
            </c:multiLvlStrRef>
          </c:cat>
          <c:val>
            <c:numRef>
              <c:f>Sheet1!$B$2:$B$9</c:f>
              <c:numCache>
                <c:formatCode>General</c:formatCode>
                <c:ptCount val="8"/>
                <c:pt idx="0">
                  <c:v>45.7</c:v>
                </c:pt>
                <c:pt idx="1">
                  <c:v>56.8</c:v>
                </c:pt>
                <c:pt idx="2">
                  <c:v>52.3</c:v>
                </c:pt>
                <c:pt idx="3">
                  <c:v>64.1</c:v>
                </c:pt>
                <c:pt idx="4">
                  <c:v>65.7</c:v>
                </c:pt>
                <c:pt idx="5">
                  <c:v>63.8</c:v>
                </c:pt>
                <c:pt idx="6">
                  <c:v>67.2</c:v>
                </c:pt>
                <c:pt idx="7">
                  <c:v>68.5</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3A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22544"/>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FPS</c:v>
                </c:pt>
              </c:strCache>
            </c:strRef>
          </c:tx>
          <c:spPr>
            <a:solidFill>
              <a:srgbClr val="00FF9D"/>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FF9D"/>
              </a:solidFill>
              <a:effectLst/>
            </c:spPr>
          </c:dPt>
          <c:dPt>
            <c:idx val="1"/>
            <c:invertIfNegative val="0"/>
            <c:bubble3D val="0"/>
            <c:spPr>
              <a:solidFill>
                <a:srgbClr val="00D4FF"/>
              </a:solidFill>
              <a:effectLst/>
            </c:spPr>
          </c:dPt>
          <c:dPt>
            <c:idx val="2"/>
            <c:invertIfNegative val="0"/>
            <c:bubble3D val="0"/>
            <c:spPr>
              <a:solidFill>
                <a:srgbClr val="7B2FBE"/>
              </a:solidFill>
              <a:effectLst/>
            </c:spPr>
          </c:dPt>
          <c:dPt>
            <c:idx val="3"/>
            <c:invertIfNegative val="0"/>
            <c:bubble3D val="0"/>
            <c:spPr>
              <a:solidFill>
                <a:srgbClr val="FF6B35"/>
              </a:solidFill>
              <a:effectLst/>
            </c:spPr>
          </c:dPt>
          <c:dPt>
            <c:idx val="4"/>
            <c:invertIfNegative val="0"/>
            <c:bubble3D val="0"/>
            <c:spPr>
              <a:solidFill>
                <a:srgbClr val="FFD700"/>
              </a:solidFill>
              <a:effectLst/>
            </c:spPr>
          </c:dPt>
          <c:dPt>
            <c:idx val="5"/>
            <c:invertIfNegative val="0"/>
            <c:bubble3D val="0"/>
            <c:spPr>
              <a:solidFill>
                <a:srgbClr val="FF2D78"/>
              </a:solidFill>
              <a:effectLst/>
            </c:spPr>
          </c:dPt>
          <c:dPt>
            <c:idx val="6"/>
            <c:invertIfNegative val="0"/>
            <c:bubble3D val="0"/>
            <c:spPr>
              <a:solidFill>
                <a:srgbClr val="00D4FF"/>
              </a:solidFill>
              <a:effectLst/>
            </c:spPr>
          </c:dPt>
          <c:dPt>
            <c:idx val="7"/>
            <c:invertIfNegative val="0"/>
            <c:bubble3D val="0"/>
            <c:spPr>
              <a:solidFill>
                <a:srgbClr val="4488FF"/>
              </a:solidFill>
              <a:effectLst/>
            </c:spPr>
          </c:dPt>
          <c:cat>
            <c:multiLvlStrRef>
              <c:f>Sheet1!$A$2:$A$9</c:f>
              <c:multiLvlStrCache>
                <c:ptCount val="8"/>
                <c:lvl>
                  <c:pt idx="0">
                    <c:v>YOLOv5n</c:v>
                  </c:pt>
                  <c:pt idx="1">
                    <c:v>YOLOv5s</c:v>
                  </c:pt>
                  <c:pt idx="2">
                    <c:v>YOLOv8n</c:v>
                  </c:pt>
                  <c:pt idx="3">
                    <c:v>YOLOv8s</c:v>
                  </c:pt>
                  <c:pt idx="4">
                    <c:v>YOLOv9s</c:v>
                  </c:pt>
                  <c:pt idx="5">
                    <c:v>YOLOv10s</c:v>
                  </c:pt>
                  <c:pt idx="6">
                    <c:v>YOLOv11s</c:v>
                  </c:pt>
                  <c:pt idx="7">
                    <c:v>YOLOv12s</c:v>
                  </c:pt>
                </c:lvl>
              </c:multiLvlStrCache>
            </c:multiLvlStrRef>
          </c:cat>
          <c:val>
            <c:numRef>
              <c:f>Sheet1!$B$2:$B$9</c:f>
              <c:numCache>
                <c:formatCode>General</c:formatCode>
                <c:ptCount val="8"/>
                <c:pt idx="0">
                  <c:v>280</c:v>
                </c:pt>
                <c:pt idx="1">
                  <c:v>165</c:v>
                </c:pt>
                <c:pt idx="2">
                  <c:v>245</c:v>
                </c:pt>
                <c:pt idx="3">
                  <c:v>140</c:v>
                </c:pt>
                <c:pt idx="4">
                  <c:v>120</c:v>
                </c:pt>
                <c:pt idx="5">
                  <c:v>155</c:v>
                </c:pt>
                <c:pt idx="6">
                  <c:v>130</c:v>
                </c:pt>
                <c:pt idx="7">
                  <c:v>118</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3A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BBC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2254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A3A6A"/>
            </a:solidFill>
            <a:prstDash val="solid"/>
          </a:ln>
        </p:spPr>
      </p:sp>
      <p:sp>
        <p:nvSpPr>
          <p:cNvPr id="3" name="Shape 1"/>
          <p:cNvSpPr/>
          <p:nvPr/>
        </p:nvSpPr>
        <p:spPr>
          <a:xfrm>
            <a:off x="1143000" y="0"/>
            <a:ext cx="0" cy="5143500"/>
          </a:xfrm>
          <a:prstGeom prst="line">
            <a:avLst/>
          </a:prstGeom>
          <a:noFill/>
          <a:ln w="6350">
            <a:solidFill>
              <a:srgbClr val="1A3A6A"/>
            </a:solidFill>
            <a:prstDash val="solid"/>
          </a:ln>
        </p:spPr>
      </p:sp>
      <p:sp>
        <p:nvSpPr>
          <p:cNvPr id="4" name="Shape 2"/>
          <p:cNvSpPr/>
          <p:nvPr/>
        </p:nvSpPr>
        <p:spPr>
          <a:xfrm>
            <a:off x="2286000" y="0"/>
            <a:ext cx="0" cy="5143500"/>
          </a:xfrm>
          <a:prstGeom prst="line">
            <a:avLst/>
          </a:prstGeom>
          <a:noFill/>
          <a:ln w="6350">
            <a:solidFill>
              <a:srgbClr val="1A3A6A"/>
            </a:solidFill>
            <a:prstDash val="solid"/>
          </a:ln>
        </p:spPr>
      </p:sp>
      <p:sp>
        <p:nvSpPr>
          <p:cNvPr id="5" name="Shape 3"/>
          <p:cNvSpPr/>
          <p:nvPr/>
        </p:nvSpPr>
        <p:spPr>
          <a:xfrm>
            <a:off x="3429000" y="0"/>
            <a:ext cx="0" cy="5143500"/>
          </a:xfrm>
          <a:prstGeom prst="line">
            <a:avLst/>
          </a:prstGeom>
          <a:noFill/>
          <a:ln w="6350">
            <a:solidFill>
              <a:srgbClr val="1A3A6A"/>
            </a:solidFill>
            <a:prstDash val="solid"/>
          </a:ln>
        </p:spPr>
      </p:sp>
      <p:sp>
        <p:nvSpPr>
          <p:cNvPr id="6" name="Shape 4"/>
          <p:cNvSpPr/>
          <p:nvPr/>
        </p:nvSpPr>
        <p:spPr>
          <a:xfrm>
            <a:off x="4572000" y="0"/>
            <a:ext cx="0" cy="5143500"/>
          </a:xfrm>
          <a:prstGeom prst="line">
            <a:avLst/>
          </a:prstGeom>
          <a:noFill/>
          <a:ln w="6350">
            <a:solidFill>
              <a:srgbClr val="1A3A6A"/>
            </a:solidFill>
            <a:prstDash val="solid"/>
          </a:ln>
        </p:spPr>
      </p:sp>
      <p:sp>
        <p:nvSpPr>
          <p:cNvPr id="7" name="Shape 5"/>
          <p:cNvSpPr/>
          <p:nvPr/>
        </p:nvSpPr>
        <p:spPr>
          <a:xfrm>
            <a:off x="5715000" y="0"/>
            <a:ext cx="0" cy="5143500"/>
          </a:xfrm>
          <a:prstGeom prst="line">
            <a:avLst/>
          </a:prstGeom>
          <a:noFill/>
          <a:ln w="6350">
            <a:solidFill>
              <a:srgbClr val="1A3A6A"/>
            </a:solidFill>
            <a:prstDash val="solid"/>
          </a:ln>
        </p:spPr>
      </p:sp>
      <p:sp>
        <p:nvSpPr>
          <p:cNvPr id="8" name="Shape 6"/>
          <p:cNvSpPr/>
          <p:nvPr/>
        </p:nvSpPr>
        <p:spPr>
          <a:xfrm>
            <a:off x="6858000" y="0"/>
            <a:ext cx="0" cy="5143500"/>
          </a:xfrm>
          <a:prstGeom prst="line">
            <a:avLst/>
          </a:prstGeom>
          <a:noFill/>
          <a:ln w="6350">
            <a:solidFill>
              <a:srgbClr val="1A3A6A"/>
            </a:solidFill>
            <a:prstDash val="solid"/>
          </a:ln>
        </p:spPr>
      </p:sp>
      <p:sp>
        <p:nvSpPr>
          <p:cNvPr id="9" name="Shape 7"/>
          <p:cNvSpPr/>
          <p:nvPr/>
        </p:nvSpPr>
        <p:spPr>
          <a:xfrm>
            <a:off x="8001000" y="0"/>
            <a:ext cx="0" cy="5143500"/>
          </a:xfrm>
          <a:prstGeom prst="line">
            <a:avLst/>
          </a:prstGeom>
          <a:noFill/>
          <a:ln w="6350">
            <a:solidFill>
              <a:srgbClr val="1A3A6A"/>
            </a:solidFill>
            <a:prstDash val="solid"/>
          </a:ln>
        </p:spPr>
      </p:sp>
      <p:sp>
        <p:nvSpPr>
          <p:cNvPr id="10" name="Shape 8"/>
          <p:cNvSpPr/>
          <p:nvPr/>
        </p:nvSpPr>
        <p:spPr>
          <a:xfrm>
            <a:off x="9144000" y="0"/>
            <a:ext cx="0" cy="5143500"/>
          </a:xfrm>
          <a:prstGeom prst="line">
            <a:avLst/>
          </a:prstGeom>
          <a:noFill/>
          <a:ln w="6350">
            <a:solidFill>
              <a:srgbClr val="1A3A6A"/>
            </a:solidFill>
            <a:prstDash val="solid"/>
          </a:ln>
        </p:spPr>
      </p:sp>
      <p:sp>
        <p:nvSpPr>
          <p:cNvPr id="11" name="Shape 9"/>
          <p:cNvSpPr/>
          <p:nvPr/>
        </p:nvSpPr>
        <p:spPr>
          <a:xfrm>
            <a:off x="0" y="0"/>
            <a:ext cx="9144000" cy="0"/>
          </a:xfrm>
          <a:prstGeom prst="line">
            <a:avLst/>
          </a:prstGeom>
          <a:noFill/>
          <a:ln w="6350">
            <a:solidFill>
              <a:srgbClr val="1A3A6A"/>
            </a:solidFill>
            <a:prstDash val="solid"/>
          </a:ln>
        </p:spPr>
      </p:sp>
      <p:sp>
        <p:nvSpPr>
          <p:cNvPr id="12" name="Shape 10"/>
          <p:cNvSpPr/>
          <p:nvPr/>
        </p:nvSpPr>
        <p:spPr>
          <a:xfrm>
            <a:off x="0" y="640080"/>
            <a:ext cx="9144000" cy="0"/>
          </a:xfrm>
          <a:prstGeom prst="line">
            <a:avLst/>
          </a:prstGeom>
          <a:noFill/>
          <a:ln w="6350">
            <a:solidFill>
              <a:srgbClr val="1A3A6A"/>
            </a:solidFill>
            <a:prstDash val="solid"/>
          </a:ln>
        </p:spPr>
      </p:sp>
      <p:sp>
        <p:nvSpPr>
          <p:cNvPr id="13" name="Shape 11"/>
          <p:cNvSpPr/>
          <p:nvPr/>
        </p:nvSpPr>
        <p:spPr>
          <a:xfrm>
            <a:off x="0" y="1280160"/>
            <a:ext cx="9144000" cy="0"/>
          </a:xfrm>
          <a:prstGeom prst="line">
            <a:avLst/>
          </a:prstGeom>
          <a:noFill/>
          <a:ln w="6350">
            <a:solidFill>
              <a:srgbClr val="1A3A6A"/>
            </a:solidFill>
            <a:prstDash val="solid"/>
          </a:ln>
        </p:spPr>
      </p:sp>
      <p:sp>
        <p:nvSpPr>
          <p:cNvPr id="14" name="Shape 12"/>
          <p:cNvSpPr/>
          <p:nvPr/>
        </p:nvSpPr>
        <p:spPr>
          <a:xfrm>
            <a:off x="0" y="1920240"/>
            <a:ext cx="9144000" cy="0"/>
          </a:xfrm>
          <a:prstGeom prst="line">
            <a:avLst/>
          </a:prstGeom>
          <a:noFill/>
          <a:ln w="6350">
            <a:solidFill>
              <a:srgbClr val="1A3A6A"/>
            </a:solidFill>
            <a:prstDash val="solid"/>
          </a:ln>
        </p:spPr>
      </p:sp>
      <p:sp>
        <p:nvSpPr>
          <p:cNvPr id="15" name="Shape 13"/>
          <p:cNvSpPr/>
          <p:nvPr/>
        </p:nvSpPr>
        <p:spPr>
          <a:xfrm>
            <a:off x="0" y="2560320"/>
            <a:ext cx="9144000" cy="0"/>
          </a:xfrm>
          <a:prstGeom prst="line">
            <a:avLst/>
          </a:prstGeom>
          <a:noFill/>
          <a:ln w="6350">
            <a:solidFill>
              <a:srgbClr val="1A3A6A"/>
            </a:solidFill>
            <a:prstDash val="solid"/>
          </a:ln>
        </p:spPr>
      </p:sp>
      <p:sp>
        <p:nvSpPr>
          <p:cNvPr id="16" name="Shape 14"/>
          <p:cNvSpPr/>
          <p:nvPr/>
        </p:nvSpPr>
        <p:spPr>
          <a:xfrm>
            <a:off x="0" y="3200400"/>
            <a:ext cx="9144000" cy="0"/>
          </a:xfrm>
          <a:prstGeom prst="line">
            <a:avLst/>
          </a:prstGeom>
          <a:noFill/>
          <a:ln w="6350">
            <a:solidFill>
              <a:srgbClr val="1A3A6A"/>
            </a:solidFill>
            <a:prstDash val="solid"/>
          </a:ln>
        </p:spPr>
      </p:sp>
      <p:sp>
        <p:nvSpPr>
          <p:cNvPr id="17" name="Shape 15"/>
          <p:cNvSpPr/>
          <p:nvPr/>
        </p:nvSpPr>
        <p:spPr>
          <a:xfrm>
            <a:off x="0" y="3840480"/>
            <a:ext cx="9144000" cy="0"/>
          </a:xfrm>
          <a:prstGeom prst="line">
            <a:avLst/>
          </a:prstGeom>
          <a:noFill/>
          <a:ln w="6350">
            <a:solidFill>
              <a:srgbClr val="1A3A6A"/>
            </a:solidFill>
            <a:prstDash val="solid"/>
          </a:ln>
        </p:spPr>
      </p:sp>
      <p:sp>
        <p:nvSpPr>
          <p:cNvPr id="18" name="Shape 16"/>
          <p:cNvSpPr/>
          <p:nvPr/>
        </p:nvSpPr>
        <p:spPr>
          <a:xfrm>
            <a:off x="0" y="4480560"/>
            <a:ext cx="9144000" cy="0"/>
          </a:xfrm>
          <a:prstGeom prst="line">
            <a:avLst/>
          </a:prstGeom>
          <a:noFill/>
          <a:ln w="6350">
            <a:solidFill>
              <a:srgbClr val="1A3A6A"/>
            </a:solidFill>
            <a:prstDash val="solid"/>
          </a:ln>
        </p:spPr>
      </p:sp>
      <p:sp>
        <p:nvSpPr>
          <p:cNvPr id="19" name="Shape 17"/>
          <p:cNvSpPr/>
          <p:nvPr/>
        </p:nvSpPr>
        <p:spPr>
          <a:xfrm>
            <a:off x="0" y="5120640"/>
            <a:ext cx="9144000" cy="0"/>
          </a:xfrm>
          <a:prstGeom prst="line">
            <a:avLst/>
          </a:prstGeom>
          <a:noFill/>
          <a:ln w="6350">
            <a:solidFill>
              <a:srgbClr val="1A3A6A"/>
            </a:solidFill>
            <a:prstDash val="solid"/>
          </a:ln>
        </p:spPr>
      </p:sp>
      <p:sp>
        <p:nvSpPr>
          <p:cNvPr id="20" name="Shape 18"/>
          <p:cNvSpPr/>
          <p:nvPr/>
        </p:nvSpPr>
        <p:spPr>
          <a:xfrm>
            <a:off x="2743200" y="457200"/>
            <a:ext cx="3657600" cy="3657600"/>
          </a:xfrm>
          <a:prstGeom prst="ellipse">
            <a:avLst/>
          </a:prstGeom>
          <a:solidFill>
            <a:srgbClr val="7B2FBE">
              <a:alpha val="12000"/>
            </a:srgbClr>
          </a:solidFill>
          <a:ln w="12700">
            <a:solidFill>
              <a:srgbClr val="00D4FF"/>
            </a:solidFill>
            <a:prstDash val="solid"/>
          </a:ln>
        </p:spPr>
      </p:sp>
      <p:sp>
        <p:nvSpPr>
          <p:cNvPr id="21" name="Shape 19"/>
          <p:cNvSpPr/>
          <p:nvPr/>
        </p:nvSpPr>
        <p:spPr>
          <a:xfrm>
            <a:off x="3200400" y="914400"/>
            <a:ext cx="2743200" cy="2743200"/>
          </a:xfrm>
          <a:prstGeom prst="ellipse">
            <a:avLst/>
          </a:prstGeom>
          <a:solidFill>
            <a:srgbClr val="00D4FF">
              <a:alpha val="8000"/>
            </a:srgbClr>
          </a:solidFill>
          <a:ln w="12700">
            <a:solidFill>
              <a:srgbClr val="7B2FBE"/>
            </a:solidFill>
            <a:prstDash val="solid"/>
          </a:ln>
        </p:spPr>
      </p:sp>
      <p:sp>
        <p:nvSpPr>
          <p:cNvPr id="22" name="Shape 20"/>
          <p:cNvSpPr/>
          <p:nvPr/>
        </p:nvSpPr>
        <p:spPr>
          <a:xfrm>
            <a:off x="3200400" y="228600"/>
            <a:ext cx="2743200" cy="320040"/>
          </a:xfrm>
          <a:prstGeom prst="rect">
            <a:avLst/>
          </a:prstGeom>
          <a:solidFill>
            <a:srgbClr val="7B2FBE">
              <a:alpha val="70000"/>
            </a:srgbClr>
          </a:solidFill>
          <a:ln w="12700">
            <a:solidFill>
              <a:srgbClr val="00D4FF"/>
            </a:solidFill>
            <a:prstDash val="solid"/>
          </a:ln>
        </p:spPr>
      </p:sp>
      <p:sp>
        <p:nvSpPr>
          <p:cNvPr id="23" name="Text 21"/>
          <p:cNvSpPr/>
          <p:nvPr/>
        </p:nvSpPr>
        <p:spPr>
          <a:xfrm>
            <a:off x="3200400" y="228600"/>
            <a:ext cx="2743200" cy="320040"/>
          </a:xfrm>
          <a:prstGeom prst="rect">
            <a:avLst/>
          </a:prstGeom>
          <a:noFill/>
          <a:ln/>
        </p:spPr>
        <p:txBody>
          <a:bodyPr wrap="square" lIns="0" tIns="0" rIns="0" bIns="0" rtlCol="0" anchor="ctr"/>
          <a:lstStyle/>
          <a:p>
            <a:pPr algn="ctr" indent="0" marL="0">
              <a:buNone/>
            </a:pPr>
            <a:r>
              <a:rPr lang="en-US" sz="800" b="1" spc="100" kern="0" dirty="0">
                <a:solidFill>
                  <a:srgbClr val="00D4FF"/>
                </a:solidFill>
                <a:latin typeface="Consolas" pitchFamily="34" charset="0"/>
                <a:ea typeface="Consolas" pitchFamily="34" charset="-122"/>
                <a:cs typeface="Consolas" pitchFamily="34" charset="-120"/>
              </a:rPr>
              <a:t>● LIVE  ●  AI COPILOT EDITION  ●  v4.0</a:t>
            </a:r>
            <a:endParaRPr lang="en-US" sz="800" dirty="0"/>
          </a:p>
        </p:txBody>
      </p:sp>
      <p:pic>
        <p:nvPicPr>
          <p:cNvPr id="24" name="Image 0" descr="preencoded.png">    </p:cNvPr>
          <p:cNvPicPr>
            <a:picLocks noChangeAspect="1"/>
          </p:cNvPicPr>
          <p:nvPr/>
        </p:nvPicPr>
        <p:blipFill>
          <a:blip r:embed="rId1"/>
          <a:stretch>
            <a:fillRect/>
          </a:stretch>
        </p:blipFill>
        <p:spPr>
          <a:xfrm>
            <a:off x="3886200" y="1005840"/>
            <a:ext cx="1371600" cy="1371600"/>
          </a:xfrm>
          <a:prstGeom prst="rect">
            <a:avLst/>
          </a:prstGeom>
        </p:spPr>
      </p:pic>
      <p:sp>
        <p:nvSpPr>
          <p:cNvPr id="25" name="Text 22"/>
          <p:cNvSpPr/>
          <p:nvPr/>
        </p:nvSpPr>
        <p:spPr>
          <a:xfrm>
            <a:off x="457200" y="2468880"/>
            <a:ext cx="8229600" cy="777240"/>
          </a:xfrm>
          <a:prstGeom prst="rect">
            <a:avLst/>
          </a:prstGeom>
          <a:noFill/>
          <a:ln/>
        </p:spPr>
        <p:txBody>
          <a:bodyPr wrap="square" lIns="0" tIns="0" rIns="0" bIns="0" rtlCol="0" anchor="ctr"/>
          <a:lstStyle/>
          <a:p>
            <a:pPr algn="ctr" indent="0" marL="0">
              <a:buNone/>
            </a:pPr>
            <a:r>
              <a:rPr lang="en-US" sz="4600" b="1" spc="200" kern="0" dirty="0">
                <a:solidFill>
                  <a:srgbClr val="FFFFFF"/>
                </a:solidFill>
                <a:latin typeface="Calibri" pitchFamily="34" charset="0"/>
                <a:ea typeface="Calibri" pitchFamily="34" charset="-122"/>
                <a:cs typeface="Calibri" pitchFamily="34" charset="-120"/>
              </a:rPr>
              <a:t>Models Manager Pro</a:t>
            </a:r>
            <a:endParaRPr lang="en-US" sz="4600" dirty="0"/>
          </a:p>
        </p:txBody>
      </p:sp>
      <p:sp>
        <p:nvSpPr>
          <p:cNvPr id="26" name="Text 23"/>
          <p:cNvSpPr/>
          <p:nvPr/>
        </p:nvSpPr>
        <p:spPr>
          <a:xfrm>
            <a:off x="457200" y="3154680"/>
            <a:ext cx="8229600" cy="640080"/>
          </a:xfrm>
          <a:prstGeom prst="rect">
            <a:avLst/>
          </a:prstGeom>
          <a:noFill/>
          <a:ln/>
        </p:spPr>
        <p:txBody>
          <a:bodyPr wrap="square" lIns="0" tIns="0" rIns="0" bIns="0" rtlCol="0" anchor="ctr"/>
          <a:lstStyle/>
          <a:p>
            <a:pPr algn="ctr" indent="0" marL="0">
              <a:buNone/>
            </a:pPr>
            <a:r>
              <a:rPr lang="en-US" sz="4400" b="1" spc="300" kern="0" dirty="0">
                <a:solidFill>
                  <a:srgbClr val="00D4FF"/>
                </a:solidFill>
                <a:latin typeface="Calibri" pitchFamily="34" charset="0"/>
                <a:ea typeface="Calibri" pitchFamily="34" charset="-122"/>
                <a:cs typeface="Calibri" pitchFamily="34" charset="-120"/>
              </a:rPr>
              <a:t>v4.0</a:t>
            </a:r>
            <a:endParaRPr lang="en-US" sz="4400" dirty="0"/>
          </a:p>
        </p:txBody>
      </p:sp>
      <p:sp>
        <p:nvSpPr>
          <p:cNvPr id="27" name="Text 24"/>
          <p:cNvSpPr/>
          <p:nvPr/>
        </p:nvSpPr>
        <p:spPr>
          <a:xfrm>
            <a:off x="457200" y="3794760"/>
            <a:ext cx="8229600" cy="365760"/>
          </a:xfrm>
          <a:prstGeom prst="rect">
            <a:avLst/>
          </a:prstGeom>
          <a:noFill/>
          <a:ln/>
        </p:spPr>
        <p:txBody>
          <a:bodyPr wrap="square" lIns="0" tIns="0" rIns="0" bIns="0" rtlCol="0" anchor="ctr"/>
          <a:lstStyle/>
          <a:p>
            <a:pPr algn="ctr" indent="0" marL="0">
              <a:buNone/>
            </a:pPr>
            <a:r>
              <a:rPr lang="en-US" sz="1600" i="1" dirty="0">
                <a:solidFill>
                  <a:srgbClr val="AABBCC"/>
                </a:solidFill>
                <a:latin typeface="Calibri" pitchFamily="34" charset="0"/>
                <a:ea typeface="Calibri" pitchFamily="34" charset="-122"/>
                <a:cs typeface="Calibri" pitchFamily="34" charset="-120"/>
              </a:rPr>
              <a:t>Η Απόλυτη Εργαλειοθήκη Διαχείρισης AI Μοντέλων</a:t>
            </a:r>
            <a:endParaRPr lang="en-US" sz="1600" dirty="0"/>
          </a:p>
        </p:txBody>
      </p:sp>
      <p:sp>
        <p:nvSpPr>
          <p:cNvPr id="28" name="Shape 25"/>
          <p:cNvSpPr/>
          <p:nvPr/>
        </p:nvSpPr>
        <p:spPr>
          <a:xfrm>
            <a:off x="0" y="4800600"/>
            <a:ext cx="9144000" cy="342900"/>
          </a:xfrm>
          <a:prstGeom prst="rect">
            <a:avLst/>
          </a:prstGeom>
          <a:solidFill>
            <a:srgbClr val="122544"/>
          </a:solidFill>
          <a:ln w="12700">
            <a:solidFill>
              <a:srgbClr val="00D4FF"/>
            </a:solidFill>
            <a:prstDash val="solid"/>
          </a:ln>
        </p:spPr>
      </p:sp>
      <p:sp>
        <p:nvSpPr>
          <p:cNvPr id="29" name="Text 26"/>
          <p:cNvSpPr/>
          <p:nvPr/>
        </p:nvSpPr>
        <p:spPr>
          <a:xfrm>
            <a:off x="274320" y="4828032"/>
            <a:ext cx="8595360" cy="292608"/>
          </a:xfrm>
          <a:prstGeom prst="rect">
            <a:avLst/>
          </a:prstGeom>
          <a:noFill/>
          <a:ln/>
        </p:spPr>
        <p:txBody>
          <a:bodyPr wrap="square" lIns="0" tIns="0" rIns="0" bIns="0" rtlCol="0" anchor="ctr"/>
          <a:lstStyle/>
          <a:p>
            <a:pPr algn="ctr" indent="0" marL="0">
              <a:buNone/>
            </a:pPr>
            <a:r>
              <a:rPr lang="en-US" sz="950" dirty="0">
                <a:solidFill>
                  <a:srgbClr val="8899BB"/>
                </a:solidFill>
                <a:latin typeface="Consolas" pitchFamily="34" charset="0"/>
                <a:ea typeface="Consolas" pitchFamily="34" charset="-122"/>
                <a:cs typeface="Consolas" pitchFamily="34" charset="-120"/>
              </a:rPr>
              <a:t>Python 3.12  •  PyTorch  •  Ultralytics YOLO  •  PySide6  •  TensorRT  •  ONNX  •  NCNN  •  ReportLab  •  Groq AI</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D4FF"/>
            </a:solidFill>
            <a:prstDash val="solid"/>
          </a:ln>
        </p:spPr>
      </p:sp>
      <p:sp>
        <p:nvSpPr>
          <p:cNvPr id="3" name="Shape 1"/>
          <p:cNvSpPr/>
          <p:nvPr/>
        </p:nvSpPr>
        <p:spPr>
          <a:xfrm>
            <a:off x="0" y="0"/>
            <a:ext cx="73152" cy="822960"/>
          </a:xfrm>
          <a:prstGeom prst="rect">
            <a:avLst/>
          </a:prstGeom>
          <a:solidFill>
            <a:srgbClr val="00D4FF"/>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Περιεχόμενα Παρουσίασης</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D4FF"/>
                </a:solidFill>
                <a:latin typeface="Calibri" pitchFamily="34" charset="0"/>
                <a:ea typeface="Calibri" pitchFamily="34" charset="-122"/>
                <a:cs typeface="Calibri" pitchFamily="34" charset="-120"/>
              </a:rPr>
              <a:t>30 Θέματα</a:t>
            </a:r>
            <a:endParaRPr lang="en-US" sz="1100" dirty="0"/>
          </a:p>
        </p:txBody>
      </p:sp>
      <p:sp>
        <p:nvSpPr>
          <p:cNvPr id="6" name="Shape 4"/>
          <p:cNvSpPr/>
          <p:nvPr/>
        </p:nvSpPr>
        <p:spPr>
          <a:xfrm>
            <a:off x="182880" y="914400"/>
            <a:ext cx="2834640" cy="402336"/>
          </a:xfrm>
          <a:prstGeom prst="rect">
            <a:avLst/>
          </a:prstGeom>
          <a:solidFill>
            <a:srgbClr val="0D1F3C"/>
          </a:solidFill>
          <a:ln w="12700">
            <a:solidFill>
              <a:srgbClr val="00D4FF"/>
            </a:solidFill>
            <a:prstDash val="solid"/>
          </a:ln>
        </p:spPr>
      </p:sp>
      <p:sp>
        <p:nvSpPr>
          <p:cNvPr id="7" name="Shape 5"/>
          <p:cNvSpPr/>
          <p:nvPr/>
        </p:nvSpPr>
        <p:spPr>
          <a:xfrm>
            <a:off x="182880" y="914400"/>
            <a:ext cx="411480" cy="402336"/>
          </a:xfrm>
          <a:prstGeom prst="rect">
            <a:avLst/>
          </a:prstGeom>
          <a:solidFill>
            <a:srgbClr val="00D4FF">
              <a:alpha val="80000"/>
            </a:srgbClr>
          </a:solidFill>
          <a:ln/>
        </p:spPr>
      </p:sp>
      <p:sp>
        <p:nvSpPr>
          <p:cNvPr id="8" name="Text 6"/>
          <p:cNvSpPr/>
          <p:nvPr/>
        </p:nvSpPr>
        <p:spPr>
          <a:xfrm>
            <a:off x="182880" y="91440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01</a:t>
            </a:r>
            <a:endParaRPr lang="en-US" sz="1100" dirty="0"/>
          </a:p>
        </p:txBody>
      </p:sp>
      <p:sp>
        <p:nvSpPr>
          <p:cNvPr id="9" name="Text 7"/>
          <p:cNvSpPr/>
          <p:nvPr/>
        </p:nvSpPr>
        <p:spPr>
          <a:xfrm>
            <a:off x="640080" y="91440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Εισαγωγή &amp; Επισκόπηση</a:t>
            </a:r>
            <a:endParaRPr lang="en-US" sz="950" dirty="0"/>
          </a:p>
        </p:txBody>
      </p:sp>
      <p:sp>
        <p:nvSpPr>
          <p:cNvPr id="10" name="Shape 8"/>
          <p:cNvSpPr/>
          <p:nvPr/>
        </p:nvSpPr>
        <p:spPr>
          <a:xfrm>
            <a:off x="182880" y="1417320"/>
            <a:ext cx="2834640" cy="402336"/>
          </a:xfrm>
          <a:prstGeom prst="rect">
            <a:avLst/>
          </a:prstGeom>
          <a:solidFill>
            <a:srgbClr val="0D1F3C"/>
          </a:solidFill>
          <a:ln w="12700">
            <a:solidFill>
              <a:srgbClr val="7B2FBE"/>
            </a:solidFill>
            <a:prstDash val="solid"/>
          </a:ln>
        </p:spPr>
      </p:sp>
      <p:sp>
        <p:nvSpPr>
          <p:cNvPr id="11" name="Shape 9"/>
          <p:cNvSpPr/>
          <p:nvPr/>
        </p:nvSpPr>
        <p:spPr>
          <a:xfrm>
            <a:off x="182880" y="1417320"/>
            <a:ext cx="411480" cy="402336"/>
          </a:xfrm>
          <a:prstGeom prst="rect">
            <a:avLst/>
          </a:prstGeom>
          <a:solidFill>
            <a:srgbClr val="7B2FBE">
              <a:alpha val="80000"/>
            </a:srgbClr>
          </a:solidFill>
          <a:ln/>
        </p:spPr>
      </p:sp>
      <p:sp>
        <p:nvSpPr>
          <p:cNvPr id="12" name="Text 10"/>
          <p:cNvSpPr/>
          <p:nvPr/>
        </p:nvSpPr>
        <p:spPr>
          <a:xfrm>
            <a:off x="182880" y="14173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02</a:t>
            </a:r>
            <a:endParaRPr lang="en-US" sz="1100" dirty="0"/>
          </a:p>
        </p:txBody>
      </p:sp>
      <p:sp>
        <p:nvSpPr>
          <p:cNvPr id="13" name="Text 11"/>
          <p:cNvSpPr/>
          <p:nvPr/>
        </p:nvSpPr>
        <p:spPr>
          <a:xfrm>
            <a:off x="640080" y="14173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Αρχιτεκτονική Συστήματος</a:t>
            </a:r>
            <a:endParaRPr lang="en-US" sz="950" dirty="0"/>
          </a:p>
        </p:txBody>
      </p:sp>
      <p:sp>
        <p:nvSpPr>
          <p:cNvPr id="14" name="Shape 12"/>
          <p:cNvSpPr/>
          <p:nvPr/>
        </p:nvSpPr>
        <p:spPr>
          <a:xfrm>
            <a:off x="182880" y="1920240"/>
            <a:ext cx="2834640" cy="402336"/>
          </a:xfrm>
          <a:prstGeom prst="rect">
            <a:avLst/>
          </a:prstGeom>
          <a:solidFill>
            <a:srgbClr val="0D1F3C"/>
          </a:solidFill>
          <a:ln w="12700">
            <a:solidFill>
              <a:srgbClr val="00FF9D"/>
            </a:solidFill>
            <a:prstDash val="solid"/>
          </a:ln>
        </p:spPr>
      </p:sp>
      <p:sp>
        <p:nvSpPr>
          <p:cNvPr id="15" name="Shape 13"/>
          <p:cNvSpPr/>
          <p:nvPr/>
        </p:nvSpPr>
        <p:spPr>
          <a:xfrm>
            <a:off x="182880" y="1920240"/>
            <a:ext cx="411480" cy="402336"/>
          </a:xfrm>
          <a:prstGeom prst="rect">
            <a:avLst/>
          </a:prstGeom>
          <a:solidFill>
            <a:srgbClr val="00FF9D">
              <a:alpha val="80000"/>
            </a:srgbClr>
          </a:solidFill>
          <a:ln/>
        </p:spPr>
      </p:sp>
      <p:sp>
        <p:nvSpPr>
          <p:cNvPr id="16" name="Text 14"/>
          <p:cNvSpPr/>
          <p:nvPr/>
        </p:nvSpPr>
        <p:spPr>
          <a:xfrm>
            <a:off x="182880" y="192024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03</a:t>
            </a:r>
            <a:endParaRPr lang="en-US" sz="1100" dirty="0"/>
          </a:p>
        </p:txBody>
      </p:sp>
      <p:sp>
        <p:nvSpPr>
          <p:cNvPr id="17" name="Text 15"/>
          <p:cNvSpPr/>
          <p:nvPr/>
        </p:nvSpPr>
        <p:spPr>
          <a:xfrm>
            <a:off x="640080" y="192024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Τεχνική Στοίβα &amp; Εγκατάσταση</a:t>
            </a:r>
            <a:endParaRPr lang="en-US" sz="950" dirty="0"/>
          </a:p>
        </p:txBody>
      </p:sp>
      <p:sp>
        <p:nvSpPr>
          <p:cNvPr id="18" name="Shape 16"/>
          <p:cNvSpPr/>
          <p:nvPr/>
        </p:nvSpPr>
        <p:spPr>
          <a:xfrm>
            <a:off x="182880" y="2423160"/>
            <a:ext cx="2834640" cy="402336"/>
          </a:xfrm>
          <a:prstGeom prst="rect">
            <a:avLst/>
          </a:prstGeom>
          <a:solidFill>
            <a:srgbClr val="0D1F3C"/>
          </a:solidFill>
          <a:ln w="12700">
            <a:solidFill>
              <a:srgbClr val="00D4FF"/>
            </a:solidFill>
            <a:prstDash val="solid"/>
          </a:ln>
        </p:spPr>
      </p:sp>
      <p:sp>
        <p:nvSpPr>
          <p:cNvPr id="19" name="Shape 17"/>
          <p:cNvSpPr/>
          <p:nvPr/>
        </p:nvSpPr>
        <p:spPr>
          <a:xfrm>
            <a:off x="182880" y="2423160"/>
            <a:ext cx="411480" cy="402336"/>
          </a:xfrm>
          <a:prstGeom prst="rect">
            <a:avLst/>
          </a:prstGeom>
          <a:solidFill>
            <a:srgbClr val="00D4FF">
              <a:alpha val="80000"/>
            </a:srgbClr>
          </a:solidFill>
          <a:ln/>
        </p:spPr>
      </p:sp>
      <p:sp>
        <p:nvSpPr>
          <p:cNvPr id="20" name="Text 18"/>
          <p:cNvSpPr/>
          <p:nvPr/>
        </p:nvSpPr>
        <p:spPr>
          <a:xfrm>
            <a:off x="182880" y="242316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04</a:t>
            </a:r>
            <a:endParaRPr lang="en-US" sz="1100" dirty="0"/>
          </a:p>
        </p:txBody>
      </p:sp>
      <p:sp>
        <p:nvSpPr>
          <p:cNvPr id="21" name="Text 19"/>
          <p:cNvSpPr/>
          <p:nvPr/>
        </p:nvSpPr>
        <p:spPr>
          <a:xfrm>
            <a:off x="640080" y="242316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Υποστηριζόμενα Μοντέλα YOLO</a:t>
            </a:r>
            <a:endParaRPr lang="en-US" sz="950" dirty="0"/>
          </a:p>
        </p:txBody>
      </p:sp>
      <p:sp>
        <p:nvSpPr>
          <p:cNvPr id="22" name="Shape 20"/>
          <p:cNvSpPr/>
          <p:nvPr/>
        </p:nvSpPr>
        <p:spPr>
          <a:xfrm>
            <a:off x="182880" y="2926080"/>
            <a:ext cx="2834640" cy="402336"/>
          </a:xfrm>
          <a:prstGeom prst="rect">
            <a:avLst/>
          </a:prstGeom>
          <a:solidFill>
            <a:srgbClr val="0D1F3C"/>
          </a:solidFill>
          <a:ln w="12700">
            <a:solidFill>
              <a:srgbClr val="7B2FBE"/>
            </a:solidFill>
            <a:prstDash val="solid"/>
          </a:ln>
        </p:spPr>
      </p:sp>
      <p:sp>
        <p:nvSpPr>
          <p:cNvPr id="23" name="Shape 21"/>
          <p:cNvSpPr/>
          <p:nvPr/>
        </p:nvSpPr>
        <p:spPr>
          <a:xfrm>
            <a:off x="182880" y="2926080"/>
            <a:ext cx="411480" cy="402336"/>
          </a:xfrm>
          <a:prstGeom prst="rect">
            <a:avLst/>
          </a:prstGeom>
          <a:solidFill>
            <a:srgbClr val="7B2FBE">
              <a:alpha val="80000"/>
            </a:srgbClr>
          </a:solidFill>
          <a:ln/>
        </p:spPr>
      </p:sp>
      <p:sp>
        <p:nvSpPr>
          <p:cNvPr id="24" name="Text 22"/>
          <p:cNvSpPr/>
          <p:nvPr/>
        </p:nvSpPr>
        <p:spPr>
          <a:xfrm>
            <a:off x="182880" y="292608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05</a:t>
            </a:r>
            <a:endParaRPr lang="en-US" sz="1100" dirty="0"/>
          </a:p>
        </p:txBody>
      </p:sp>
      <p:sp>
        <p:nvSpPr>
          <p:cNvPr id="25" name="Text 23"/>
          <p:cNvSpPr/>
          <p:nvPr/>
        </p:nvSpPr>
        <p:spPr>
          <a:xfrm>
            <a:off x="640080" y="292608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CNN Ταξινομητές</a:t>
            </a:r>
            <a:endParaRPr lang="en-US" sz="950" dirty="0"/>
          </a:p>
        </p:txBody>
      </p:sp>
      <p:sp>
        <p:nvSpPr>
          <p:cNvPr id="26" name="Shape 24"/>
          <p:cNvSpPr/>
          <p:nvPr/>
        </p:nvSpPr>
        <p:spPr>
          <a:xfrm>
            <a:off x="182880" y="3429000"/>
            <a:ext cx="2834640" cy="402336"/>
          </a:xfrm>
          <a:prstGeom prst="rect">
            <a:avLst/>
          </a:prstGeom>
          <a:solidFill>
            <a:srgbClr val="0D1F3C"/>
          </a:solidFill>
          <a:ln w="12700">
            <a:solidFill>
              <a:srgbClr val="00FF9D"/>
            </a:solidFill>
            <a:prstDash val="solid"/>
          </a:ln>
        </p:spPr>
      </p:sp>
      <p:sp>
        <p:nvSpPr>
          <p:cNvPr id="27" name="Shape 25"/>
          <p:cNvSpPr/>
          <p:nvPr/>
        </p:nvSpPr>
        <p:spPr>
          <a:xfrm>
            <a:off x="182880" y="3429000"/>
            <a:ext cx="411480" cy="402336"/>
          </a:xfrm>
          <a:prstGeom prst="rect">
            <a:avLst/>
          </a:prstGeom>
          <a:solidFill>
            <a:srgbClr val="00FF9D">
              <a:alpha val="80000"/>
            </a:srgbClr>
          </a:solidFill>
          <a:ln/>
        </p:spPr>
      </p:sp>
      <p:sp>
        <p:nvSpPr>
          <p:cNvPr id="28" name="Text 26"/>
          <p:cNvSpPr/>
          <p:nvPr/>
        </p:nvSpPr>
        <p:spPr>
          <a:xfrm>
            <a:off x="182880" y="342900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06</a:t>
            </a:r>
            <a:endParaRPr lang="en-US" sz="1100" dirty="0"/>
          </a:p>
        </p:txBody>
      </p:sp>
      <p:sp>
        <p:nvSpPr>
          <p:cNvPr id="29" name="Text 27"/>
          <p:cNvSpPr/>
          <p:nvPr/>
        </p:nvSpPr>
        <p:spPr>
          <a:xfrm>
            <a:off x="640080" y="342900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Διαδικασία Εκπαίδευσης</a:t>
            </a:r>
            <a:endParaRPr lang="en-US" sz="950" dirty="0"/>
          </a:p>
        </p:txBody>
      </p:sp>
      <p:sp>
        <p:nvSpPr>
          <p:cNvPr id="30" name="Shape 28"/>
          <p:cNvSpPr/>
          <p:nvPr/>
        </p:nvSpPr>
        <p:spPr>
          <a:xfrm>
            <a:off x="182880" y="3931920"/>
            <a:ext cx="2834640" cy="402336"/>
          </a:xfrm>
          <a:prstGeom prst="rect">
            <a:avLst/>
          </a:prstGeom>
          <a:solidFill>
            <a:srgbClr val="0D1F3C"/>
          </a:solidFill>
          <a:ln w="12700">
            <a:solidFill>
              <a:srgbClr val="FF6B35"/>
            </a:solidFill>
            <a:prstDash val="solid"/>
          </a:ln>
        </p:spPr>
      </p:sp>
      <p:sp>
        <p:nvSpPr>
          <p:cNvPr id="31" name="Shape 29"/>
          <p:cNvSpPr/>
          <p:nvPr/>
        </p:nvSpPr>
        <p:spPr>
          <a:xfrm>
            <a:off x="182880" y="3931920"/>
            <a:ext cx="411480" cy="402336"/>
          </a:xfrm>
          <a:prstGeom prst="rect">
            <a:avLst/>
          </a:prstGeom>
          <a:solidFill>
            <a:srgbClr val="FF6B35">
              <a:alpha val="80000"/>
            </a:srgbClr>
          </a:solidFill>
          <a:ln/>
        </p:spPr>
      </p:sp>
      <p:sp>
        <p:nvSpPr>
          <p:cNvPr id="32" name="Text 30"/>
          <p:cNvSpPr/>
          <p:nvPr/>
        </p:nvSpPr>
        <p:spPr>
          <a:xfrm>
            <a:off x="182880" y="39319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07</a:t>
            </a:r>
            <a:endParaRPr lang="en-US" sz="1100" dirty="0"/>
          </a:p>
        </p:txBody>
      </p:sp>
      <p:sp>
        <p:nvSpPr>
          <p:cNvPr id="33" name="Text 31"/>
          <p:cNvSpPr/>
          <p:nvPr/>
        </p:nvSpPr>
        <p:spPr>
          <a:xfrm>
            <a:off x="640080" y="39319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AI Copilot – Groq Integration</a:t>
            </a:r>
            <a:endParaRPr lang="en-US" sz="950" dirty="0"/>
          </a:p>
        </p:txBody>
      </p:sp>
      <p:sp>
        <p:nvSpPr>
          <p:cNvPr id="34" name="Shape 32"/>
          <p:cNvSpPr/>
          <p:nvPr/>
        </p:nvSpPr>
        <p:spPr>
          <a:xfrm>
            <a:off x="182880" y="4434840"/>
            <a:ext cx="2834640" cy="402336"/>
          </a:xfrm>
          <a:prstGeom prst="rect">
            <a:avLst/>
          </a:prstGeom>
          <a:solidFill>
            <a:srgbClr val="0D1F3C"/>
          </a:solidFill>
          <a:ln w="12700">
            <a:solidFill>
              <a:srgbClr val="FF2D78"/>
            </a:solidFill>
            <a:prstDash val="solid"/>
          </a:ln>
        </p:spPr>
      </p:sp>
      <p:sp>
        <p:nvSpPr>
          <p:cNvPr id="35" name="Shape 33"/>
          <p:cNvSpPr/>
          <p:nvPr/>
        </p:nvSpPr>
        <p:spPr>
          <a:xfrm>
            <a:off x="182880" y="4434840"/>
            <a:ext cx="411480" cy="402336"/>
          </a:xfrm>
          <a:prstGeom prst="rect">
            <a:avLst/>
          </a:prstGeom>
          <a:solidFill>
            <a:srgbClr val="FF2D78">
              <a:alpha val="80000"/>
            </a:srgbClr>
          </a:solidFill>
          <a:ln/>
        </p:spPr>
      </p:sp>
      <p:sp>
        <p:nvSpPr>
          <p:cNvPr id="36" name="Text 34"/>
          <p:cNvSpPr/>
          <p:nvPr/>
        </p:nvSpPr>
        <p:spPr>
          <a:xfrm>
            <a:off x="182880" y="443484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08</a:t>
            </a:r>
            <a:endParaRPr lang="en-US" sz="1100" dirty="0"/>
          </a:p>
        </p:txBody>
      </p:sp>
      <p:sp>
        <p:nvSpPr>
          <p:cNvPr id="37" name="Text 35"/>
          <p:cNvSpPr/>
          <p:nvPr/>
        </p:nvSpPr>
        <p:spPr>
          <a:xfrm>
            <a:off x="640080" y="443484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Εξαγωγή Μοντέλων (Export)</a:t>
            </a:r>
            <a:endParaRPr lang="en-US" sz="950" dirty="0"/>
          </a:p>
        </p:txBody>
      </p:sp>
      <p:sp>
        <p:nvSpPr>
          <p:cNvPr id="38" name="Shape 36"/>
          <p:cNvSpPr/>
          <p:nvPr/>
        </p:nvSpPr>
        <p:spPr>
          <a:xfrm>
            <a:off x="3200400" y="914400"/>
            <a:ext cx="2834640" cy="402336"/>
          </a:xfrm>
          <a:prstGeom prst="rect">
            <a:avLst/>
          </a:prstGeom>
          <a:solidFill>
            <a:srgbClr val="0D1F3C"/>
          </a:solidFill>
          <a:ln w="12700">
            <a:solidFill>
              <a:srgbClr val="00D4FF"/>
            </a:solidFill>
            <a:prstDash val="solid"/>
          </a:ln>
        </p:spPr>
      </p:sp>
      <p:sp>
        <p:nvSpPr>
          <p:cNvPr id="39" name="Shape 37"/>
          <p:cNvSpPr/>
          <p:nvPr/>
        </p:nvSpPr>
        <p:spPr>
          <a:xfrm>
            <a:off x="3200400" y="914400"/>
            <a:ext cx="411480" cy="402336"/>
          </a:xfrm>
          <a:prstGeom prst="rect">
            <a:avLst/>
          </a:prstGeom>
          <a:solidFill>
            <a:srgbClr val="00D4FF">
              <a:alpha val="80000"/>
            </a:srgbClr>
          </a:solidFill>
          <a:ln/>
        </p:spPr>
      </p:sp>
      <p:sp>
        <p:nvSpPr>
          <p:cNvPr id="40" name="Text 38"/>
          <p:cNvSpPr/>
          <p:nvPr/>
        </p:nvSpPr>
        <p:spPr>
          <a:xfrm>
            <a:off x="3200400" y="91440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09</a:t>
            </a:r>
            <a:endParaRPr lang="en-US" sz="1100" dirty="0"/>
          </a:p>
        </p:txBody>
      </p:sp>
      <p:sp>
        <p:nvSpPr>
          <p:cNvPr id="41" name="Text 39"/>
          <p:cNvSpPr/>
          <p:nvPr/>
        </p:nvSpPr>
        <p:spPr>
          <a:xfrm>
            <a:off x="3657600" y="91440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ONNX &amp; TensorRT</a:t>
            </a:r>
            <a:endParaRPr lang="en-US" sz="950" dirty="0"/>
          </a:p>
        </p:txBody>
      </p:sp>
      <p:sp>
        <p:nvSpPr>
          <p:cNvPr id="42" name="Shape 40"/>
          <p:cNvSpPr/>
          <p:nvPr/>
        </p:nvSpPr>
        <p:spPr>
          <a:xfrm>
            <a:off x="3200400" y="1417320"/>
            <a:ext cx="2834640" cy="402336"/>
          </a:xfrm>
          <a:prstGeom prst="rect">
            <a:avLst/>
          </a:prstGeom>
          <a:solidFill>
            <a:srgbClr val="0D1F3C"/>
          </a:solidFill>
          <a:ln w="12700">
            <a:solidFill>
              <a:srgbClr val="7B2FBE"/>
            </a:solidFill>
            <a:prstDash val="solid"/>
          </a:ln>
        </p:spPr>
      </p:sp>
      <p:sp>
        <p:nvSpPr>
          <p:cNvPr id="43" name="Shape 41"/>
          <p:cNvSpPr/>
          <p:nvPr/>
        </p:nvSpPr>
        <p:spPr>
          <a:xfrm>
            <a:off x="3200400" y="1417320"/>
            <a:ext cx="411480" cy="402336"/>
          </a:xfrm>
          <a:prstGeom prst="rect">
            <a:avLst/>
          </a:prstGeom>
          <a:solidFill>
            <a:srgbClr val="7B2FBE">
              <a:alpha val="80000"/>
            </a:srgbClr>
          </a:solidFill>
          <a:ln/>
        </p:spPr>
      </p:sp>
      <p:sp>
        <p:nvSpPr>
          <p:cNvPr id="44" name="Text 42"/>
          <p:cNvSpPr/>
          <p:nvPr/>
        </p:nvSpPr>
        <p:spPr>
          <a:xfrm>
            <a:off x="3200400" y="14173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10</a:t>
            </a:r>
            <a:endParaRPr lang="en-US" sz="1100" dirty="0"/>
          </a:p>
        </p:txBody>
      </p:sp>
      <p:sp>
        <p:nvSpPr>
          <p:cNvPr id="45" name="Text 43"/>
          <p:cNvSpPr/>
          <p:nvPr/>
        </p:nvSpPr>
        <p:spPr>
          <a:xfrm>
            <a:off x="3657600" y="14173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NCNN – Mobile Deployment</a:t>
            </a:r>
            <a:endParaRPr lang="en-US" sz="950" dirty="0"/>
          </a:p>
        </p:txBody>
      </p:sp>
      <p:sp>
        <p:nvSpPr>
          <p:cNvPr id="46" name="Shape 44"/>
          <p:cNvSpPr/>
          <p:nvPr/>
        </p:nvSpPr>
        <p:spPr>
          <a:xfrm>
            <a:off x="3200400" y="1920240"/>
            <a:ext cx="2834640" cy="402336"/>
          </a:xfrm>
          <a:prstGeom prst="rect">
            <a:avLst/>
          </a:prstGeom>
          <a:solidFill>
            <a:srgbClr val="0D1F3C"/>
          </a:solidFill>
          <a:ln w="12700">
            <a:solidFill>
              <a:srgbClr val="00FF9D"/>
            </a:solidFill>
            <a:prstDash val="solid"/>
          </a:ln>
        </p:spPr>
      </p:sp>
      <p:sp>
        <p:nvSpPr>
          <p:cNvPr id="47" name="Shape 45"/>
          <p:cNvSpPr/>
          <p:nvPr/>
        </p:nvSpPr>
        <p:spPr>
          <a:xfrm>
            <a:off x="3200400" y="1920240"/>
            <a:ext cx="411480" cy="402336"/>
          </a:xfrm>
          <a:prstGeom prst="rect">
            <a:avLst/>
          </a:prstGeom>
          <a:solidFill>
            <a:srgbClr val="00FF9D">
              <a:alpha val="80000"/>
            </a:srgbClr>
          </a:solidFill>
          <a:ln/>
        </p:spPr>
      </p:sp>
      <p:sp>
        <p:nvSpPr>
          <p:cNvPr id="48" name="Text 46"/>
          <p:cNvSpPr/>
          <p:nvPr/>
        </p:nvSpPr>
        <p:spPr>
          <a:xfrm>
            <a:off x="3200400" y="192024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11</a:t>
            </a:r>
            <a:endParaRPr lang="en-US" sz="1100" dirty="0"/>
          </a:p>
        </p:txBody>
      </p:sp>
      <p:sp>
        <p:nvSpPr>
          <p:cNvPr id="49" name="Text 47"/>
          <p:cNvSpPr/>
          <p:nvPr/>
        </p:nvSpPr>
        <p:spPr>
          <a:xfrm>
            <a:off x="3657600" y="192024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Live Detection &amp; Camera</a:t>
            </a:r>
            <a:endParaRPr lang="en-US" sz="950" dirty="0"/>
          </a:p>
        </p:txBody>
      </p:sp>
      <p:sp>
        <p:nvSpPr>
          <p:cNvPr id="50" name="Shape 48"/>
          <p:cNvSpPr/>
          <p:nvPr/>
        </p:nvSpPr>
        <p:spPr>
          <a:xfrm>
            <a:off x="3200400" y="2423160"/>
            <a:ext cx="2834640" cy="402336"/>
          </a:xfrm>
          <a:prstGeom prst="rect">
            <a:avLst/>
          </a:prstGeom>
          <a:solidFill>
            <a:srgbClr val="0D1F3C"/>
          </a:solidFill>
          <a:ln w="12700">
            <a:solidFill>
              <a:srgbClr val="FF6B35"/>
            </a:solidFill>
            <a:prstDash val="solid"/>
          </a:ln>
        </p:spPr>
      </p:sp>
      <p:sp>
        <p:nvSpPr>
          <p:cNvPr id="51" name="Shape 49"/>
          <p:cNvSpPr/>
          <p:nvPr/>
        </p:nvSpPr>
        <p:spPr>
          <a:xfrm>
            <a:off x="3200400" y="2423160"/>
            <a:ext cx="411480" cy="402336"/>
          </a:xfrm>
          <a:prstGeom prst="rect">
            <a:avLst/>
          </a:prstGeom>
          <a:solidFill>
            <a:srgbClr val="FF6B35">
              <a:alpha val="80000"/>
            </a:srgbClr>
          </a:solidFill>
          <a:ln/>
        </p:spPr>
      </p:sp>
      <p:sp>
        <p:nvSpPr>
          <p:cNvPr id="52" name="Text 50"/>
          <p:cNvSpPr/>
          <p:nvPr/>
        </p:nvSpPr>
        <p:spPr>
          <a:xfrm>
            <a:off x="3200400" y="242316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12</a:t>
            </a:r>
            <a:endParaRPr lang="en-US" sz="1100" dirty="0"/>
          </a:p>
        </p:txBody>
      </p:sp>
      <p:sp>
        <p:nvSpPr>
          <p:cNvPr id="53" name="Text 51"/>
          <p:cNvSpPr/>
          <p:nvPr/>
        </p:nvSpPr>
        <p:spPr>
          <a:xfrm>
            <a:off x="3657600" y="242316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Video Inference</a:t>
            </a:r>
            <a:endParaRPr lang="en-US" sz="950" dirty="0"/>
          </a:p>
        </p:txBody>
      </p:sp>
      <p:sp>
        <p:nvSpPr>
          <p:cNvPr id="54" name="Shape 52"/>
          <p:cNvSpPr/>
          <p:nvPr/>
        </p:nvSpPr>
        <p:spPr>
          <a:xfrm>
            <a:off x="3200400" y="2926080"/>
            <a:ext cx="2834640" cy="402336"/>
          </a:xfrm>
          <a:prstGeom prst="rect">
            <a:avLst/>
          </a:prstGeom>
          <a:solidFill>
            <a:srgbClr val="0D1F3C"/>
          </a:solidFill>
          <a:ln w="12700">
            <a:solidFill>
              <a:srgbClr val="FF2D78"/>
            </a:solidFill>
            <a:prstDash val="solid"/>
          </a:ln>
        </p:spPr>
      </p:sp>
      <p:sp>
        <p:nvSpPr>
          <p:cNvPr id="55" name="Shape 53"/>
          <p:cNvSpPr/>
          <p:nvPr/>
        </p:nvSpPr>
        <p:spPr>
          <a:xfrm>
            <a:off x="3200400" y="2926080"/>
            <a:ext cx="411480" cy="402336"/>
          </a:xfrm>
          <a:prstGeom prst="rect">
            <a:avLst/>
          </a:prstGeom>
          <a:solidFill>
            <a:srgbClr val="FF2D78">
              <a:alpha val="80000"/>
            </a:srgbClr>
          </a:solidFill>
          <a:ln/>
        </p:spPr>
      </p:sp>
      <p:sp>
        <p:nvSpPr>
          <p:cNvPr id="56" name="Text 54"/>
          <p:cNvSpPr/>
          <p:nvPr/>
        </p:nvSpPr>
        <p:spPr>
          <a:xfrm>
            <a:off x="3200400" y="292608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13</a:t>
            </a:r>
            <a:endParaRPr lang="en-US" sz="1100" dirty="0"/>
          </a:p>
        </p:txBody>
      </p:sp>
      <p:sp>
        <p:nvSpPr>
          <p:cNvPr id="57" name="Text 55"/>
          <p:cNvSpPr/>
          <p:nvPr/>
        </p:nvSpPr>
        <p:spPr>
          <a:xfrm>
            <a:off x="3657600" y="292608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60 FPS Target &amp; Optimization</a:t>
            </a:r>
            <a:endParaRPr lang="en-US" sz="950" dirty="0"/>
          </a:p>
        </p:txBody>
      </p:sp>
      <p:sp>
        <p:nvSpPr>
          <p:cNvPr id="58" name="Shape 56"/>
          <p:cNvSpPr/>
          <p:nvPr/>
        </p:nvSpPr>
        <p:spPr>
          <a:xfrm>
            <a:off x="3200400" y="3429000"/>
            <a:ext cx="2834640" cy="402336"/>
          </a:xfrm>
          <a:prstGeom prst="rect">
            <a:avLst/>
          </a:prstGeom>
          <a:solidFill>
            <a:srgbClr val="0D1F3C"/>
          </a:solidFill>
          <a:ln w="12700">
            <a:solidFill>
              <a:srgbClr val="00D4FF"/>
            </a:solidFill>
            <a:prstDash val="solid"/>
          </a:ln>
        </p:spPr>
      </p:sp>
      <p:sp>
        <p:nvSpPr>
          <p:cNvPr id="59" name="Shape 57"/>
          <p:cNvSpPr/>
          <p:nvPr/>
        </p:nvSpPr>
        <p:spPr>
          <a:xfrm>
            <a:off x="3200400" y="3429000"/>
            <a:ext cx="411480" cy="402336"/>
          </a:xfrm>
          <a:prstGeom prst="rect">
            <a:avLst/>
          </a:prstGeom>
          <a:solidFill>
            <a:srgbClr val="00D4FF">
              <a:alpha val="80000"/>
            </a:srgbClr>
          </a:solidFill>
          <a:ln/>
        </p:spPr>
      </p:sp>
      <p:sp>
        <p:nvSpPr>
          <p:cNvPr id="60" name="Text 58"/>
          <p:cNvSpPr/>
          <p:nvPr/>
        </p:nvSpPr>
        <p:spPr>
          <a:xfrm>
            <a:off x="3200400" y="342900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14</a:t>
            </a:r>
            <a:endParaRPr lang="en-US" sz="1100" dirty="0"/>
          </a:p>
        </p:txBody>
      </p:sp>
      <p:sp>
        <p:nvSpPr>
          <p:cNvPr id="61" name="Text 59"/>
          <p:cNvSpPr/>
          <p:nvPr/>
        </p:nvSpPr>
        <p:spPr>
          <a:xfrm>
            <a:off x="3657600" y="342900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TensorRT Cache Management</a:t>
            </a:r>
            <a:endParaRPr lang="en-US" sz="950" dirty="0"/>
          </a:p>
        </p:txBody>
      </p:sp>
      <p:sp>
        <p:nvSpPr>
          <p:cNvPr id="62" name="Shape 60"/>
          <p:cNvSpPr/>
          <p:nvPr/>
        </p:nvSpPr>
        <p:spPr>
          <a:xfrm>
            <a:off x="3200400" y="3931920"/>
            <a:ext cx="2834640" cy="402336"/>
          </a:xfrm>
          <a:prstGeom prst="rect">
            <a:avLst/>
          </a:prstGeom>
          <a:solidFill>
            <a:srgbClr val="0D1F3C"/>
          </a:solidFill>
          <a:ln w="12700">
            <a:solidFill>
              <a:srgbClr val="7B2FBE"/>
            </a:solidFill>
            <a:prstDash val="solid"/>
          </a:ln>
        </p:spPr>
      </p:sp>
      <p:sp>
        <p:nvSpPr>
          <p:cNvPr id="63" name="Shape 61"/>
          <p:cNvSpPr/>
          <p:nvPr/>
        </p:nvSpPr>
        <p:spPr>
          <a:xfrm>
            <a:off x="3200400" y="3931920"/>
            <a:ext cx="411480" cy="402336"/>
          </a:xfrm>
          <a:prstGeom prst="rect">
            <a:avLst/>
          </a:prstGeom>
          <a:solidFill>
            <a:srgbClr val="7B2FBE">
              <a:alpha val="80000"/>
            </a:srgbClr>
          </a:solidFill>
          <a:ln/>
        </p:spPr>
      </p:sp>
      <p:sp>
        <p:nvSpPr>
          <p:cNvPr id="64" name="Text 62"/>
          <p:cNvSpPr/>
          <p:nvPr/>
        </p:nvSpPr>
        <p:spPr>
          <a:xfrm>
            <a:off x="3200400" y="39319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15</a:t>
            </a:r>
            <a:endParaRPr lang="en-US" sz="1100" dirty="0"/>
          </a:p>
        </p:txBody>
      </p:sp>
      <p:sp>
        <p:nvSpPr>
          <p:cNvPr id="65" name="Text 63"/>
          <p:cNvSpPr/>
          <p:nvPr/>
        </p:nvSpPr>
        <p:spPr>
          <a:xfrm>
            <a:off x="3657600" y="39319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Dataset Management</a:t>
            </a:r>
            <a:endParaRPr lang="en-US" sz="950" dirty="0"/>
          </a:p>
        </p:txBody>
      </p:sp>
      <p:sp>
        <p:nvSpPr>
          <p:cNvPr id="66" name="Shape 64"/>
          <p:cNvSpPr/>
          <p:nvPr/>
        </p:nvSpPr>
        <p:spPr>
          <a:xfrm>
            <a:off x="3200400" y="1417320"/>
            <a:ext cx="2834640" cy="402336"/>
          </a:xfrm>
          <a:prstGeom prst="rect">
            <a:avLst/>
          </a:prstGeom>
          <a:solidFill>
            <a:srgbClr val="0D1F3C"/>
          </a:solidFill>
          <a:ln w="12700">
            <a:solidFill>
              <a:srgbClr val="00FF9D"/>
            </a:solidFill>
            <a:prstDash val="solid"/>
          </a:ln>
        </p:spPr>
      </p:sp>
      <p:sp>
        <p:nvSpPr>
          <p:cNvPr id="67" name="Shape 65"/>
          <p:cNvSpPr/>
          <p:nvPr/>
        </p:nvSpPr>
        <p:spPr>
          <a:xfrm>
            <a:off x="3200400" y="1417320"/>
            <a:ext cx="411480" cy="402336"/>
          </a:xfrm>
          <a:prstGeom prst="rect">
            <a:avLst/>
          </a:prstGeom>
          <a:solidFill>
            <a:srgbClr val="00FF9D">
              <a:alpha val="80000"/>
            </a:srgbClr>
          </a:solidFill>
          <a:ln/>
        </p:spPr>
      </p:sp>
      <p:sp>
        <p:nvSpPr>
          <p:cNvPr id="68" name="Text 66"/>
          <p:cNvSpPr/>
          <p:nvPr/>
        </p:nvSpPr>
        <p:spPr>
          <a:xfrm>
            <a:off x="3200400" y="14173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16</a:t>
            </a:r>
            <a:endParaRPr lang="en-US" sz="1100" dirty="0"/>
          </a:p>
        </p:txBody>
      </p:sp>
      <p:sp>
        <p:nvSpPr>
          <p:cNvPr id="69" name="Text 67"/>
          <p:cNvSpPr/>
          <p:nvPr/>
        </p:nvSpPr>
        <p:spPr>
          <a:xfrm>
            <a:off x="3657600" y="14173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Διαχείριση Συνόλων COCO</a:t>
            </a:r>
            <a:endParaRPr lang="en-US" sz="950" dirty="0"/>
          </a:p>
        </p:txBody>
      </p:sp>
      <p:sp>
        <p:nvSpPr>
          <p:cNvPr id="70" name="Shape 68"/>
          <p:cNvSpPr/>
          <p:nvPr/>
        </p:nvSpPr>
        <p:spPr>
          <a:xfrm>
            <a:off x="3200400" y="1920240"/>
            <a:ext cx="2834640" cy="402336"/>
          </a:xfrm>
          <a:prstGeom prst="rect">
            <a:avLst/>
          </a:prstGeom>
          <a:solidFill>
            <a:srgbClr val="0D1F3C"/>
          </a:solidFill>
          <a:ln w="12700">
            <a:solidFill>
              <a:srgbClr val="FF6B35"/>
            </a:solidFill>
            <a:prstDash val="solid"/>
          </a:ln>
        </p:spPr>
      </p:sp>
      <p:sp>
        <p:nvSpPr>
          <p:cNvPr id="71" name="Shape 69"/>
          <p:cNvSpPr/>
          <p:nvPr/>
        </p:nvSpPr>
        <p:spPr>
          <a:xfrm>
            <a:off x="3200400" y="1920240"/>
            <a:ext cx="411480" cy="402336"/>
          </a:xfrm>
          <a:prstGeom prst="rect">
            <a:avLst/>
          </a:prstGeom>
          <a:solidFill>
            <a:srgbClr val="FF6B35">
              <a:alpha val="80000"/>
            </a:srgbClr>
          </a:solidFill>
          <a:ln/>
        </p:spPr>
      </p:sp>
      <p:sp>
        <p:nvSpPr>
          <p:cNvPr id="72" name="Text 70"/>
          <p:cNvSpPr/>
          <p:nvPr/>
        </p:nvSpPr>
        <p:spPr>
          <a:xfrm>
            <a:off x="3200400" y="192024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17</a:t>
            </a:r>
            <a:endParaRPr lang="en-US" sz="1100" dirty="0"/>
          </a:p>
        </p:txBody>
      </p:sp>
      <p:sp>
        <p:nvSpPr>
          <p:cNvPr id="73" name="Text 71"/>
          <p:cNvSpPr/>
          <p:nvPr/>
        </p:nvSpPr>
        <p:spPr>
          <a:xfrm>
            <a:off x="3657600" y="192024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Smart Optimizer Selection</a:t>
            </a:r>
            <a:endParaRPr lang="en-US" sz="950" dirty="0"/>
          </a:p>
        </p:txBody>
      </p:sp>
      <p:sp>
        <p:nvSpPr>
          <p:cNvPr id="74" name="Shape 72"/>
          <p:cNvSpPr/>
          <p:nvPr/>
        </p:nvSpPr>
        <p:spPr>
          <a:xfrm>
            <a:off x="3200400" y="2423160"/>
            <a:ext cx="2834640" cy="402336"/>
          </a:xfrm>
          <a:prstGeom prst="rect">
            <a:avLst/>
          </a:prstGeom>
          <a:solidFill>
            <a:srgbClr val="0D1F3C"/>
          </a:solidFill>
          <a:ln w="12700">
            <a:solidFill>
              <a:srgbClr val="FF2D78"/>
            </a:solidFill>
            <a:prstDash val="solid"/>
          </a:ln>
        </p:spPr>
      </p:sp>
      <p:sp>
        <p:nvSpPr>
          <p:cNvPr id="75" name="Shape 73"/>
          <p:cNvSpPr/>
          <p:nvPr/>
        </p:nvSpPr>
        <p:spPr>
          <a:xfrm>
            <a:off x="3200400" y="2423160"/>
            <a:ext cx="411480" cy="402336"/>
          </a:xfrm>
          <a:prstGeom prst="rect">
            <a:avLst/>
          </a:prstGeom>
          <a:solidFill>
            <a:srgbClr val="FF2D78">
              <a:alpha val="80000"/>
            </a:srgbClr>
          </a:solidFill>
          <a:ln/>
        </p:spPr>
      </p:sp>
      <p:sp>
        <p:nvSpPr>
          <p:cNvPr id="76" name="Text 74"/>
          <p:cNvSpPr/>
          <p:nvPr/>
        </p:nvSpPr>
        <p:spPr>
          <a:xfrm>
            <a:off x="3200400" y="242316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18</a:t>
            </a:r>
            <a:endParaRPr lang="en-US" sz="1100" dirty="0"/>
          </a:p>
        </p:txBody>
      </p:sp>
      <p:sp>
        <p:nvSpPr>
          <p:cNvPr id="77" name="Text 75"/>
          <p:cNvSpPr/>
          <p:nvPr/>
        </p:nvSpPr>
        <p:spPr>
          <a:xfrm>
            <a:off x="3657600" y="242316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PDF Reports – ReportLab</a:t>
            </a:r>
            <a:endParaRPr lang="en-US" sz="950" dirty="0"/>
          </a:p>
        </p:txBody>
      </p:sp>
      <p:sp>
        <p:nvSpPr>
          <p:cNvPr id="78" name="Shape 76"/>
          <p:cNvSpPr/>
          <p:nvPr/>
        </p:nvSpPr>
        <p:spPr>
          <a:xfrm>
            <a:off x="3200400" y="2926080"/>
            <a:ext cx="2834640" cy="402336"/>
          </a:xfrm>
          <a:prstGeom prst="rect">
            <a:avLst/>
          </a:prstGeom>
          <a:solidFill>
            <a:srgbClr val="0D1F3C"/>
          </a:solidFill>
          <a:ln w="12700">
            <a:solidFill>
              <a:srgbClr val="00D4FF"/>
            </a:solidFill>
            <a:prstDash val="solid"/>
          </a:ln>
        </p:spPr>
      </p:sp>
      <p:sp>
        <p:nvSpPr>
          <p:cNvPr id="79" name="Shape 77"/>
          <p:cNvSpPr/>
          <p:nvPr/>
        </p:nvSpPr>
        <p:spPr>
          <a:xfrm>
            <a:off x="3200400" y="2926080"/>
            <a:ext cx="411480" cy="402336"/>
          </a:xfrm>
          <a:prstGeom prst="rect">
            <a:avLst/>
          </a:prstGeom>
          <a:solidFill>
            <a:srgbClr val="00D4FF">
              <a:alpha val="80000"/>
            </a:srgbClr>
          </a:solidFill>
          <a:ln/>
        </p:spPr>
      </p:sp>
      <p:sp>
        <p:nvSpPr>
          <p:cNvPr id="80" name="Text 78"/>
          <p:cNvSpPr/>
          <p:nvPr/>
        </p:nvSpPr>
        <p:spPr>
          <a:xfrm>
            <a:off x="3200400" y="292608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19</a:t>
            </a:r>
            <a:endParaRPr lang="en-US" sz="1100" dirty="0"/>
          </a:p>
        </p:txBody>
      </p:sp>
      <p:sp>
        <p:nvSpPr>
          <p:cNvPr id="81" name="Text 79"/>
          <p:cNvSpPr/>
          <p:nvPr/>
        </p:nvSpPr>
        <p:spPr>
          <a:xfrm>
            <a:off x="3657600" y="292608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Diagnostics &amp; Monitoring</a:t>
            </a:r>
            <a:endParaRPr lang="en-US" sz="950" dirty="0"/>
          </a:p>
        </p:txBody>
      </p:sp>
      <p:sp>
        <p:nvSpPr>
          <p:cNvPr id="82" name="Shape 80"/>
          <p:cNvSpPr/>
          <p:nvPr/>
        </p:nvSpPr>
        <p:spPr>
          <a:xfrm>
            <a:off x="3200400" y="3429000"/>
            <a:ext cx="2834640" cy="402336"/>
          </a:xfrm>
          <a:prstGeom prst="rect">
            <a:avLst/>
          </a:prstGeom>
          <a:solidFill>
            <a:srgbClr val="0D1F3C"/>
          </a:solidFill>
          <a:ln w="12700">
            <a:solidFill>
              <a:srgbClr val="7B2FBE"/>
            </a:solidFill>
            <a:prstDash val="solid"/>
          </a:ln>
        </p:spPr>
      </p:sp>
      <p:sp>
        <p:nvSpPr>
          <p:cNvPr id="83" name="Shape 81"/>
          <p:cNvSpPr/>
          <p:nvPr/>
        </p:nvSpPr>
        <p:spPr>
          <a:xfrm>
            <a:off x="3200400" y="3429000"/>
            <a:ext cx="411480" cy="402336"/>
          </a:xfrm>
          <a:prstGeom prst="rect">
            <a:avLst/>
          </a:prstGeom>
          <a:solidFill>
            <a:srgbClr val="7B2FBE">
              <a:alpha val="80000"/>
            </a:srgbClr>
          </a:solidFill>
          <a:ln/>
        </p:spPr>
      </p:sp>
      <p:sp>
        <p:nvSpPr>
          <p:cNvPr id="84" name="Text 82"/>
          <p:cNvSpPr/>
          <p:nvPr/>
        </p:nvSpPr>
        <p:spPr>
          <a:xfrm>
            <a:off x="3200400" y="342900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20</a:t>
            </a:r>
            <a:endParaRPr lang="en-US" sz="1100" dirty="0"/>
          </a:p>
        </p:txBody>
      </p:sp>
      <p:sp>
        <p:nvSpPr>
          <p:cNvPr id="85" name="Text 83"/>
          <p:cNvSpPr/>
          <p:nvPr/>
        </p:nvSpPr>
        <p:spPr>
          <a:xfrm>
            <a:off x="3657600" y="342900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CPU/RAM/GPU Monitoring</a:t>
            </a:r>
            <a:endParaRPr lang="en-US" sz="950" dirty="0"/>
          </a:p>
        </p:txBody>
      </p:sp>
      <p:sp>
        <p:nvSpPr>
          <p:cNvPr id="86" name="Shape 84"/>
          <p:cNvSpPr/>
          <p:nvPr/>
        </p:nvSpPr>
        <p:spPr>
          <a:xfrm>
            <a:off x="3200400" y="3931920"/>
            <a:ext cx="2834640" cy="402336"/>
          </a:xfrm>
          <a:prstGeom prst="rect">
            <a:avLst/>
          </a:prstGeom>
          <a:solidFill>
            <a:srgbClr val="0D1F3C"/>
          </a:solidFill>
          <a:ln w="12700">
            <a:solidFill>
              <a:srgbClr val="00FF9D"/>
            </a:solidFill>
            <a:prstDash val="solid"/>
          </a:ln>
        </p:spPr>
      </p:sp>
      <p:sp>
        <p:nvSpPr>
          <p:cNvPr id="87" name="Shape 85"/>
          <p:cNvSpPr/>
          <p:nvPr/>
        </p:nvSpPr>
        <p:spPr>
          <a:xfrm>
            <a:off x="3200400" y="3931920"/>
            <a:ext cx="411480" cy="402336"/>
          </a:xfrm>
          <a:prstGeom prst="rect">
            <a:avLst/>
          </a:prstGeom>
          <a:solidFill>
            <a:srgbClr val="00FF9D">
              <a:alpha val="80000"/>
            </a:srgbClr>
          </a:solidFill>
          <a:ln/>
        </p:spPr>
      </p:sp>
      <p:sp>
        <p:nvSpPr>
          <p:cNvPr id="88" name="Text 86"/>
          <p:cNvSpPr/>
          <p:nvPr/>
        </p:nvSpPr>
        <p:spPr>
          <a:xfrm>
            <a:off x="3200400" y="39319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21</a:t>
            </a:r>
            <a:endParaRPr lang="en-US" sz="1100" dirty="0"/>
          </a:p>
        </p:txBody>
      </p:sp>
      <p:sp>
        <p:nvSpPr>
          <p:cNvPr id="89" name="Text 87"/>
          <p:cNvSpPr/>
          <p:nvPr/>
        </p:nvSpPr>
        <p:spPr>
          <a:xfrm>
            <a:off x="3657600" y="39319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Crash Logs &amp; Error Handling</a:t>
            </a:r>
            <a:endParaRPr lang="en-US" sz="950" dirty="0"/>
          </a:p>
        </p:txBody>
      </p:sp>
      <p:sp>
        <p:nvSpPr>
          <p:cNvPr id="90" name="Shape 88"/>
          <p:cNvSpPr/>
          <p:nvPr/>
        </p:nvSpPr>
        <p:spPr>
          <a:xfrm>
            <a:off x="3200400" y="4434840"/>
            <a:ext cx="2834640" cy="402336"/>
          </a:xfrm>
          <a:prstGeom prst="rect">
            <a:avLst/>
          </a:prstGeom>
          <a:solidFill>
            <a:srgbClr val="0D1F3C"/>
          </a:solidFill>
          <a:ln w="12700">
            <a:solidFill>
              <a:srgbClr val="FF6B35"/>
            </a:solidFill>
            <a:prstDash val="solid"/>
          </a:ln>
        </p:spPr>
      </p:sp>
      <p:sp>
        <p:nvSpPr>
          <p:cNvPr id="91" name="Shape 89"/>
          <p:cNvSpPr/>
          <p:nvPr/>
        </p:nvSpPr>
        <p:spPr>
          <a:xfrm>
            <a:off x="3200400" y="4434840"/>
            <a:ext cx="411480" cy="402336"/>
          </a:xfrm>
          <a:prstGeom prst="rect">
            <a:avLst/>
          </a:prstGeom>
          <a:solidFill>
            <a:srgbClr val="FF6B35">
              <a:alpha val="80000"/>
            </a:srgbClr>
          </a:solidFill>
          <a:ln/>
        </p:spPr>
      </p:sp>
      <p:sp>
        <p:nvSpPr>
          <p:cNvPr id="92" name="Text 90"/>
          <p:cNvSpPr/>
          <p:nvPr/>
        </p:nvSpPr>
        <p:spPr>
          <a:xfrm>
            <a:off x="3200400" y="443484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22</a:t>
            </a:r>
            <a:endParaRPr lang="en-US" sz="1100" dirty="0"/>
          </a:p>
        </p:txBody>
      </p:sp>
      <p:sp>
        <p:nvSpPr>
          <p:cNvPr id="93" name="Text 91"/>
          <p:cNvSpPr/>
          <p:nvPr/>
        </p:nvSpPr>
        <p:spPr>
          <a:xfrm>
            <a:off x="3657600" y="443484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Windows Compatibility</a:t>
            </a:r>
            <a:endParaRPr lang="en-US" sz="950" dirty="0"/>
          </a:p>
        </p:txBody>
      </p:sp>
      <p:sp>
        <p:nvSpPr>
          <p:cNvPr id="94" name="Shape 92"/>
          <p:cNvSpPr/>
          <p:nvPr/>
        </p:nvSpPr>
        <p:spPr>
          <a:xfrm>
            <a:off x="6217920" y="914400"/>
            <a:ext cx="2834640" cy="402336"/>
          </a:xfrm>
          <a:prstGeom prst="rect">
            <a:avLst/>
          </a:prstGeom>
          <a:solidFill>
            <a:srgbClr val="0D1F3C"/>
          </a:solidFill>
          <a:ln w="12700">
            <a:solidFill>
              <a:srgbClr val="FF2D78"/>
            </a:solidFill>
            <a:prstDash val="solid"/>
          </a:ln>
        </p:spPr>
      </p:sp>
      <p:sp>
        <p:nvSpPr>
          <p:cNvPr id="95" name="Shape 93"/>
          <p:cNvSpPr/>
          <p:nvPr/>
        </p:nvSpPr>
        <p:spPr>
          <a:xfrm>
            <a:off x="6217920" y="914400"/>
            <a:ext cx="411480" cy="402336"/>
          </a:xfrm>
          <a:prstGeom prst="rect">
            <a:avLst/>
          </a:prstGeom>
          <a:solidFill>
            <a:srgbClr val="FF2D78">
              <a:alpha val="80000"/>
            </a:srgbClr>
          </a:solidFill>
          <a:ln/>
        </p:spPr>
      </p:sp>
      <p:sp>
        <p:nvSpPr>
          <p:cNvPr id="96" name="Text 94"/>
          <p:cNvSpPr/>
          <p:nvPr/>
        </p:nvSpPr>
        <p:spPr>
          <a:xfrm>
            <a:off x="6217920" y="91440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23</a:t>
            </a:r>
            <a:endParaRPr lang="en-US" sz="1100" dirty="0"/>
          </a:p>
        </p:txBody>
      </p:sp>
      <p:sp>
        <p:nvSpPr>
          <p:cNvPr id="97" name="Text 95"/>
          <p:cNvSpPr/>
          <p:nvPr/>
        </p:nvSpPr>
        <p:spPr>
          <a:xfrm>
            <a:off x="6675120" y="91440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PySide6 GUI Architecture</a:t>
            </a:r>
            <a:endParaRPr lang="en-US" sz="950" dirty="0"/>
          </a:p>
        </p:txBody>
      </p:sp>
      <p:sp>
        <p:nvSpPr>
          <p:cNvPr id="98" name="Shape 96"/>
          <p:cNvSpPr/>
          <p:nvPr/>
        </p:nvSpPr>
        <p:spPr>
          <a:xfrm>
            <a:off x="6217920" y="1417320"/>
            <a:ext cx="2834640" cy="402336"/>
          </a:xfrm>
          <a:prstGeom prst="rect">
            <a:avLst/>
          </a:prstGeom>
          <a:solidFill>
            <a:srgbClr val="0D1F3C"/>
          </a:solidFill>
          <a:ln w="12700">
            <a:solidFill>
              <a:srgbClr val="00D4FF"/>
            </a:solidFill>
            <a:prstDash val="solid"/>
          </a:ln>
        </p:spPr>
      </p:sp>
      <p:sp>
        <p:nvSpPr>
          <p:cNvPr id="99" name="Shape 97"/>
          <p:cNvSpPr/>
          <p:nvPr/>
        </p:nvSpPr>
        <p:spPr>
          <a:xfrm>
            <a:off x="6217920" y="1417320"/>
            <a:ext cx="411480" cy="402336"/>
          </a:xfrm>
          <a:prstGeom prst="rect">
            <a:avLst/>
          </a:prstGeom>
          <a:solidFill>
            <a:srgbClr val="00D4FF">
              <a:alpha val="80000"/>
            </a:srgbClr>
          </a:solidFill>
          <a:ln/>
        </p:spPr>
      </p:sp>
      <p:sp>
        <p:nvSpPr>
          <p:cNvPr id="100" name="Text 98"/>
          <p:cNvSpPr/>
          <p:nvPr/>
        </p:nvSpPr>
        <p:spPr>
          <a:xfrm>
            <a:off x="6217920" y="14173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24</a:t>
            </a:r>
            <a:endParaRPr lang="en-US" sz="1100" dirty="0"/>
          </a:p>
        </p:txBody>
      </p:sp>
      <p:sp>
        <p:nvSpPr>
          <p:cNvPr id="101" name="Text 99"/>
          <p:cNvSpPr/>
          <p:nvPr/>
        </p:nvSpPr>
        <p:spPr>
          <a:xfrm>
            <a:off x="6675120" y="14173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Threading &amp; Safety</a:t>
            </a:r>
            <a:endParaRPr lang="en-US" sz="950" dirty="0"/>
          </a:p>
        </p:txBody>
      </p:sp>
      <p:sp>
        <p:nvSpPr>
          <p:cNvPr id="102" name="Shape 100"/>
          <p:cNvSpPr/>
          <p:nvPr/>
        </p:nvSpPr>
        <p:spPr>
          <a:xfrm>
            <a:off x="6217920" y="1920240"/>
            <a:ext cx="2834640" cy="402336"/>
          </a:xfrm>
          <a:prstGeom prst="rect">
            <a:avLst/>
          </a:prstGeom>
          <a:solidFill>
            <a:srgbClr val="0D1F3C"/>
          </a:solidFill>
          <a:ln w="12700">
            <a:solidFill>
              <a:srgbClr val="7B2FBE"/>
            </a:solidFill>
            <a:prstDash val="solid"/>
          </a:ln>
        </p:spPr>
      </p:sp>
      <p:sp>
        <p:nvSpPr>
          <p:cNvPr id="103" name="Shape 101"/>
          <p:cNvSpPr/>
          <p:nvPr/>
        </p:nvSpPr>
        <p:spPr>
          <a:xfrm>
            <a:off x="6217920" y="1920240"/>
            <a:ext cx="411480" cy="402336"/>
          </a:xfrm>
          <a:prstGeom prst="rect">
            <a:avLst/>
          </a:prstGeom>
          <a:solidFill>
            <a:srgbClr val="7B2FBE">
              <a:alpha val="80000"/>
            </a:srgbClr>
          </a:solidFill>
          <a:ln/>
        </p:spPr>
      </p:sp>
      <p:sp>
        <p:nvSpPr>
          <p:cNvPr id="104" name="Text 102"/>
          <p:cNvSpPr/>
          <p:nvPr/>
        </p:nvSpPr>
        <p:spPr>
          <a:xfrm>
            <a:off x="6217920" y="192024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25</a:t>
            </a:r>
            <a:endParaRPr lang="en-US" sz="1100" dirty="0"/>
          </a:p>
        </p:txBody>
      </p:sp>
      <p:sp>
        <p:nvSpPr>
          <p:cNvPr id="105" name="Text 103"/>
          <p:cNvSpPr/>
          <p:nvPr/>
        </p:nvSpPr>
        <p:spPr>
          <a:xfrm>
            <a:off x="6675120" y="192024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Logging System</a:t>
            </a:r>
            <a:endParaRPr lang="en-US" sz="950" dirty="0"/>
          </a:p>
        </p:txBody>
      </p:sp>
      <p:sp>
        <p:nvSpPr>
          <p:cNvPr id="106" name="Shape 104"/>
          <p:cNvSpPr/>
          <p:nvPr/>
        </p:nvSpPr>
        <p:spPr>
          <a:xfrm>
            <a:off x="6217920" y="2423160"/>
            <a:ext cx="2834640" cy="402336"/>
          </a:xfrm>
          <a:prstGeom prst="rect">
            <a:avLst/>
          </a:prstGeom>
          <a:solidFill>
            <a:srgbClr val="0D1F3C"/>
          </a:solidFill>
          <a:ln w="12700">
            <a:solidFill>
              <a:srgbClr val="00FF9D"/>
            </a:solidFill>
            <a:prstDash val="solid"/>
          </a:ln>
        </p:spPr>
      </p:sp>
      <p:sp>
        <p:nvSpPr>
          <p:cNvPr id="107" name="Shape 105"/>
          <p:cNvSpPr/>
          <p:nvPr/>
        </p:nvSpPr>
        <p:spPr>
          <a:xfrm>
            <a:off x="6217920" y="2423160"/>
            <a:ext cx="411480" cy="402336"/>
          </a:xfrm>
          <a:prstGeom prst="rect">
            <a:avLst/>
          </a:prstGeom>
          <a:solidFill>
            <a:srgbClr val="00FF9D">
              <a:alpha val="80000"/>
            </a:srgbClr>
          </a:solidFill>
          <a:ln/>
        </p:spPr>
      </p:sp>
      <p:sp>
        <p:nvSpPr>
          <p:cNvPr id="108" name="Text 106"/>
          <p:cNvSpPr/>
          <p:nvPr/>
        </p:nvSpPr>
        <p:spPr>
          <a:xfrm>
            <a:off x="6217920" y="242316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26</a:t>
            </a:r>
            <a:endParaRPr lang="en-US" sz="1100" dirty="0"/>
          </a:p>
        </p:txBody>
      </p:sp>
      <p:sp>
        <p:nvSpPr>
          <p:cNvPr id="109" name="Text 107"/>
          <p:cNvSpPr/>
          <p:nvPr/>
        </p:nvSpPr>
        <p:spPr>
          <a:xfrm>
            <a:off x="6675120" y="242316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Benchmark &amp; Statistics</a:t>
            </a:r>
            <a:endParaRPr lang="en-US" sz="950" dirty="0"/>
          </a:p>
        </p:txBody>
      </p:sp>
      <p:sp>
        <p:nvSpPr>
          <p:cNvPr id="110" name="Shape 108"/>
          <p:cNvSpPr/>
          <p:nvPr/>
        </p:nvSpPr>
        <p:spPr>
          <a:xfrm>
            <a:off x="6217920" y="2926080"/>
            <a:ext cx="2834640" cy="402336"/>
          </a:xfrm>
          <a:prstGeom prst="rect">
            <a:avLst/>
          </a:prstGeom>
          <a:solidFill>
            <a:srgbClr val="0D1F3C"/>
          </a:solidFill>
          <a:ln w="12700">
            <a:solidFill>
              <a:srgbClr val="FF6B35"/>
            </a:solidFill>
            <a:prstDash val="solid"/>
          </a:ln>
        </p:spPr>
      </p:sp>
      <p:sp>
        <p:nvSpPr>
          <p:cNvPr id="111" name="Shape 109"/>
          <p:cNvSpPr/>
          <p:nvPr/>
        </p:nvSpPr>
        <p:spPr>
          <a:xfrm>
            <a:off x="6217920" y="2926080"/>
            <a:ext cx="411480" cy="402336"/>
          </a:xfrm>
          <a:prstGeom prst="rect">
            <a:avLst/>
          </a:prstGeom>
          <a:solidFill>
            <a:srgbClr val="FF6B35">
              <a:alpha val="80000"/>
            </a:srgbClr>
          </a:solidFill>
          <a:ln/>
        </p:spPr>
      </p:sp>
      <p:sp>
        <p:nvSpPr>
          <p:cNvPr id="112" name="Text 110"/>
          <p:cNvSpPr/>
          <p:nvPr/>
        </p:nvSpPr>
        <p:spPr>
          <a:xfrm>
            <a:off x="6217920" y="292608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27</a:t>
            </a:r>
            <a:endParaRPr lang="en-US" sz="1100" dirty="0"/>
          </a:p>
        </p:txBody>
      </p:sp>
      <p:sp>
        <p:nvSpPr>
          <p:cNvPr id="113" name="Text 111"/>
          <p:cNvSpPr/>
          <p:nvPr/>
        </p:nvSpPr>
        <p:spPr>
          <a:xfrm>
            <a:off x="6675120" y="292608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Auto Resize (imgsz)</a:t>
            </a:r>
            <a:endParaRPr lang="en-US" sz="950" dirty="0"/>
          </a:p>
        </p:txBody>
      </p:sp>
      <p:sp>
        <p:nvSpPr>
          <p:cNvPr id="114" name="Shape 112"/>
          <p:cNvSpPr/>
          <p:nvPr/>
        </p:nvSpPr>
        <p:spPr>
          <a:xfrm>
            <a:off x="6217920" y="3429000"/>
            <a:ext cx="2834640" cy="402336"/>
          </a:xfrm>
          <a:prstGeom prst="rect">
            <a:avLst/>
          </a:prstGeom>
          <a:solidFill>
            <a:srgbClr val="0D1F3C"/>
          </a:solidFill>
          <a:ln w="12700">
            <a:solidFill>
              <a:srgbClr val="FF2D78"/>
            </a:solidFill>
            <a:prstDash val="solid"/>
          </a:ln>
        </p:spPr>
      </p:sp>
      <p:sp>
        <p:nvSpPr>
          <p:cNvPr id="115" name="Shape 113"/>
          <p:cNvSpPr/>
          <p:nvPr/>
        </p:nvSpPr>
        <p:spPr>
          <a:xfrm>
            <a:off x="6217920" y="3429000"/>
            <a:ext cx="411480" cy="402336"/>
          </a:xfrm>
          <a:prstGeom prst="rect">
            <a:avLst/>
          </a:prstGeom>
          <a:solidFill>
            <a:srgbClr val="FF2D78">
              <a:alpha val="80000"/>
            </a:srgbClr>
          </a:solidFill>
          <a:ln/>
        </p:spPr>
      </p:sp>
      <p:sp>
        <p:nvSpPr>
          <p:cNvPr id="116" name="Text 114"/>
          <p:cNvSpPr/>
          <p:nvPr/>
        </p:nvSpPr>
        <p:spPr>
          <a:xfrm>
            <a:off x="6217920" y="342900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28</a:t>
            </a:r>
            <a:endParaRPr lang="en-US" sz="1100" dirty="0"/>
          </a:p>
        </p:txBody>
      </p:sp>
      <p:sp>
        <p:nvSpPr>
          <p:cNvPr id="117" name="Text 115"/>
          <p:cNvSpPr/>
          <p:nvPr/>
        </p:nvSpPr>
        <p:spPr>
          <a:xfrm>
            <a:off x="6675120" y="342900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Hardware Detection</a:t>
            </a:r>
            <a:endParaRPr lang="en-US" sz="950" dirty="0"/>
          </a:p>
        </p:txBody>
      </p:sp>
      <p:sp>
        <p:nvSpPr>
          <p:cNvPr id="118" name="Shape 116"/>
          <p:cNvSpPr/>
          <p:nvPr/>
        </p:nvSpPr>
        <p:spPr>
          <a:xfrm>
            <a:off x="6217920" y="3931920"/>
            <a:ext cx="2834640" cy="402336"/>
          </a:xfrm>
          <a:prstGeom prst="rect">
            <a:avLst/>
          </a:prstGeom>
          <a:solidFill>
            <a:srgbClr val="0D1F3C"/>
          </a:solidFill>
          <a:ln w="12700">
            <a:solidFill>
              <a:srgbClr val="00D4FF"/>
            </a:solidFill>
            <a:prstDash val="solid"/>
          </a:ln>
        </p:spPr>
      </p:sp>
      <p:sp>
        <p:nvSpPr>
          <p:cNvPr id="119" name="Shape 117"/>
          <p:cNvSpPr/>
          <p:nvPr/>
        </p:nvSpPr>
        <p:spPr>
          <a:xfrm>
            <a:off x="6217920" y="3931920"/>
            <a:ext cx="411480" cy="402336"/>
          </a:xfrm>
          <a:prstGeom prst="rect">
            <a:avLst/>
          </a:prstGeom>
          <a:solidFill>
            <a:srgbClr val="00D4FF">
              <a:alpha val="80000"/>
            </a:srgbClr>
          </a:solidFill>
          <a:ln/>
        </p:spPr>
      </p:sp>
      <p:sp>
        <p:nvSpPr>
          <p:cNvPr id="120" name="Text 118"/>
          <p:cNvSpPr/>
          <p:nvPr/>
        </p:nvSpPr>
        <p:spPr>
          <a:xfrm>
            <a:off x="6217920" y="393192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29</a:t>
            </a:r>
            <a:endParaRPr lang="en-US" sz="1100" dirty="0"/>
          </a:p>
        </p:txBody>
      </p:sp>
      <p:sp>
        <p:nvSpPr>
          <p:cNvPr id="121" name="Text 119"/>
          <p:cNvSpPr/>
          <p:nvPr/>
        </p:nvSpPr>
        <p:spPr>
          <a:xfrm>
            <a:off x="6675120" y="393192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Performance Comparison</a:t>
            </a:r>
            <a:endParaRPr lang="en-US" sz="950" dirty="0"/>
          </a:p>
        </p:txBody>
      </p:sp>
      <p:sp>
        <p:nvSpPr>
          <p:cNvPr id="122" name="Shape 120"/>
          <p:cNvSpPr/>
          <p:nvPr/>
        </p:nvSpPr>
        <p:spPr>
          <a:xfrm>
            <a:off x="6217920" y="4434840"/>
            <a:ext cx="2834640" cy="402336"/>
          </a:xfrm>
          <a:prstGeom prst="rect">
            <a:avLst/>
          </a:prstGeom>
          <a:solidFill>
            <a:srgbClr val="0D1F3C"/>
          </a:solidFill>
          <a:ln w="12700">
            <a:solidFill>
              <a:srgbClr val="7B2FBE"/>
            </a:solidFill>
            <a:prstDash val="solid"/>
          </a:ln>
        </p:spPr>
      </p:sp>
      <p:sp>
        <p:nvSpPr>
          <p:cNvPr id="123" name="Shape 121"/>
          <p:cNvSpPr/>
          <p:nvPr/>
        </p:nvSpPr>
        <p:spPr>
          <a:xfrm>
            <a:off x="6217920" y="4434840"/>
            <a:ext cx="411480" cy="402336"/>
          </a:xfrm>
          <a:prstGeom prst="rect">
            <a:avLst/>
          </a:prstGeom>
          <a:solidFill>
            <a:srgbClr val="7B2FBE">
              <a:alpha val="80000"/>
            </a:srgbClr>
          </a:solidFill>
          <a:ln/>
        </p:spPr>
      </p:sp>
      <p:sp>
        <p:nvSpPr>
          <p:cNvPr id="124" name="Text 122"/>
          <p:cNvSpPr/>
          <p:nvPr/>
        </p:nvSpPr>
        <p:spPr>
          <a:xfrm>
            <a:off x="6217920" y="4434840"/>
            <a:ext cx="411480" cy="402336"/>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30</a:t>
            </a:r>
            <a:endParaRPr lang="en-US" sz="1100" dirty="0"/>
          </a:p>
        </p:txBody>
      </p:sp>
      <p:sp>
        <p:nvSpPr>
          <p:cNvPr id="125" name="Text 123"/>
          <p:cNvSpPr/>
          <p:nvPr/>
        </p:nvSpPr>
        <p:spPr>
          <a:xfrm>
            <a:off x="6675120" y="4434840"/>
            <a:ext cx="233172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Συμπεράσματα &amp; Επόμενα Βήματα</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D4FF"/>
            </a:solidFill>
            <a:prstDash val="solid"/>
          </a:ln>
        </p:spPr>
      </p:sp>
      <p:sp>
        <p:nvSpPr>
          <p:cNvPr id="3" name="Shape 1"/>
          <p:cNvSpPr/>
          <p:nvPr/>
        </p:nvSpPr>
        <p:spPr>
          <a:xfrm>
            <a:off x="0" y="0"/>
            <a:ext cx="73152" cy="822960"/>
          </a:xfrm>
          <a:prstGeom prst="rect">
            <a:avLst/>
          </a:prstGeom>
          <a:solidFill>
            <a:srgbClr val="00D4FF"/>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01 — Εισαγωγή &amp; Επισκόπηση</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D4FF"/>
                </a:solidFill>
                <a:latin typeface="Calibri" pitchFamily="34" charset="0"/>
                <a:ea typeface="Calibri" pitchFamily="34" charset="-122"/>
                <a:cs typeface="Calibri" pitchFamily="34" charset="-120"/>
              </a:rPr>
              <a:t>Models Manager Pro v4.0</a:t>
            </a:r>
            <a:endParaRPr lang="en-US" sz="1100" dirty="0"/>
          </a:p>
        </p:txBody>
      </p:sp>
      <p:sp>
        <p:nvSpPr>
          <p:cNvPr id="6" name="Text 4"/>
          <p:cNvSpPr/>
          <p:nvPr/>
        </p:nvSpPr>
        <p:spPr>
          <a:xfrm>
            <a:off x="274320" y="960120"/>
            <a:ext cx="8595360" cy="365760"/>
          </a:xfrm>
          <a:prstGeom prst="rect">
            <a:avLst/>
          </a:prstGeom>
          <a:noFill/>
          <a:ln/>
        </p:spPr>
        <p:txBody>
          <a:bodyPr wrap="square" lIns="0" tIns="0" rIns="0" bIns="0" rtlCol="0" anchor="ctr"/>
          <a:lstStyle/>
          <a:p>
            <a:pPr indent="0" marL="0">
              <a:buNone/>
            </a:pPr>
            <a:r>
              <a:rPr lang="en-US" sz="1800" b="1" dirty="0">
                <a:solidFill>
                  <a:srgbClr val="00D4FF"/>
                </a:solidFill>
                <a:latin typeface="Calibri" pitchFamily="34" charset="0"/>
                <a:ea typeface="Calibri" pitchFamily="34" charset="-122"/>
                <a:cs typeface="Calibri" pitchFamily="34" charset="-120"/>
              </a:rPr>
              <a:t>Τι είναι το Models Manager Pro v4.0;</a:t>
            </a:r>
            <a:endParaRPr lang="en-US" sz="1800" dirty="0"/>
          </a:p>
        </p:txBody>
      </p:sp>
      <p:sp>
        <p:nvSpPr>
          <p:cNvPr id="7" name="Text 5"/>
          <p:cNvSpPr/>
          <p:nvPr/>
        </p:nvSpPr>
        <p:spPr>
          <a:xfrm>
            <a:off x="274320" y="1371600"/>
            <a:ext cx="8595360" cy="731520"/>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Το Models Manager Pro v4.0</a:t>
            </a:r>
            <a:pPr indent="0" marL="0">
              <a:buNone/>
            </a:pPr>
            <a:r>
              <a:rPr lang="en-US" sz="1250" dirty="0">
                <a:solidFill>
                  <a:srgbClr val="AABBCC"/>
                </a:solidFill>
                <a:latin typeface="Calibri" pitchFamily="34" charset="0"/>
                <a:ea typeface="Calibri" pitchFamily="34" charset="-122"/>
                <a:cs typeface="Calibri" pitchFamily="34" charset="-120"/>
              </a:rPr>
              <a:t> είναι μια επαγγελματική, ολοκληρωμένη εφαρμογή διαχείρισης AI μοντέλων, </a:t>
            </a:r>
            <a:endParaRPr lang="en-US" sz="1250" dirty="0"/>
          </a:p>
          <a:p>
            <a:pPr indent="0" marL="0">
              <a:buNone/>
            </a:pPr>
            <a:r>
              <a:rPr lang="en-US" sz="1250" dirty="0">
                <a:solidFill>
                  <a:srgbClr val="AABBCC"/>
                </a:solidFill>
                <a:latin typeface="Calibri" pitchFamily="34" charset="0"/>
                <a:ea typeface="Calibri" pitchFamily="34" charset="-122"/>
                <a:cs typeface="Calibri" pitchFamily="34" charset="-120"/>
              </a:rPr>
              <a:t>γραμμένη σε Python 3.12 με GUI βασισμένο στο PySide6. Σχεδιάστηκε για να καλύψει </a:t>
            </a:r>
            <a:endParaRPr lang="en-US" sz="1250" dirty="0"/>
          </a:p>
          <a:p>
            <a:pPr indent="0" marL="0">
              <a:buNone/>
            </a:pPr>
            <a:r>
              <a:rPr lang="en-US" sz="1250" b="1" dirty="0">
                <a:solidFill>
                  <a:srgbClr val="FFFFFF"/>
                </a:solidFill>
                <a:latin typeface="Calibri" pitchFamily="34" charset="0"/>
                <a:ea typeface="Calibri" pitchFamily="34" charset="-122"/>
                <a:cs typeface="Calibri" pitchFamily="34" charset="-120"/>
              </a:rPr>
              <a:t>κάθε πτυχή του κύκλου ζωής AI μοντέλων</a:t>
            </a:r>
            <a:pPr indent="0" marL="0">
              <a:buNone/>
            </a:pPr>
            <a:r>
              <a:rPr lang="en-US" sz="1250" dirty="0">
                <a:solidFill>
                  <a:srgbClr val="AABBCC"/>
                </a:solidFill>
                <a:latin typeface="Calibri" pitchFamily="34" charset="0"/>
                <a:ea typeface="Calibri" pitchFamily="34" charset="-122"/>
                <a:cs typeface="Calibri" pitchFamily="34" charset="-120"/>
              </a:rPr>
              <a:t> — από την εκπαίδευση και βελτιστοποίηση έως την εξαγωγή και ανάπτυξη σε παραγωγή.</a:t>
            </a:r>
            <a:endParaRPr lang="en-US" sz="1250" dirty="0"/>
          </a:p>
        </p:txBody>
      </p:sp>
      <p:sp>
        <p:nvSpPr>
          <p:cNvPr id="8" name="Shape 6"/>
          <p:cNvSpPr/>
          <p:nvPr/>
        </p:nvSpPr>
        <p:spPr>
          <a:xfrm>
            <a:off x="182880" y="2286000"/>
            <a:ext cx="2834640" cy="128016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9" name="Shape 7"/>
          <p:cNvSpPr/>
          <p:nvPr/>
        </p:nvSpPr>
        <p:spPr>
          <a:xfrm>
            <a:off x="182880" y="2286000"/>
            <a:ext cx="2834640" cy="64008"/>
          </a:xfrm>
          <a:prstGeom prst="rect">
            <a:avLst/>
          </a:prstGeom>
          <a:solidFill>
            <a:srgbClr val="00D4FF"/>
          </a:solidFill>
          <a:ln/>
        </p:spPr>
      </p:sp>
      <p:pic>
        <p:nvPicPr>
          <p:cNvPr id="10" name="Image 0" descr="preencoded.png">    </p:cNvPr>
          <p:cNvPicPr>
            <a:picLocks noChangeAspect="1"/>
          </p:cNvPicPr>
          <p:nvPr/>
        </p:nvPicPr>
        <p:blipFill>
          <a:blip r:embed="rId1"/>
          <a:stretch>
            <a:fillRect/>
          </a:stretch>
        </p:blipFill>
        <p:spPr>
          <a:xfrm>
            <a:off x="274320" y="2423160"/>
            <a:ext cx="320040" cy="320040"/>
          </a:xfrm>
          <a:prstGeom prst="rect">
            <a:avLst/>
          </a:prstGeom>
        </p:spPr>
      </p:pic>
      <p:sp>
        <p:nvSpPr>
          <p:cNvPr id="11" name="Text 8"/>
          <p:cNvSpPr/>
          <p:nvPr/>
        </p:nvSpPr>
        <p:spPr>
          <a:xfrm>
            <a:off x="685800" y="2377440"/>
            <a:ext cx="224028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AI Copilot</a:t>
            </a:r>
            <a:endParaRPr lang="en-US" sz="1300" dirty="0"/>
          </a:p>
        </p:txBody>
      </p:sp>
      <p:sp>
        <p:nvSpPr>
          <p:cNvPr id="12" name="Text 9"/>
          <p:cNvSpPr/>
          <p:nvPr/>
        </p:nvSpPr>
        <p:spPr>
          <a:xfrm>
            <a:off x="320040" y="2761488"/>
            <a:ext cx="2560320" cy="7132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Ενσωματωμένο LLM</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(Groq API) για έξυπνες</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προτάσεις ρυθμίσεων</a:t>
            </a:r>
            <a:endParaRPr lang="en-US" sz="1050" dirty="0"/>
          </a:p>
        </p:txBody>
      </p:sp>
      <p:sp>
        <p:nvSpPr>
          <p:cNvPr id="13" name="Shape 10"/>
          <p:cNvSpPr/>
          <p:nvPr/>
        </p:nvSpPr>
        <p:spPr>
          <a:xfrm>
            <a:off x="3154680" y="2286000"/>
            <a:ext cx="2834640" cy="128016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14" name="Shape 11"/>
          <p:cNvSpPr/>
          <p:nvPr/>
        </p:nvSpPr>
        <p:spPr>
          <a:xfrm>
            <a:off x="3154680" y="2286000"/>
            <a:ext cx="2834640" cy="64008"/>
          </a:xfrm>
          <a:prstGeom prst="rect">
            <a:avLst/>
          </a:prstGeom>
          <a:solidFill>
            <a:srgbClr val="7B2FBE"/>
          </a:solidFill>
          <a:ln/>
        </p:spPr>
      </p:sp>
      <p:pic>
        <p:nvPicPr>
          <p:cNvPr id="15" name="Image 1" descr="preencoded.png">    </p:cNvPr>
          <p:cNvPicPr>
            <a:picLocks noChangeAspect="1"/>
          </p:cNvPicPr>
          <p:nvPr/>
        </p:nvPicPr>
        <p:blipFill>
          <a:blip r:embed="rId2"/>
          <a:stretch>
            <a:fillRect/>
          </a:stretch>
        </p:blipFill>
        <p:spPr>
          <a:xfrm>
            <a:off x="3246120" y="2423160"/>
            <a:ext cx="320040" cy="320040"/>
          </a:xfrm>
          <a:prstGeom prst="rect">
            <a:avLst/>
          </a:prstGeom>
        </p:spPr>
      </p:pic>
      <p:sp>
        <p:nvSpPr>
          <p:cNvPr id="16" name="Text 12"/>
          <p:cNvSpPr/>
          <p:nvPr/>
        </p:nvSpPr>
        <p:spPr>
          <a:xfrm>
            <a:off x="3657600" y="2377440"/>
            <a:ext cx="224028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Dual Architecture</a:t>
            </a:r>
            <a:endParaRPr lang="en-US" sz="1300" dirty="0"/>
          </a:p>
        </p:txBody>
      </p:sp>
      <p:sp>
        <p:nvSpPr>
          <p:cNvPr id="17" name="Text 13"/>
          <p:cNvSpPr/>
          <p:nvPr/>
        </p:nvSpPr>
        <p:spPr>
          <a:xfrm>
            <a:off x="3291840" y="2761488"/>
            <a:ext cx="2560320" cy="7132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YOLO v5–v12 + CNN</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Classifiers (MobileNet,</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ResNet) σε ένα UI</a:t>
            </a:r>
            <a:endParaRPr lang="en-US" sz="1050" dirty="0"/>
          </a:p>
        </p:txBody>
      </p:sp>
      <p:sp>
        <p:nvSpPr>
          <p:cNvPr id="18" name="Shape 14"/>
          <p:cNvSpPr/>
          <p:nvPr/>
        </p:nvSpPr>
        <p:spPr>
          <a:xfrm>
            <a:off x="6126480" y="2286000"/>
            <a:ext cx="2834640" cy="128016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19" name="Shape 15"/>
          <p:cNvSpPr/>
          <p:nvPr/>
        </p:nvSpPr>
        <p:spPr>
          <a:xfrm>
            <a:off x="6126480" y="2286000"/>
            <a:ext cx="2834640" cy="64008"/>
          </a:xfrm>
          <a:prstGeom prst="rect">
            <a:avLst/>
          </a:prstGeom>
          <a:solidFill>
            <a:srgbClr val="00FF9D"/>
          </a:solidFill>
          <a:ln/>
        </p:spPr>
      </p:sp>
      <p:pic>
        <p:nvPicPr>
          <p:cNvPr id="20" name="Image 2" descr="preencoded.png">    </p:cNvPr>
          <p:cNvPicPr>
            <a:picLocks noChangeAspect="1"/>
          </p:cNvPicPr>
          <p:nvPr/>
        </p:nvPicPr>
        <p:blipFill>
          <a:blip r:embed="rId3"/>
          <a:stretch>
            <a:fillRect/>
          </a:stretch>
        </p:blipFill>
        <p:spPr>
          <a:xfrm>
            <a:off x="6217920" y="2423160"/>
            <a:ext cx="320040" cy="320040"/>
          </a:xfrm>
          <a:prstGeom prst="rect">
            <a:avLst/>
          </a:prstGeom>
        </p:spPr>
      </p:pic>
      <p:sp>
        <p:nvSpPr>
          <p:cNvPr id="21" name="Text 16"/>
          <p:cNvSpPr/>
          <p:nvPr/>
        </p:nvSpPr>
        <p:spPr>
          <a:xfrm>
            <a:off x="6629400" y="2377440"/>
            <a:ext cx="224028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Multi-Format Export</a:t>
            </a:r>
            <a:endParaRPr lang="en-US" sz="1300" dirty="0"/>
          </a:p>
        </p:txBody>
      </p:sp>
      <p:sp>
        <p:nvSpPr>
          <p:cNvPr id="22" name="Text 17"/>
          <p:cNvSpPr/>
          <p:nvPr/>
        </p:nvSpPr>
        <p:spPr>
          <a:xfrm>
            <a:off x="6263640" y="2761488"/>
            <a:ext cx="2560320" cy="7132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ONNX, TensorRT (.engine)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και NCNN για μέγιστη</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συμβατότητα</a:t>
            </a:r>
            <a:endParaRPr lang="en-US" sz="1050" dirty="0"/>
          </a:p>
        </p:txBody>
      </p:sp>
      <p:sp>
        <p:nvSpPr>
          <p:cNvPr id="23" name="Shape 18"/>
          <p:cNvSpPr/>
          <p:nvPr/>
        </p:nvSpPr>
        <p:spPr>
          <a:xfrm>
            <a:off x="182880" y="3703320"/>
            <a:ext cx="2834640" cy="128016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24" name="Shape 19"/>
          <p:cNvSpPr/>
          <p:nvPr/>
        </p:nvSpPr>
        <p:spPr>
          <a:xfrm>
            <a:off x="182880" y="3703320"/>
            <a:ext cx="2834640" cy="64008"/>
          </a:xfrm>
          <a:prstGeom prst="rect">
            <a:avLst/>
          </a:prstGeom>
          <a:solidFill>
            <a:srgbClr val="FF6B35"/>
          </a:solidFill>
          <a:ln/>
        </p:spPr>
      </p:sp>
      <p:pic>
        <p:nvPicPr>
          <p:cNvPr id="25" name="Image 3" descr="preencoded.png">    </p:cNvPr>
          <p:cNvPicPr>
            <a:picLocks noChangeAspect="1"/>
          </p:cNvPicPr>
          <p:nvPr/>
        </p:nvPicPr>
        <p:blipFill>
          <a:blip r:embed="rId4"/>
          <a:stretch>
            <a:fillRect/>
          </a:stretch>
        </p:blipFill>
        <p:spPr>
          <a:xfrm>
            <a:off x="274320" y="3840480"/>
            <a:ext cx="320040" cy="320040"/>
          </a:xfrm>
          <a:prstGeom prst="rect">
            <a:avLst/>
          </a:prstGeom>
        </p:spPr>
      </p:pic>
      <p:sp>
        <p:nvSpPr>
          <p:cNvPr id="26" name="Text 20"/>
          <p:cNvSpPr/>
          <p:nvPr/>
        </p:nvSpPr>
        <p:spPr>
          <a:xfrm>
            <a:off x="685800" y="3794760"/>
            <a:ext cx="224028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Live Detection</a:t>
            </a:r>
            <a:endParaRPr lang="en-US" sz="1300" dirty="0"/>
          </a:p>
        </p:txBody>
      </p:sp>
      <p:sp>
        <p:nvSpPr>
          <p:cNvPr id="27" name="Text 21"/>
          <p:cNvSpPr/>
          <p:nvPr/>
        </p:nvSpPr>
        <p:spPr>
          <a:xfrm>
            <a:off x="320040" y="4178808"/>
            <a:ext cx="2560320" cy="7132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Ζωντανή ανίχνευση</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60 FPS target με</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smart camera buffers</a:t>
            </a:r>
            <a:endParaRPr lang="en-US" sz="1050" dirty="0"/>
          </a:p>
        </p:txBody>
      </p:sp>
      <p:sp>
        <p:nvSpPr>
          <p:cNvPr id="28" name="Shape 22"/>
          <p:cNvSpPr/>
          <p:nvPr/>
        </p:nvSpPr>
        <p:spPr>
          <a:xfrm>
            <a:off x="3154680" y="3703320"/>
            <a:ext cx="2834640" cy="128016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29" name="Shape 23"/>
          <p:cNvSpPr/>
          <p:nvPr/>
        </p:nvSpPr>
        <p:spPr>
          <a:xfrm>
            <a:off x="3154680" y="3703320"/>
            <a:ext cx="2834640" cy="64008"/>
          </a:xfrm>
          <a:prstGeom prst="rect">
            <a:avLst/>
          </a:prstGeom>
          <a:solidFill>
            <a:srgbClr val="FF2D78"/>
          </a:solidFill>
          <a:ln/>
        </p:spPr>
      </p:sp>
      <p:pic>
        <p:nvPicPr>
          <p:cNvPr id="30" name="Image 4" descr="preencoded.png">    </p:cNvPr>
          <p:cNvPicPr>
            <a:picLocks noChangeAspect="1"/>
          </p:cNvPicPr>
          <p:nvPr/>
        </p:nvPicPr>
        <p:blipFill>
          <a:blip r:embed="rId5"/>
          <a:stretch>
            <a:fillRect/>
          </a:stretch>
        </p:blipFill>
        <p:spPr>
          <a:xfrm>
            <a:off x="3246120" y="3840480"/>
            <a:ext cx="320040" cy="320040"/>
          </a:xfrm>
          <a:prstGeom prst="rect">
            <a:avLst/>
          </a:prstGeom>
        </p:spPr>
      </p:pic>
      <p:sp>
        <p:nvSpPr>
          <p:cNvPr id="31" name="Text 24"/>
          <p:cNvSpPr/>
          <p:nvPr/>
        </p:nvSpPr>
        <p:spPr>
          <a:xfrm>
            <a:off x="3657600" y="3794760"/>
            <a:ext cx="224028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PDF Reports</a:t>
            </a:r>
            <a:endParaRPr lang="en-US" sz="1300" dirty="0"/>
          </a:p>
        </p:txBody>
      </p:sp>
      <p:sp>
        <p:nvSpPr>
          <p:cNvPr id="32" name="Text 25"/>
          <p:cNvSpPr/>
          <p:nvPr/>
        </p:nvSpPr>
        <p:spPr>
          <a:xfrm>
            <a:off x="3291840" y="4178808"/>
            <a:ext cx="2560320" cy="7132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Αυτόματη δημιουργία</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επαγγελματικών αναφορών</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με ReportLab</a:t>
            </a:r>
            <a:endParaRPr lang="en-US" sz="1050" dirty="0"/>
          </a:p>
        </p:txBody>
      </p:sp>
      <p:sp>
        <p:nvSpPr>
          <p:cNvPr id="33" name="Shape 26"/>
          <p:cNvSpPr/>
          <p:nvPr/>
        </p:nvSpPr>
        <p:spPr>
          <a:xfrm>
            <a:off x="6126480" y="3703320"/>
            <a:ext cx="2834640" cy="1280160"/>
          </a:xfrm>
          <a:prstGeom prst="rect">
            <a:avLst/>
          </a:prstGeom>
          <a:solidFill>
            <a:srgbClr val="0D1F3C"/>
          </a:solidFill>
          <a:ln w="19050">
            <a:solidFill>
              <a:srgbClr val="FFD700"/>
            </a:solidFill>
            <a:prstDash val="solid"/>
          </a:ln>
          <a:effectLst>
            <a:outerShdw sx="100000" sy="100000" kx="0" ky="0" algn="bl" rotWithShape="0" blurRad="127000" dist="38100" dir="8100000">
              <a:srgbClr val="000000">
                <a:alpha val="40000"/>
              </a:srgbClr>
            </a:outerShdw>
          </a:effectLst>
        </p:spPr>
      </p:sp>
      <p:sp>
        <p:nvSpPr>
          <p:cNvPr id="34" name="Shape 27"/>
          <p:cNvSpPr/>
          <p:nvPr/>
        </p:nvSpPr>
        <p:spPr>
          <a:xfrm>
            <a:off x="6126480" y="3703320"/>
            <a:ext cx="2834640" cy="64008"/>
          </a:xfrm>
          <a:prstGeom prst="rect">
            <a:avLst/>
          </a:prstGeom>
          <a:solidFill>
            <a:srgbClr val="FFD700"/>
          </a:solidFill>
          <a:ln/>
        </p:spPr>
      </p:sp>
      <p:pic>
        <p:nvPicPr>
          <p:cNvPr id="35" name="Image 5" descr="preencoded.png">    </p:cNvPr>
          <p:cNvPicPr>
            <a:picLocks noChangeAspect="1"/>
          </p:cNvPicPr>
          <p:nvPr/>
        </p:nvPicPr>
        <p:blipFill>
          <a:blip r:embed="rId6"/>
          <a:stretch>
            <a:fillRect/>
          </a:stretch>
        </p:blipFill>
        <p:spPr>
          <a:xfrm>
            <a:off x="6217920" y="3840480"/>
            <a:ext cx="320040" cy="320040"/>
          </a:xfrm>
          <a:prstGeom prst="rect">
            <a:avLst/>
          </a:prstGeom>
        </p:spPr>
      </p:pic>
      <p:sp>
        <p:nvSpPr>
          <p:cNvPr id="36" name="Text 28"/>
          <p:cNvSpPr/>
          <p:nvPr/>
        </p:nvSpPr>
        <p:spPr>
          <a:xfrm>
            <a:off x="6629400" y="3794760"/>
            <a:ext cx="2240280" cy="320040"/>
          </a:xfrm>
          <a:prstGeom prst="rect">
            <a:avLst/>
          </a:prstGeom>
          <a:noFill/>
          <a:ln/>
        </p:spPr>
        <p:txBody>
          <a:bodyPr wrap="square" lIns="0" tIns="0" rIns="0" bIns="0"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Safe &amp; Stable</a:t>
            </a:r>
            <a:endParaRPr lang="en-US" sz="1300" dirty="0"/>
          </a:p>
        </p:txBody>
      </p:sp>
      <p:sp>
        <p:nvSpPr>
          <p:cNvPr id="37" name="Text 29"/>
          <p:cNvSpPr/>
          <p:nvPr/>
        </p:nvSpPr>
        <p:spPr>
          <a:xfrm>
            <a:off x="6263640" y="4178808"/>
            <a:ext cx="2560320" cy="7132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Crash logs, faulthandler,</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thread dump, Windows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compat wrappers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7B2FBE"/>
            </a:solidFill>
            <a:prstDash val="solid"/>
          </a:ln>
        </p:spPr>
      </p:sp>
      <p:sp>
        <p:nvSpPr>
          <p:cNvPr id="3" name="Shape 1"/>
          <p:cNvSpPr/>
          <p:nvPr/>
        </p:nvSpPr>
        <p:spPr>
          <a:xfrm>
            <a:off x="0" y="0"/>
            <a:ext cx="73152" cy="822960"/>
          </a:xfrm>
          <a:prstGeom prst="rect">
            <a:avLst/>
          </a:prstGeom>
          <a:solidFill>
            <a:srgbClr val="7B2FBE"/>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02 — Αρχιτεκτονική Συστήματος</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7B2FBE"/>
                </a:solidFill>
                <a:latin typeface="Calibri" pitchFamily="34" charset="0"/>
                <a:ea typeface="Calibri" pitchFamily="34" charset="-122"/>
                <a:cs typeface="Calibri" pitchFamily="34" charset="-120"/>
              </a:rPr>
              <a:t>Δομή 15 Ενοτήτων</a:t>
            </a:r>
            <a:endParaRPr lang="en-US" sz="1100" dirty="0"/>
          </a:p>
        </p:txBody>
      </p:sp>
      <p:sp>
        <p:nvSpPr>
          <p:cNvPr id="6" name="Shape 4"/>
          <p:cNvSpPr/>
          <p:nvPr/>
        </p:nvSpPr>
        <p:spPr>
          <a:xfrm>
            <a:off x="3474720" y="1554480"/>
            <a:ext cx="2194560" cy="2194560"/>
          </a:xfrm>
          <a:prstGeom prst="ellipse">
            <a:avLst/>
          </a:prstGeom>
          <a:solidFill>
            <a:srgbClr val="7B2FBE">
              <a:alpha val="20000"/>
            </a:srgbClr>
          </a:solidFill>
          <a:ln w="25400">
            <a:solidFill>
              <a:srgbClr val="7B2FBE"/>
            </a:solidFill>
            <a:prstDash val="solid"/>
          </a:ln>
        </p:spPr>
      </p:sp>
      <p:pic>
        <p:nvPicPr>
          <p:cNvPr id="7" name="Image 0" descr="preencoded.png">    </p:cNvPr>
          <p:cNvPicPr>
            <a:picLocks noChangeAspect="1"/>
          </p:cNvPicPr>
          <p:nvPr/>
        </p:nvPicPr>
        <p:blipFill>
          <a:blip r:embed="rId1"/>
          <a:stretch>
            <a:fillRect/>
          </a:stretch>
        </p:blipFill>
        <p:spPr>
          <a:xfrm>
            <a:off x="3931920" y="1920240"/>
            <a:ext cx="1280160" cy="1280160"/>
          </a:xfrm>
          <a:prstGeom prst="rect">
            <a:avLst/>
          </a:prstGeom>
        </p:spPr>
      </p:pic>
      <p:sp>
        <p:nvSpPr>
          <p:cNvPr id="8" name="Text 5"/>
          <p:cNvSpPr/>
          <p:nvPr/>
        </p:nvSpPr>
        <p:spPr>
          <a:xfrm>
            <a:off x="3474720" y="3520440"/>
            <a:ext cx="2194560" cy="502920"/>
          </a:xfrm>
          <a:prstGeom prst="rect">
            <a:avLst/>
          </a:prstGeom>
          <a:noFill/>
          <a:ln/>
        </p:spPr>
        <p:txBody>
          <a:bodyPr wrap="square" lIns="0" tIns="0" rIns="0" bIns="0" rtlCol="0" anchor="ctr"/>
          <a:lstStyle/>
          <a:p>
            <a:pPr algn="ctr" indent="0" marL="0">
              <a:buNone/>
            </a:pPr>
            <a:r>
              <a:rPr lang="en-US" sz="900" b="1" dirty="0">
                <a:solidFill>
                  <a:srgbClr val="7B2FBE"/>
                </a:solidFill>
                <a:latin typeface="Consolas" pitchFamily="34" charset="0"/>
                <a:ea typeface="Consolas" pitchFamily="34" charset="-122"/>
                <a:cs typeface="Consolas" pitchFamily="34" charset="-120"/>
              </a:rPr>
              <a:t>YOLOProManager</a:t>
            </a:r>
            <a:endParaRPr lang="en-US" sz="900" dirty="0"/>
          </a:p>
          <a:p>
            <a:pPr algn="ctr" indent="0" marL="0">
              <a:buNone/>
            </a:pPr>
            <a:r>
              <a:rPr lang="en-US" sz="900" b="1" dirty="0">
                <a:solidFill>
                  <a:srgbClr val="7B2FBE"/>
                </a:solidFill>
                <a:latin typeface="Consolas" pitchFamily="34" charset="0"/>
                <a:ea typeface="Consolas" pitchFamily="34" charset="-122"/>
                <a:cs typeface="Consolas" pitchFamily="34" charset="-120"/>
              </a:rPr>
              <a:t>Kύριο Παράθυρο</a:t>
            </a:r>
            <a:endParaRPr lang="en-US" sz="900" dirty="0"/>
          </a:p>
        </p:txBody>
      </p:sp>
      <p:sp>
        <p:nvSpPr>
          <p:cNvPr id="9" name="Shape 6"/>
          <p:cNvSpPr/>
          <p:nvPr/>
        </p:nvSpPr>
        <p:spPr>
          <a:xfrm>
            <a:off x="137160" y="1280160"/>
            <a:ext cx="1737360" cy="749808"/>
          </a:xfrm>
          <a:prstGeom prst="rect">
            <a:avLst/>
          </a:prstGeom>
          <a:solidFill>
            <a:srgbClr val="0D1F3C"/>
          </a:solidFill>
          <a:ln w="19050">
            <a:solidFill>
              <a:srgbClr val="00D4FF"/>
            </a:solidFill>
            <a:prstDash val="solid"/>
          </a:ln>
        </p:spPr>
      </p:sp>
      <p:pic>
        <p:nvPicPr>
          <p:cNvPr id="10" name="Image 1" descr="preencoded.png">    </p:cNvPr>
          <p:cNvPicPr>
            <a:picLocks noChangeAspect="1"/>
          </p:cNvPicPr>
          <p:nvPr/>
        </p:nvPicPr>
        <p:blipFill>
          <a:blip r:embed="rId2"/>
          <a:stretch>
            <a:fillRect/>
          </a:stretch>
        </p:blipFill>
        <p:spPr>
          <a:xfrm>
            <a:off x="182880" y="1444752"/>
            <a:ext cx="320040" cy="320040"/>
          </a:xfrm>
          <a:prstGeom prst="rect">
            <a:avLst/>
          </a:prstGeom>
        </p:spPr>
      </p:pic>
      <p:sp>
        <p:nvSpPr>
          <p:cNvPr id="11" name="Text 7"/>
          <p:cNvSpPr/>
          <p:nvPr/>
        </p:nvSpPr>
        <p:spPr>
          <a:xfrm>
            <a:off x="548640" y="132588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Logging &amp;</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Crash Logs</a:t>
            </a:r>
            <a:endParaRPr lang="en-US" sz="900" dirty="0"/>
          </a:p>
        </p:txBody>
      </p:sp>
      <p:sp>
        <p:nvSpPr>
          <p:cNvPr id="12" name="Shape 8"/>
          <p:cNvSpPr/>
          <p:nvPr/>
        </p:nvSpPr>
        <p:spPr>
          <a:xfrm>
            <a:off x="137160" y="2834640"/>
            <a:ext cx="1737360" cy="749808"/>
          </a:xfrm>
          <a:prstGeom prst="rect">
            <a:avLst/>
          </a:prstGeom>
          <a:solidFill>
            <a:srgbClr val="0D1F3C"/>
          </a:solidFill>
          <a:ln w="19050">
            <a:solidFill>
              <a:srgbClr val="00FF9D"/>
            </a:solidFill>
            <a:prstDash val="solid"/>
          </a:ln>
        </p:spPr>
      </p:sp>
      <p:pic>
        <p:nvPicPr>
          <p:cNvPr id="13" name="Image 2" descr="preencoded.png">    </p:cNvPr>
          <p:cNvPicPr>
            <a:picLocks noChangeAspect="1"/>
          </p:cNvPicPr>
          <p:nvPr/>
        </p:nvPicPr>
        <p:blipFill>
          <a:blip r:embed="rId3"/>
          <a:stretch>
            <a:fillRect/>
          </a:stretch>
        </p:blipFill>
        <p:spPr>
          <a:xfrm>
            <a:off x="182880" y="2999232"/>
            <a:ext cx="320040" cy="320040"/>
          </a:xfrm>
          <a:prstGeom prst="rect">
            <a:avLst/>
          </a:prstGeom>
        </p:spPr>
      </p:pic>
      <p:sp>
        <p:nvSpPr>
          <p:cNvPr id="14" name="Text 9"/>
          <p:cNvSpPr/>
          <p:nvPr/>
        </p:nvSpPr>
        <p:spPr>
          <a:xfrm>
            <a:off x="548640" y="288036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Runner /</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Subprocess</a:t>
            </a:r>
            <a:endParaRPr lang="en-US" sz="900" dirty="0"/>
          </a:p>
        </p:txBody>
      </p:sp>
      <p:sp>
        <p:nvSpPr>
          <p:cNvPr id="15" name="Shape 10"/>
          <p:cNvSpPr/>
          <p:nvPr/>
        </p:nvSpPr>
        <p:spPr>
          <a:xfrm>
            <a:off x="1371600" y="868680"/>
            <a:ext cx="1737360" cy="749808"/>
          </a:xfrm>
          <a:prstGeom prst="rect">
            <a:avLst/>
          </a:prstGeom>
          <a:solidFill>
            <a:srgbClr val="0D1F3C"/>
          </a:solidFill>
          <a:ln w="19050">
            <a:solidFill>
              <a:srgbClr val="FF6B35"/>
            </a:solidFill>
            <a:prstDash val="solid"/>
          </a:ln>
        </p:spPr>
      </p:sp>
      <p:pic>
        <p:nvPicPr>
          <p:cNvPr id="16" name="Image 3" descr="preencoded.png">    </p:cNvPr>
          <p:cNvPicPr>
            <a:picLocks noChangeAspect="1"/>
          </p:cNvPicPr>
          <p:nvPr/>
        </p:nvPicPr>
        <p:blipFill>
          <a:blip r:embed="rId4"/>
          <a:stretch>
            <a:fillRect/>
          </a:stretch>
        </p:blipFill>
        <p:spPr>
          <a:xfrm>
            <a:off x="1417320" y="1033272"/>
            <a:ext cx="320040" cy="320040"/>
          </a:xfrm>
          <a:prstGeom prst="rect">
            <a:avLst/>
          </a:prstGeom>
        </p:spPr>
      </p:pic>
      <p:sp>
        <p:nvSpPr>
          <p:cNvPr id="17" name="Text 11"/>
          <p:cNvSpPr/>
          <p:nvPr/>
        </p:nvSpPr>
        <p:spPr>
          <a:xfrm>
            <a:off x="1783080" y="91440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Export</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ONNX/TRT/NCNN</a:t>
            </a:r>
            <a:endParaRPr lang="en-US" sz="900" dirty="0"/>
          </a:p>
        </p:txBody>
      </p:sp>
      <p:sp>
        <p:nvSpPr>
          <p:cNvPr id="18" name="Shape 12"/>
          <p:cNvSpPr/>
          <p:nvPr/>
        </p:nvSpPr>
        <p:spPr>
          <a:xfrm>
            <a:off x="6583680" y="868680"/>
            <a:ext cx="1737360" cy="749808"/>
          </a:xfrm>
          <a:prstGeom prst="rect">
            <a:avLst/>
          </a:prstGeom>
          <a:solidFill>
            <a:srgbClr val="0D1F3C"/>
          </a:solidFill>
          <a:ln w="19050">
            <a:solidFill>
              <a:srgbClr val="FF2D78"/>
            </a:solidFill>
            <a:prstDash val="solid"/>
          </a:ln>
        </p:spPr>
      </p:sp>
      <p:pic>
        <p:nvPicPr>
          <p:cNvPr id="19" name="Image 4" descr="preencoded.png">    </p:cNvPr>
          <p:cNvPicPr>
            <a:picLocks noChangeAspect="1"/>
          </p:cNvPicPr>
          <p:nvPr/>
        </p:nvPicPr>
        <p:blipFill>
          <a:blip r:embed="rId5"/>
          <a:stretch>
            <a:fillRect/>
          </a:stretch>
        </p:blipFill>
        <p:spPr>
          <a:xfrm>
            <a:off x="6629400" y="1033272"/>
            <a:ext cx="320040" cy="320040"/>
          </a:xfrm>
          <a:prstGeom prst="rect">
            <a:avLst/>
          </a:prstGeom>
        </p:spPr>
      </p:pic>
      <p:sp>
        <p:nvSpPr>
          <p:cNvPr id="20" name="Text 13"/>
          <p:cNvSpPr/>
          <p:nvPr/>
        </p:nvSpPr>
        <p:spPr>
          <a:xfrm>
            <a:off x="6995160" y="91440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PDF Reports</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ReportLab</a:t>
            </a:r>
            <a:endParaRPr lang="en-US" sz="900" dirty="0"/>
          </a:p>
        </p:txBody>
      </p:sp>
      <p:sp>
        <p:nvSpPr>
          <p:cNvPr id="21" name="Shape 14"/>
          <p:cNvSpPr/>
          <p:nvPr/>
        </p:nvSpPr>
        <p:spPr>
          <a:xfrm>
            <a:off x="6583680" y="2834640"/>
            <a:ext cx="1737360" cy="749808"/>
          </a:xfrm>
          <a:prstGeom prst="rect">
            <a:avLst/>
          </a:prstGeom>
          <a:solidFill>
            <a:srgbClr val="0D1F3C"/>
          </a:solidFill>
          <a:ln w="19050">
            <a:solidFill>
              <a:srgbClr val="FFD700"/>
            </a:solidFill>
            <a:prstDash val="solid"/>
          </a:ln>
        </p:spPr>
      </p:sp>
      <p:pic>
        <p:nvPicPr>
          <p:cNvPr id="22" name="Image 5" descr="preencoded.png">    </p:cNvPr>
          <p:cNvPicPr>
            <a:picLocks noChangeAspect="1"/>
          </p:cNvPicPr>
          <p:nvPr/>
        </p:nvPicPr>
        <p:blipFill>
          <a:blip r:embed="rId6"/>
          <a:stretch>
            <a:fillRect/>
          </a:stretch>
        </p:blipFill>
        <p:spPr>
          <a:xfrm>
            <a:off x="6629400" y="2999232"/>
            <a:ext cx="320040" cy="320040"/>
          </a:xfrm>
          <a:prstGeom prst="rect">
            <a:avLst/>
          </a:prstGeom>
        </p:spPr>
      </p:pic>
      <p:sp>
        <p:nvSpPr>
          <p:cNvPr id="23" name="Text 15"/>
          <p:cNvSpPr/>
          <p:nvPr/>
        </p:nvSpPr>
        <p:spPr>
          <a:xfrm>
            <a:off x="6995160" y="288036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TensorRT Cache</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Manager</a:t>
            </a:r>
            <a:endParaRPr lang="en-US" sz="900" dirty="0"/>
          </a:p>
        </p:txBody>
      </p:sp>
      <p:sp>
        <p:nvSpPr>
          <p:cNvPr id="24" name="Shape 16"/>
          <p:cNvSpPr/>
          <p:nvPr/>
        </p:nvSpPr>
        <p:spPr>
          <a:xfrm>
            <a:off x="6583680" y="4023360"/>
            <a:ext cx="1737360" cy="749808"/>
          </a:xfrm>
          <a:prstGeom prst="rect">
            <a:avLst/>
          </a:prstGeom>
          <a:solidFill>
            <a:srgbClr val="0D1F3C"/>
          </a:solidFill>
          <a:ln w="19050">
            <a:solidFill>
              <a:srgbClr val="00D4FF"/>
            </a:solidFill>
            <a:prstDash val="solid"/>
          </a:ln>
        </p:spPr>
      </p:sp>
      <p:pic>
        <p:nvPicPr>
          <p:cNvPr id="25" name="Image 6" descr="preencoded.png">    </p:cNvPr>
          <p:cNvPicPr>
            <a:picLocks noChangeAspect="1"/>
          </p:cNvPicPr>
          <p:nvPr/>
        </p:nvPicPr>
        <p:blipFill>
          <a:blip r:embed="rId7"/>
          <a:stretch>
            <a:fillRect/>
          </a:stretch>
        </p:blipFill>
        <p:spPr>
          <a:xfrm>
            <a:off x="6629400" y="4187952"/>
            <a:ext cx="320040" cy="320040"/>
          </a:xfrm>
          <a:prstGeom prst="rect">
            <a:avLst/>
          </a:prstGeom>
        </p:spPr>
      </p:pic>
      <p:sp>
        <p:nvSpPr>
          <p:cNvPr id="26" name="Text 17"/>
          <p:cNvSpPr/>
          <p:nvPr/>
        </p:nvSpPr>
        <p:spPr>
          <a:xfrm>
            <a:off x="6995160" y="406908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Windows</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Wrappers</a:t>
            </a:r>
            <a:endParaRPr lang="en-US" sz="900" dirty="0"/>
          </a:p>
        </p:txBody>
      </p:sp>
      <p:sp>
        <p:nvSpPr>
          <p:cNvPr id="27" name="Shape 18"/>
          <p:cNvSpPr/>
          <p:nvPr/>
        </p:nvSpPr>
        <p:spPr>
          <a:xfrm>
            <a:off x="3200400" y="4526280"/>
            <a:ext cx="1737360" cy="749808"/>
          </a:xfrm>
          <a:prstGeom prst="rect">
            <a:avLst/>
          </a:prstGeom>
          <a:solidFill>
            <a:srgbClr val="0D1F3C"/>
          </a:solidFill>
          <a:ln w="19050">
            <a:solidFill>
              <a:srgbClr val="7B2FBE"/>
            </a:solidFill>
            <a:prstDash val="solid"/>
          </a:ln>
        </p:spPr>
      </p:sp>
      <p:pic>
        <p:nvPicPr>
          <p:cNvPr id="28" name="Image 7" descr="preencoded.png">    </p:cNvPr>
          <p:cNvPicPr>
            <a:picLocks noChangeAspect="1"/>
          </p:cNvPicPr>
          <p:nvPr/>
        </p:nvPicPr>
        <p:blipFill>
          <a:blip r:embed="rId8"/>
          <a:stretch>
            <a:fillRect/>
          </a:stretch>
        </p:blipFill>
        <p:spPr>
          <a:xfrm>
            <a:off x="3246120" y="4690872"/>
            <a:ext cx="320040" cy="320040"/>
          </a:xfrm>
          <a:prstGeom prst="rect">
            <a:avLst/>
          </a:prstGeom>
        </p:spPr>
      </p:pic>
      <p:sp>
        <p:nvSpPr>
          <p:cNvPr id="29" name="Text 19"/>
          <p:cNvSpPr/>
          <p:nvPr/>
        </p:nvSpPr>
        <p:spPr>
          <a:xfrm>
            <a:off x="3611880" y="457200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CNN Helpers &amp;</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Workers</a:t>
            </a:r>
            <a:endParaRPr lang="en-US" sz="900" dirty="0"/>
          </a:p>
        </p:txBody>
      </p:sp>
      <p:sp>
        <p:nvSpPr>
          <p:cNvPr id="30" name="Shape 20"/>
          <p:cNvSpPr/>
          <p:nvPr/>
        </p:nvSpPr>
        <p:spPr>
          <a:xfrm>
            <a:off x="5029200" y="4526280"/>
            <a:ext cx="1737360" cy="749808"/>
          </a:xfrm>
          <a:prstGeom prst="rect">
            <a:avLst/>
          </a:prstGeom>
          <a:solidFill>
            <a:srgbClr val="0D1F3C"/>
          </a:solidFill>
          <a:ln w="19050">
            <a:solidFill>
              <a:srgbClr val="00FF9D"/>
            </a:solidFill>
            <a:prstDash val="solid"/>
          </a:ln>
        </p:spPr>
      </p:sp>
      <p:pic>
        <p:nvPicPr>
          <p:cNvPr id="31" name="Image 8" descr="preencoded.png">    </p:cNvPr>
          <p:cNvPicPr>
            <a:picLocks noChangeAspect="1"/>
          </p:cNvPicPr>
          <p:nvPr/>
        </p:nvPicPr>
        <p:blipFill>
          <a:blip r:embed="rId9"/>
          <a:stretch>
            <a:fillRect/>
          </a:stretch>
        </p:blipFill>
        <p:spPr>
          <a:xfrm>
            <a:off x="5074920" y="4690872"/>
            <a:ext cx="320040" cy="320040"/>
          </a:xfrm>
          <a:prstGeom prst="rect">
            <a:avLst/>
          </a:prstGeom>
        </p:spPr>
      </p:pic>
      <p:sp>
        <p:nvSpPr>
          <p:cNvPr id="32" name="Text 21"/>
          <p:cNvSpPr/>
          <p:nvPr/>
        </p:nvSpPr>
        <p:spPr>
          <a:xfrm>
            <a:off x="5440680" y="457200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Camera &amp;</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OpenCV Utils</a:t>
            </a:r>
            <a:endParaRPr lang="en-US" sz="900" dirty="0"/>
          </a:p>
        </p:txBody>
      </p:sp>
      <p:sp>
        <p:nvSpPr>
          <p:cNvPr id="33" name="Shape 22"/>
          <p:cNvSpPr/>
          <p:nvPr/>
        </p:nvSpPr>
        <p:spPr>
          <a:xfrm>
            <a:off x="1371600" y="4023360"/>
            <a:ext cx="1737360" cy="749808"/>
          </a:xfrm>
          <a:prstGeom prst="rect">
            <a:avLst/>
          </a:prstGeom>
          <a:solidFill>
            <a:srgbClr val="0D1F3C"/>
          </a:solidFill>
          <a:ln w="19050">
            <a:solidFill>
              <a:srgbClr val="FF6B35"/>
            </a:solidFill>
            <a:prstDash val="solid"/>
          </a:ln>
        </p:spPr>
      </p:sp>
      <p:pic>
        <p:nvPicPr>
          <p:cNvPr id="34" name="Image 9" descr="preencoded.png">    </p:cNvPr>
          <p:cNvPicPr>
            <a:picLocks noChangeAspect="1"/>
          </p:cNvPicPr>
          <p:nvPr/>
        </p:nvPicPr>
        <p:blipFill>
          <a:blip r:embed="rId10"/>
          <a:stretch>
            <a:fillRect/>
          </a:stretch>
        </p:blipFill>
        <p:spPr>
          <a:xfrm>
            <a:off x="1417320" y="4187952"/>
            <a:ext cx="320040" cy="320040"/>
          </a:xfrm>
          <a:prstGeom prst="rect">
            <a:avLst/>
          </a:prstGeom>
        </p:spPr>
      </p:pic>
      <p:sp>
        <p:nvSpPr>
          <p:cNvPr id="35" name="Text 23"/>
          <p:cNvSpPr/>
          <p:nvPr/>
        </p:nvSpPr>
        <p:spPr>
          <a:xfrm>
            <a:off x="1783080" y="4069080"/>
            <a:ext cx="1280160" cy="6583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Diagnostics</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Utilities</a:t>
            </a:r>
            <a:endParaRPr lang="en-US" sz="900" dirty="0"/>
          </a:p>
        </p:txBody>
      </p:sp>
      <p:sp>
        <p:nvSpPr>
          <p:cNvPr id="36" name="Shape 24"/>
          <p:cNvSpPr/>
          <p:nvPr/>
        </p:nvSpPr>
        <p:spPr>
          <a:xfrm>
            <a:off x="960120" y="2011680"/>
            <a:ext cx="2167128" cy="192024"/>
          </a:xfrm>
          <a:prstGeom prst="line">
            <a:avLst/>
          </a:prstGeom>
          <a:noFill/>
          <a:ln w="12700">
            <a:solidFill>
              <a:srgbClr val="1A3A6A"/>
            </a:solidFill>
            <a:prstDash val="dash"/>
          </a:ln>
        </p:spPr>
      </p:sp>
      <p:sp>
        <p:nvSpPr>
          <p:cNvPr id="37" name="Shape 25"/>
          <p:cNvSpPr/>
          <p:nvPr/>
        </p:nvSpPr>
        <p:spPr>
          <a:xfrm>
            <a:off x="960120" y="2651760"/>
            <a:ext cx="2167128" cy="164592"/>
          </a:xfrm>
          <a:prstGeom prst="line">
            <a:avLst/>
          </a:prstGeom>
          <a:noFill/>
          <a:ln w="12700">
            <a:solidFill>
              <a:srgbClr val="1A3A6A"/>
            </a:solidFill>
            <a:prstDash val="dash"/>
          </a:ln>
        </p:spPr>
      </p:sp>
      <p:sp>
        <p:nvSpPr>
          <p:cNvPr id="38" name="Shape 26"/>
          <p:cNvSpPr/>
          <p:nvPr/>
        </p:nvSpPr>
        <p:spPr>
          <a:xfrm>
            <a:off x="2240280" y="1243584"/>
            <a:ext cx="1399032" cy="422453"/>
          </a:xfrm>
          <a:prstGeom prst="line">
            <a:avLst/>
          </a:prstGeom>
          <a:noFill/>
          <a:ln w="12700">
            <a:solidFill>
              <a:srgbClr val="1A3A6A"/>
            </a:solidFill>
            <a:prstDash val="dash"/>
          </a:ln>
        </p:spPr>
      </p:sp>
      <p:sp>
        <p:nvSpPr>
          <p:cNvPr id="39" name="Shape 27"/>
          <p:cNvSpPr/>
          <p:nvPr/>
        </p:nvSpPr>
        <p:spPr>
          <a:xfrm>
            <a:off x="2240280" y="1243584"/>
            <a:ext cx="1399032" cy="422453"/>
          </a:xfrm>
          <a:prstGeom prst="line">
            <a:avLst/>
          </a:prstGeom>
          <a:noFill/>
          <a:ln w="12700">
            <a:solidFill>
              <a:srgbClr val="1A3A6A"/>
            </a:solidFill>
            <a:prstDash val="dash"/>
          </a:ln>
        </p:spPr>
      </p:sp>
      <p:sp>
        <p:nvSpPr>
          <p:cNvPr id="40" name="Shape 28"/>
          <p:cNvSpPr/>
          <p:nvPr/>
        </p:nvSpPr>
        <p:spPr>
          <a:xfrm>
            <a:off x="3474720" y="2651760"/>
            <a:ext cx="658368" cy="674827"/>
          </a:xfrm>
          <a:prstGeom prst="line">
            <a:avLst/>
          </a:prstGeom>
          <a:noFill/>
          <a:ln w="12700">
            <a:solidFill>
              <a:srgbClr val="1A3A6A"/>
            </a:solidFill>
            <a:prstDash val="dash"/>
          </a:ln>
        </p:spPr>
      </p:sp>
      <p:sp>
        <p:nvSpPr>
          <p:cNvPr id="41" name="Shape 29"/>
          <p:cNvSpPr/>
          <p:nvPr/>
        </p:nvSpPr>
        <p:spPr>
          <a:xfrm>
            <a:off x="4572000" y="2651760"/>
            <a:ext cx="493776" cy="674827"/>
          </a:xfrm>
          <a:prstGeom prst="line">
            <a:avLst/>
          </a:prstGeom>
          <a:noFill/>
          <a:ln w="12700">
            <a:solidFill>
              <a:srgbClr val="1A3A6A"/>
            </a:solidFill>
            <a:prstDash val="dash"/>
          </a:ln>
        </p:spPr>
      </p:sp>
      <p:sp>
        <p:nvSpPr>
          <p:cNvPr id="42" name="Shape 30"/>
          <p:cNvSpPr/>
          <p:nvPr/>
        </p:nvSpPr>
        <p:spPr>
          <a:xfrm>
            <a:off x="2240280" y="2651760"/>
            <a:ext cx="1399032" cy="521208"/>
          </a:xfrm>
          <a:prstGeom prst="line">
            <a:avLst/>
          </a:prstGeom>
          <a:noFill/>
          <a:ln w="12700">
            <a:solidFill>
              <a:srgbClr val="1A3A6A"/>
            </a:solidFill>
            <a:prstDash val="dash"/>
          </a:ln>
        </p:spPr>
      </p:sp>
      <p:sp>
        <p:nvSpPr>
          <p:cNvPr id="43" name="Shape 31"/>
          <p:cNvSpPr/>
          <p:nvPr/>
        </p:nvSpPr>
        <p:spPr>
          <a:xfrm>
            <a:off x="4572000" y="1243584"/>
            <a:ext cx="1207008" cy="422453"/>
          </a:xfrm>
          <a:prstGeom prst="line">
            <a:avLst/>
          </a:prstGeom>
          <a:noFill/>
          <a:ln w="12700">
            <a:solidFill>
              <a:srgbClr val="1A3A6A"/>
            </a:solidFill>
            <a:prstDash val="dash"/>
          </a:ln>
        </p:spPr>
      </p:sp>
      <p:sp>
        <p:nvSpPr>
          <p:cNvPr id="44" name="Shape 32"/>
          <p:cNvSpPr/>
          <p:nvPr/>
        </p:nvSpPr>
        <p:spPr>
          <a:xfrm>
            <a:off x="4572000" y="2651760"/>
            <a:ext cx="1207008" cy="164592"/>
          </a:xfrm>
          <a:prstGeom prst="line">
            <a:avLst/>
          </a:prstGeom>
          <a:noFill/>
          <a:ln w="12700">
            <a:solidFill>
              <a:srgbClr val="1A3A6A"/>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FF9D"/>
            </a:solidFill>
            <a:prstDash val="solid"/>
          </a:ln>
        </p:spPr>
      </p:sp>
      <p:sp>
        <p:nvSpPr>
          <p:cNvPr id="3" name="Shape 1"/>
          <p:cNvSpPr/>
          <p:nvPr/>
        </p:nvSpPr>
        <p:spPr>
          <a:xfrm>
            <a:off x="0" y="0"/>
            <a:ext cx="73152" cy="822960"/>
          </a:xfrm>
          <a:prstGeom prst="rect">
            <a:avLst/>
          </a:prstGeom>
          <a:solidFill>
            <a:srgbClr val="00FF9D"/>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03 — Τεχνική Στοίβα &amp; Εγκατάσταση</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FF9D"/>
                </a:solidFill>
                <a:latin typeface="Calibri" pitchFamily="34" charset="0"/>
                <a:ea typeface="Calibri" pitchFamily="34" charset="-122"/>
                <a:cs typeface="Calibri" pitchFamily="34" charset="-120"/>
              </a:rPr>
              <a:t>Python 3.12 Ecosystem</a:t>
            </a:r>
            <a:endParaRPr lang="en-US" sz="1100" dirty="0"/>
          </a:p>
        </p:txBody>
      </p:sp>
      <p:sp>
        <p:nvSpPr>
          <p:cNvPr id="6" name="Text 4"/>
          <p:cNvSpPr/>
          <p:nvPr/>
        </p:nvSpPr>
        <p:spPr>
          <a:xfrm>
            <a:off x="274320" y="914400"/>
            <a:ext cx="4114800" cy="365760"/>
          </a:xfrm>
          <a:prstGeom prst="rect">
            <a:avLst/>
          </a:prstGeom>
          <a:noFill/>
          <a:ln/>
        </p:spPr>
        <p:txBody>
          <a:bodyPr wrap="square" lIns="0" tIns="0" rIns="0" bIns="0" rtlCol="0" anchor="ctr"/>
          <a:lstStyle/>
          <a:p>
            <a:pPr indent="0" marL="0">
              <a:buNone/>
            </a:pPr>
            <a:r>
              <a:rPr lang="en-US" sz="1500" b="1" dirty="0">
                <a:solidFill>
                  <a:srgbClr val="00FF9D"/>
                </a:solidFill>
                <a:latin typeface="Calibri" pitchFamily="34" charset="0"/>
                <a:ea typeface="Calibri" pitchFamily="34" charset="-122"/>
                <a:cs typeface="Calibri" pitchFamily="34" charset="-120"/>
              </a:rPr>
              <a:t>Βασικές Βιβλιοθήκες</a:t>
            </a:r>
            <a:endParaRPr lang="en-US" sz="1500" dirty="0"/>
          </a:p>
        </p:txBody>
      </p:sp>
      <p:sp>
        <p:nvSpPr>
          <p:cNvPr id="7" name="Shape 5"/>
          <p:cNvSpPr/>
          <p:nvPr/>
        </p:nvSpPr>
        <p:spPr>
          <a:xfrm>
            <a:off x="182880" y="1417320"/>
            <a:ext cx="4206240" cy="384048"/>
          </a:xfrm>
          <a:prstGeom prst="rect">
            <a:avLst/>
          </a:prstGeom>
          <a:solidFill>
            <a:srgbClr val="0D1F3C"/>
          </a:solidFill>
          <a:ln w="12700">
            <a:solidFill>
              <a:srgbClr val="00D4FF"/>
            </a:solidFill>
            <a:prstDash val="solid"/>
          </a:ln>
        </p:spPr>
      </p:sp>
      <p:sp>
        <p:nvSpPr>
          <p:cNvPr id="8" name="Shape 6"/>
          <p:cNvSpPr/>
          <p:nvPr/>
        </p:nvSpPr>
        <p:spPr>
          <a:xfrm>
            <a:off x="182880" y="1417320"/>
            <a:ext cx="54864" cy="384048"/>
          </a:xfrm>
          <a:prstGeom prst="rect">
            <a:avLst/>
          </a:prstGeom>
          <a:solidFill>
            <a:srgbClr val="00D4FF"/>
          </a:solidFill>
          <a:ln/>
        </p:spPr>
      </p:sp>
      <p:sp>
        <p:nvSpPr>
          <p:cNvPr id="9" name="Text 7"/>
          <p:cNvSpPr/>
          <p:nvPr/>
        </p:nvSpPr>
        <p:spPr>
          <a:xfrm>
            <a:off x="320040" y="1426464"/>
            <a:ext cx="1417320" cy="182880"/>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torch + torchvision</a:t>
            </a:r>
            <a:endParaRPr lang="en-US" sz="1000" dirty="0"/>
          </a:p>
        </p:txBody>
      </p:sp>
      <p:sp>
        <p:nvSpPr>
          <p:cNvPr id="10" name="Text 8"/>
          <p:cNvSpPr/>
          <p:nvPr/>
        </p:nvSpPr>
        <p:spPr>
          <a:xfrm>
            <a:off x="320040" y="1609344"/>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Εκπαίδευση &amp; inference νευρωνικών δικτύων</a:t>
            </a:r>
            <a:endParaRPr lang="en-US" sz="850" dirty="0"/>
          </a:p>
          <a:p>
            <a:pPr indent="0" marL="0">
              <a:buNone/>
            </a:pPr>
            <a:r>
              <a:rPr lang="en-US" sz="850" dirty="0">
                <a:solidFill>
                  <a:srgbClr val="8899BB"/>
                </a:solidFill>
                <a:latin typeface="Calibri" pitchFamily="34" charset="0"/>
                <a:ea typeface="Calibri" pitchFamily="34" charset="-122"/>
                <a:cs typeface="Calibri" pitchFamily="34" charset="-120"/>
              </a:rPr>
              <a:t>(CUDA 12.x ή CPU fallback)</a:t>
            </a:r>
            <a:endParaRPr lang="en-US" sz="850" dirty="0"/>
          </a:p>
        </p:txBody>
      </p:sp>
      <p:sp>
        <p:nvSpPr>
          <p:cNvPr id="11" name="Shape 9"/>
          <p:cNvSpPr/>
          <p:nvPr/>
        </p:nvSpPr>
        <p:spPr>
          <a:xfrm>
            <a:off x="182880" y="1856232"/>
            <a:ext cx="4206240" cy="384048"/>
          </a:xfrm>
          <a:prstGeom prst="rect">
            <a:avLst/>
          </a:prstGeom>
          <a:solidFill>
            <a:srgbClr val="0D1F3C"/>
          </a:solidFill>
          <a:ln w="12700">
            <a:solidFill>
              <a:srgbClr val="7B2FBE"/>
            </a:solidFill>
            <a:prstDash val="solid"/>
          </a:ln>
        </p:spPr>
      </p:sp>
      <p:sp>
        <p:nvSpPr>
          <p:cNvPr id="12" name="Shape 10"/>
          <p:cNvSpPr/>
          <p:nvPr/>
        </p:nvSpPr>
        <p:spPr>
          <a:xfrm>
            <a:off x="182880" y="1856232"/>
            <a:ext cx="54864" cy="384048"/>
          </a:xfrm>
          <a:prstGeom prst="rect">
            <a:avLst/>
          </a:prstGeom>
          <a:solidFill>
            <a:srgbClr val="7B2FBE"/>
          </a:solidFill>
          <a:ln/>
        </p:spPr>
      </p:sp>
      <p:sp>
        <p:nvSpPr>
          <p:cNvPr id="13" name="Text 11"/>
          <p:cNvSpPr/>
          <p:nvPr/>
        </p:nvSpPr>
        <p:spPr>
          <a:xfrm>
            <a:off x="320040" y="1865376"/>
            <a:ext cx="1417320" cy="182880"/>
          </a:xfrm>
          <a:prstGeom prst="rect">
            <a:avLst/>
          </a:prstGeom>
          <a:noFill/>
          <a:ln/>
        </p:spPr>
        <p:txBody>
          <a:bodyPr wrap="square" lIns="0" tIns="0" rIns="0" bIns="0" rtlCol="0" anchor="ctr"/>
          <a:lstStyle/>
          <a:p>
            <a:pPr indent="0" marL="0">
              <a:buNone/>
            </a:pPr>
            <a:r>
              <a:rPr lang="en-US" sz="1000" b="1" dirty="0">
                <a:solidFill>
                  <a:srgbClr val="7B2FBE"/>
                </a:solidFill>
                <a:latin typeface="Consolas" pitchFamily="34" charset="0"/>
                <a:ea typeface="Consolas" pitchFamily="34" charset="-122"/>
                <a:cs typeface="Consolas" pitchFamily="34" charset="-120"/>
              </a:rPr>
              <a:t>ultralytics</a:t>
            </a:r>
            <a:endParaRPr lang="en-US" sz="1000" dirty="0"/>
          </a:p>
        </p:txBody>
      </p:sp>
      <p:sp>
        <p:nvSpPr>
          <p:cNvPr id="14" name="Text 12"/>
          <p:cNvSpPr/>
          <p:nvPr/>
        </p:nvSpPr>
        <p:spPr>
          <a:xfrm>
            <a:off x="320040" y="2048256"/>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YOLO v5–v12 training, export &amp; inference</a:t>
            </a:r>
            <a:endParaRPr lang="en-US" sz="850" dirty="0"/>
          </a:p>
        </p:txBody>
      </p:sp>
      <p:sp>
        <p:nvSpPr>
          <p:cNvPr id="15" name="Shape 13"/>
          <p:cNvSpPr/>
          <p:nvPr/>
        </p:nvSpPr>
        <p:spPr>
          <a:xfrm>
            <a:off x="182880" y="2295144"/>
            <a:ext cx="4206240" cy="384048"/>
          </a:xfrm>
          <a:prstGeom prst="rect">
            <a:avLst/>
          </a:prstGeom>
          <a:solidFill>
            <a:srgbClr val="0D1F3C"/>
          </a:solidFill>
          <a:ln w="12700">
            <a:solidFill>
              <a:srgbClr val="00FF9D"/>
            </a:solidFill>
            <a:prstDash val="solid"/>
          </a:ln>
        </p:spPr>
      </p:sp>
      <p:sp>
        <p:nvSpPr>
          <p:cNvPr id="16" name="Shape 14"/>
          <p:cNvSpPr/>
          <p:nvPr/>
        </p:nvSpPr>
        <p:spPr>
          <a:xfrm>
            <a:off x="182880" y="2295144"/>
            <a:ext cx="54864" cy="384048"/>
          </a:xfrm>
          <a:prstGeom prst="rect">
            <a:avLst/>
          </a:prstGeom>
          <a:solidFill>
            <a:srgbClr val="00FF9D"/>
          </a:solidFill>
          <a:ln/>
        </p:spPr>
      </p:sp>
      <p:sp>
        <p:nvSpPr>
          <p:cNvPr id="17" name="Text 15"/>
          <p:cNvSpPr/>
          <p:nvPr/>
        </p:nvSpPr>
        <p:spPr>
          <a:xfrm>
            <a:off x="320040" y="2304288"/>
            <a:ext cx="1417320" cy="182880"/>
          </a:xfrm>
          <a:prstGeom prst="rect">
            <a:avLst/>
          </a:prstGeom>
          <a:noFill/>
          <a:ln/>
        </p:spPr>
        <p:txBody>
          <a:bodyPr wrap="square" lIns="0" tIns="0" rIns="0" bIns="0" rtlCol="0" anchor="ctr"/>
          <a:lstStyle/>
          <a:p>
            <a:pPr indent="0" marL="0">
              <a:buNone/>
            </a:pPr>
            <a:r>
              <a:rPr lang="en-US" sz="1000" b="1" dirty="0">
                <a:solidFill>
                  <a:srgbClr val="00FF9D"/>
                </a:solidFill>
                <a:latin typeface="Consolas" pitchFamily="34" charset="0"/>
                <a:ea typeface="Consolas" pitchFamily="34" charset="-122"/>
                <a:cs typeface="Consolas" pitchFamily="34" charset="-120"/>
              </a:rPr>
              <a:t>opencv-python</a:t>
            </a:r>
            <a:endParaRPr lang="en-US" sz="1000" dirty="0"/>
          </a:p>
        </p:txBody>
      </p:sp>
      <p:sp>
        <p:nvSpPr>
          <p:cNvPr id="18" name="Text 16"/>
          <p:cNvSpPr/>
          <p:nvPr/>
        </p:nvSpPr>
        <p:spPr>
          <a:xfrm>
            <a:off x="320040" y="2487168"/>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Video/camera capture, frame processing</a:t>
            </a:r>
            <a:endParaRPr lang="en-US" sz="850" dirty="0"/>
          </a:p>
        </p:txBody>
      </p:sp>
      <p:sp>
        <p:nvSpPr>
          <p:cNvPr id="19" name="Shape 17"/>
          <p:cNvSpPr/>
          <p:nvPr/>
        </p:nvSpPr>
        <p:spPr>
          <a:xfrm>
            <a:off x="182880" y="2734056"/>
            <a:ext cx="4206240" cy="384048"/>
          </a:xfrm>
          <a:prstGeom prst="rect">
            <a:avLst/>
          </a:prstGeom>
          <a:solidFill>
            <a:srgbClr val="0D1F3C"/>
          </a:solidFill>
          <a:ln w="12700">
            <a:solidFill>
              <a:srgbClr val="FF6B35"/>
            </a:solidFill>
            <a:prstDash val="solid"/>
          </a:ln>
        </p:spPr>
      </p:sp>
      <p:sp>
        <p:nvSpPr>
          <p:cNvPr id="20" name="Shape 18"/>
          <p:cNvSpPr/>
          <p:nvPr/>
        </p:nvSpPr>
        <p:spPr>
          <a:xfrm>
            <a:off x="182880" y="2734056"/>
            <a:ext cx="54864" cy="384048"/>
          </a:xfrm>
          <a:prstGeom prst="rect">
            <a:avLst/>
          </a:prstGeom>
          <a:solidFill>
            <a:srgbClr val="FF6B35"/>
          </a:solidFill>
          <a:ln/>
        </p:spPr>
      </p:sp>
      <p:sp>
        <p:nvSpPr>
          <p:cNvPr id="21" name="Text 19"/>
          <p:cNvSpPr/>
          <p:nvPr/>
        </p:nvSpPr>
        <p:spPr>
          <a:xfrm>
            <a:off x="320040" y="2743200"/>
            <a:ext cx="1417320" cy="182880"/>
          </a:xfrm>
          <a:prstGeom prst="rect">
            <a:avLst/>
          </a:prstGeom>
          <a:noFill/>
          <a:ln/>
        </p:spPr>
        <p:txBody>
          <a:bodyPr wrap="square" lIns="0" tIns="0" rIns="0" bIns="0" rtlCol="0" anchor="ctr"/>
          <a:lstStyle/>
          <a:p>
            <a:pPr indent="0" marL="0">
              <a:buNone/>
            </a:pPr>
            <a:r>
              <a:rPr lang="en-US" sz="1000" b="1" dirty="0">
                <a:solidFill>
                  <a:srgbClr val="FF6B35"/>
                </a:solidFill>
                <a:latin typeface="Consolas" pitchFamily="34" charset="0"/>
                <a:ea typeface="Consolas" pitchFamily="34" charset="-122"/>
                <a:cs typeface="Consolas" pitchFamily="34" charset="-120"/>
              </a:rPr>
              <a:t>PySide6</a:t>
            </a:r>
            <a:endParaRPr lang="en-US" sz="1000" dirty="0"/>
          </a:p>
        </p:txBody>
      </p:sp>
      <p:sp>
        <p:nvSpPr>
          <p:cNvPr id="22" name="Text 20"/>
          <p:cNvSpPr/>
          <p:nvPr/>
        </p:nvSpPr>
        <p:spPr>
          <a:xfrm>
            <a:off x="320040" y="2926080"/>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Qt6-based GUI framework (cross-platform)</a:t>
            </a:r>
            <a:endParaRPr lang="en-US" sz="850" dirty="0"/>
          </a:p>
        </p:txBody>
      </p:sp>
      <p:sp>
        <p:nvSpPr>
          <p:cNvPr id="23" name="Shape 21"/>
          <p:cNvSpPr/>
          <p:nvPr/>
        </p:nvSpPr>
        <p:spPr>
          <a:xfrm>
            <a:off x="182880" y="3172968"/>
            <a:ext cx="4206240" cy="384048"/>
          </a:xfrm>
          <a:prstGeom prst="rect">
            <a:avLst/>
          </a:prstGeom>
          <a:solidFill>
            <a:srgbClr val="0D1F3C"/>
          </a:solidFill>
          <a:ln w="12700">
            <a:solidFill>
              <a:srgbClr val="FF2D78"/>
            </a:solidFill>
            <a:prstDash val="solid"/>
          </a:ln>
        </p:spPr>
      </p:sp>
      <p:sp>
        <p:nvSpPr>
          <p:cNvPr id="24" name="Shape 22"/>
          <p:cNvSpPr/>
          <p:nvPr/>
        </p:nvSpPr>
        <p:spPr>
          <a:xfrm>
            <a:off x="182880" y="3172968"/>
            <a:ext cx="54864" cy="384048"/>
          </a:xfrm>
          <a:prstGeom prst="rect">
            <a:avLst/>
          </a:prstGeom>
          <a:solidFill>
            <a:srgbClr val="FF2D78"/>
          </a:solidFill>
          <a:ln/>
        </p:spPr>
      </p:sp>
      <p:sp>
        <p:nvSpPr>
          <p:cNvPr id="25" name="Text 23"/>
          <p:cNvSpPr/>
          <p:nvPr/>
        </p:nvSpPr>
        <p:spPr>
          <a:xfrm>
            <a:off x="320040" y="3182112"/>
            <a:ext cx="1417320" cy="182880"/>
          </a:xfrm>
          <a:prstGeom prst="rect">
            <a:avLst/>
          </a:prstGeom>
          <a:noFill/>
          <a:ln/>
        </p:spPr>
        <p:txBody>
          <a:bodyPr wrap="square" lIns="0" tIns="0" rIns="0" bIns="0" rtlCol="0" anchor="ctr"/>
          <a:lstStyle/>
          <a:p>
            <a:pPr indent="0" marL="0">
              <a:buNone/>
            </a:pPr>
            <a:r>
              <a:rPr lang="en-US" sz="1000" b="1" dirty="0">
                <a:solidFill>
                  <a:srgbClr val="FF2D78"/>
                </a:solidFill>
                <a:latin typeface="Consolas" pitchFamily="34" charset="0"/>
                <a:ea typeface="Consolas" pitchFamily="34" charset="-122"/>
                <a:cs typeface="Consolas" pitchFamily="34" charset="-120"/>
              </a:rPr>
              <a:t>reportlab</a:t>
            </a:r>
            <a:endParaRPr lang="en-US" sz="1000" dirty="0"/>
          </a:p>
        </p:txBody>
      </p:sp>
      <p:sp>
        <p:nvSpPr>
          <p:cNvPr id="26" name="Text 24"/>
          <p:cNvSpPr/>
          <p:nvPr/>
        </p:nvSpPr>
        <p:spPr>
          <a:xfrm>
            <a:off x="320040" y="3364992"/>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Δημιουργία PDF αναφορών με charts &amp; tables</a:t>
            </a:r>
            <a:endParaRPr lang="en-US" sz="850" dirty="0"/>
          </a:p>
        </p:txBody>
      </p:sp>
      <p:sp>
        <p:nvSpPr>
          <p:cNvPr id="27" name="Shape 25"/>
          <p:cNvSpPr/>
          <p:nvPr/>
        </p:nvSpPr>
        <p:spPr>
          <a:xfrm>
            <a:off x="182880" y="3611880"/>
            <a:ext cx="4206240" cy="384048"/>
          </a:xfrm>
          <a:prstGeom prst="rect">
            <a:avLst/>
          </a:prstGeom>
          <a:solidFill>
            <a:srgbClr val="0D1F3C"/>
          </a:solidFill>
          <a:ln w="12700">
            <a:solidFill>
              <a:srgbClr val="FFD700"/>
            </a:solidFill>
            <a:prstDash val="solid"/>
          </a:ln>
        </p:spPr>
      </p:sp>
      <p:sp>
        <p:nvSpPr>
          <p:cNvPr id="28" name="Shape 26"/>
          <p:cNvSpPr/>
          <p:nvPr/>
        </p:nvSpPr>
        <p:spPr>
          <a:xfrm>
            <a:off x="182880" y="3611880"/>
            <a:ext cx="54864" cy="384048"/>
          </a:xfrm>
          <a:prstGeom prst="rect">
            <a:avLst/>
          </a:prstGeom>
          <a:solidFill>
            <a:srgbClr val="FFD700"/>
          </a:solidFill>
          <a:ln/>
        </p:spPr>
      </p:sp>
      <p:sp>
        <p:nvSpPr>
          <p:cNvPr id="29" name="Text 27"/>
          <p:cNvSpPr/>
          <p:nvPr/>
        </p:nvSpPr>
        <p:spPr>
          <a:xfrm>
            <a:off x="320040" y="3621024"/>
            <a:ext cx="1417320" cy="182880"/>
          </a:xfrm>
          <a:prstGeom prst="rect">
            <a:avLst/>
          </a:prstGeom>
          <a:noFill/>
          <a:ln/>
        </p:spPr>
        <p:txBody>
          <a:bodyPr wrap="square" lIns="0" tIns="0" rIns="0" bIns="0" rtlCol="0" anchor="ctr"/>
          <a:lstStyle/>
          <a:p>
            <a:pPr indent="0" marL="0">
              <a:buNone/>
            </a:pPr>
            <a:r>
              <a:rPr lang="en-US" sz="1000" b="1" dirty="0">
                <a:solidFill>
                  <a:srgbClr val="FFD700"/>
                </a:solidFill>
                <a:latin typeface="Consolas" pitchFamily="34" charset="0"/>
                <a:ea typeface="Consolas" pitchFamily="34" charset="-122"/>
                <a:cs typeface="Consolas" pitchFamily="34" charset="-120"/>
              </a:rPr>
              <a:t>onnxruntime</a:t>
            </a:r>
            <a:endParaRPr lang="en-US" sz="1000" dirty="0"/>
          </a:p>
        </p:txBody>
      </p:sp>
      <p:sp>
        <p:nvSpPr>
          <p:cNvPr id="30" name="Text 28"/>
          <p:cNvSpPr/>
          <p:nvPr/>
        </p:nvSpPr>
        <p:spPr>
          <a:xfrm>
            <a:off x="320040" y="3803904"/>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Inference ONNX μοντέλων σε CPU/GPU</a:t>
            </a:r>
            <a:endParaRPr lang="en-US" sz="850" dirty="0"/>
          </a:p>
        </p:txBody>
      </p:sp>
      <p:sp>
        <p:nvSpPr>
          <p:cNvPr id="31" name="Shape 29"/>
          <p:cNvSpPr/>
          <p:nvPr/>
        </p:nvSpPr>
        <p:spPr>
          <a:xfrm>
            <a:off x="182880" y="4050792"/>
            <a:ext cx="4206240" cy="384048"/>
          </a:xfrm>
          <a:prstGeom prst="rect">
            <a:avLst/>
          </a:prstGeom>
          <a:solidFill>
            <a:srgbClr val="0D1F3C"/>
          </a:solidFill>
          <a:ln w="12700">
            <a:solidFill>
              <a:srgbClr val="00D4FF"/>
            </a:solidFill>
            <a:prstDash val="solid"/>
          </a:ln>
        </p:spPr>
      </p:sp>
      <p:sp>
        <p:nvSpPr>
          <p:cNvPr id="32" name="Shape 30"/>
          <p:cNvSpPr/>
          <p:nvPr/>
        </p:nvSpPr>
        <p:spPr>
          <a:xfrm>
            <a:off x="182880" y="4050792"/>
            <a:ext cx="54864" cy="384048"/>
          </a:xfrm>
          <a:prstGeom prst="rect">
            <a:avLst/>
          </a:prstGeom>
          <a:solidFill>
            <a:srgbClr val="00D4FF"/>
          </a:solidFill>
          <a:ln/>
        </p:spPr>
      </p:sp>
      <p:sp>
        <p:nvSpPr>
          <p:cNvPr id="33" name="Text 31"/>
          <p:cNvSpPr/>
          <p:nvPr/>
        </p:nvSpPr>
        <p:spPr>
          <a:xfrm>
            <a:off x="320040" y="4059936"/>
            <a:ext cx="1417320" cy="182880"/>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psutil</a:t>
            </a:r>
            <a:endParaRPr lang="en-US" sz="1000" dirty="0"/>
          </a:p>
        </p:txBody>
      </p:sp>
      <p:sp>
        <p:nvSpPr>
          <p:cNvPr id="34" name="Text 32"/>
          <p:cNvSpPr/>
          <p:nvPr/>
        </p:nvSpPr>
        <p:spPr>
          <a:xfrm>
            <a:off x="320040" y="4242816"/>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CPU/RAM monitoring &amp; diagnostics</a:t>
            </a:r>
            <a:endParaRPr lang="en-US" sz="850" dirty="0"/>
          </a:p>
        </p:txBody>
      </p:sp>
      <p:sp>
        <p:nvSpPr>
          <p:cNvPr id="35" name="Shape 33"/>
          <p:cNvSpPr/>
          <p:nvPr/>
        </p:nvSpPr>
        <p:spPr>
          <a:xfrm>
            <a:off x="182880" y="4489704"/>
            <a:ext cx="4206240" cy="384048"/>
          </a:xfrm>
          <a:prstGeom prst="rect">
            <a:avLst/>
          </a:prstGeom>
          <a:solidFill>
            <a:srgbClr val="0D1F3C"/>
          </a:solidFill>
          <a:ln w="12700">
            <a:solidFill>
              <a:srgbClr val="7B2FBE"/>
            </a:solidFill>
            <a:prstDash val="solid"/>
          </a:ln>
        </p:spPr>
      </p:sp>
      <p:sp>
        <p:nvSpPr>
          <p:cNvPr id="36" name="Shape 34"/>
          <p:cNvSpPr/>
          <p:nvPr/>
        </p:nvSpPr>
        <p:spPr>
          <a:xfrm>
            <a:off x="182880" y="4489704"/>
            <a:ext cx="54864" cy="384048"/>
          </a:xfrm>
          <a:prstGeom prst="rect">
            <a:avLst/>
          </a:prstGeom>
          <a:solidFill>
            <a:srgbClr val="7B2FBE"/>
          </a:solidFill>
          <a:ln/>
        </p:spPr>
      </p:sp>
      <p:sp>
        <p:nvSpPr>
          <p:cNvPr id="37" name="Text 35"/>
          <p:cNvSpPr/>
          <p:nvPr/>
        </p:nvSpPr>
        <p:spPr>
          <a:xfrm>
            <a:off x="320040" y="4498848"/>
            <a:ext cx="1417320" cy="182880"/>
          </a:xfrm>
          <a:prstGeom prst="rect">
            <a:avLst/>
          </a:prstGeom>
          <a:noFill/>
          <a:ln/>
        </p:spPr>
        <p:txBody>
          <a:bodyPr wrap="square" lIns="0" tIns="0" rIns="0" bIns="0" rtlCol="0" anchor="ctr"/>
          <a:lstStyle/>
          <a:p>
            <a:pPr indent="0" marL="0">
              <a:buNone/>
            </a:pPr>
            <a:r>
              <a:rPr lang="en-US" sz="1000" b="1" dirty="0">
                <a:solidFill>
                  <a:srgbClr val="7B2FBE"/>
                </a:solidFill>
                <a:latin typeface="Consolas" pitchFamily="34" charset="0"/>
                <a:ea typeface="Consolas" pitchFamily="34" charset="-122"/>
                <a:cs typeface="Consolas" pitchFamily="34" charset="-120"/>
              </a:rPr>
              <a:t>numpy</a:t>
            </a:r>
            <a:endParaRPr lang="en-US" sz="1000" dirty="0"/>
          </a:p>
        </p:txBody>
      </p:sp>
      <p:sp>
        <p:nvSpPr>
          <p:cNvPr id="38" name="Text 36"/>
          <p:cNvSpPr/>
          <p:nvPr/>
        </p:nvSpPr>
        <p:spPr>
          <a:xfrm>
            <a:off x="320040" y="4681728"/>
            <a:ext cx="3931920" cy="164592"/>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Αριθμητικοί υπολογισμοί &amp; statistics</a:t>
            </a:r>
            <a:endParaRPr lang="en-US" sz="850" dirty="0"/>
          </a:p>
        </p:txBody>
      </p:sp>
      <p:sp>
        <p:nvSpPr>
          <p:cNvPr id="39" name="Text 37"/>
          <p:cNvSpPr/>
          <p:nvPr/>
        </p:nvSpPr>
        <p:spPr>
          <a:xfrm>
            <a:off x="4754880" y="914400"/>
            <a:ext cx="4114800" cy="365760"/>
          </a:xfrm>
          <a:prstGeom prst="rect">
            <a:avLst/>
          </a:prstGeom>
          <a:noFill/>
          <a:ln/>
        </p:spPr>
        <p:txBody>
          <a:bodyPr wrap="square" lIns="0" tIns="0" rIns="0" bIns="0" rtlCol="0" anchor="ctr"/>
          <a:lstStyle/>
          <a:p>
            <a:pPr indent="0" marL="0">
              <a:buNone/>
            </a:pPr>
            <a:r>
              <a:rPr lang="en-US" sz="1500" b="1" dirty="0">
                <a:solidFill>
                  <a:srgbClr val="00FF9D"/>
                </a:solidFill>
                <a:latin typeface="Calibri" pitchFamily="34" charset="0"/>
                <a:ea typeface="Calibri" pitchFamily="34" charset="-122"/>
                <a:cs typeface="Calibri" pitchFamily="34" charset="-120"/>
              </a:rPr>
              <a:t>Βήματα Εγκατάστασης</a:t>
            </a:r>
            <a:endParaRPr lang="en-US" sz="1500" dirty="0"/>
          </a:p>
        </p:txBody>
      </p:sp>
      <p:sp>
        <p:nvSpPr>
          <p:cNvPr id="40" name="Shape 38"/>
          <p:cNvSpPr/>
          <p:nvPr/>
        </p:nvSpPr>
        <p:spPr>
          <a:xfrm>
            <a:off x="4754880" y="1371600"/>
            <a:ext cx="4206240" cy="3291840"/>
          </a:xfrm>
          <a:prstGeom prst="rect">
            <a:avLst/>
          </a:prstGeom>
          <a:solidFill>
            <a:srgbClr val="122544"/>
          </a:solidFill>
          <a:ln w="12700">
            <a:solidFill>
              <a:srgbClr val="00FF9D"/>
            </a:solidFill>
            <a:prstDash val="solid"/>
          </a:ln>
        </p:spPr>
      </p:sp>
      <p:sp>
        <p:nvSpPr>
          <p:cNvPr id="41" name="Shape 39"/>
          <p:cNvSpPr/>
          <p:nvPr/>
        </p:nvSpPr>
        <p:spPr>
          <a:xfrm>
            <a:off x="4892040" y="1481328"/>
            <a:ext cx="320040" cy="320040"/>
          </a:xfrm>
          <a:prstGeom prst="ellipse">
            <a:avLst/>
          </a:prstGeom>
          <a:solidFill>
            <a:srgbClr val="00FF9D"/>
          </a:solidFill>
          <a:ln/>
        </p:spPr>
      </p:sp>
      <p:sp>
        <p:nvSpPr>
          <p:cNvPr id="42" name="Text 40"/>
          <p:cNvSpPr/>
          <p:nvPr/>
        </p:nvSpPr>
        <p:spPr>
          <a:xfrm>
            <a:off x="4892040" y="1481328"/>
            <a:ext cx="320040" cy="320040"/>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1</a:t>
            </a:r>
            <a:endParaRPr lang="en-US" sz="1100" dirty="0"/>
          </a:p>
        </p:txBody>
      </p:sp>
      <p:sp>
        <p:nvSpPr>
          <p:cNvPr id="43" name="Text 41"/>
          <p:cNvSpPr/>
          <p:nvPr/>
        </p:nvSpPr>
        <p:spPr>
          <a:xfrm>
            <a:off x="5303520" y="1481328"/>
            <a:ext cx="35204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Δημιουργία Virtual Environment</a:t>
            </a:r>
            <a:endParaRPr lang="en-US" sz="950" dirty="0"/>
          </a:p>
        </p:txBody>
      </p:sp>
      <p:sp>
        <p:nvSpPr>
          <p:cNvPr id="44" name="Text 42"/>
          <p:cNvSpPr/>
          <p:nvPr/>
        </p:nvSpPr>
        <p:spPr>
          <a:xfrm>
            <a:off x="5303520" y="1691640"/>
            <a:ext cx="3520440" cy="320040"/>
          </a:xfrm>
          <a:prstGeom prst="rect">
            <a:avLst/>
          </a:prstGeom>
          <a:noFill/>
          <a:ln/>
        </p:spPr>
        <p:txBody>
          <a:bodyPr wrap="square" lIns="0" tIns="0" rIns="0" bIns="0" rtlCol="0" anchor="ctr"/>
          <a:lstStyle/>
          <a:p>
            <a:pPr indent="0" marL="0">
              <a:buNone/>
            </a:pPr>
            <a:r>
              <a:rPr lang="en-US" sz="800" dirty="0">
                <a:solidFill>
                  <a:srgbClr val="00FF9D"/>
                </a:solidFill>
                <a:latin typeface="Consolas" pitchFamily="34" charset="0"/>
                <a:ea typeface="Consolas" pitchFamily="34" charset="-122"/>
                <a:cs typeface="Consolas" pitchFamily="34" charset="-120"/>
              </a:rPr>
              <a:t>python -m venv venv</a:t>
            </a:r>
            <a:endParaRPr lang="en-US" sz="800" dirty="0"/>
          </a:p>
          <a:p>
            <a:pPr indent="0" marL="0">
              <a:buNone/>
            </a:pPr>
            <a:r>
              <a:rPr lang="en-US" sz="800" dirty="0">
                <a:solidFill>
                  <a:srgbClr val="00FF9D"/>
                </a:solidFill>
                <a:latin typeface="Consolas" pitchFamily="34" charset="0"/>
                <a:ea typeface="Consolas" pitchFamily="34" charset="-122"/>
                <a:cs typeface="Consolas" pitchFamily="34" charset="-120"/>
              </a:rPr>
              <a:t>venv\Scripts\activate</a:t>
            </a:r>
            <a:endParaRPr lang="en-US" sz="800" dirty="0"/>
          </a:p>
        </p:txBody>
      </p:sp>
      <p:sp>
        <p:nvSpPr>
          <p:cNvPr id="45" name="Shape 43"/>
          <p:cNvSpPr/>
          <p:nvPr/>
        </p:nvSpPr>
        <p:spPr>
          <a:xfrm>
            <a:off x="4892040" y="2103120"/>
            <a:ext cx="320040" cy="320040"/>
          </a:xfrm>
          <a:prstGeom prst="ellipse">
            <a:avLst/>
          </a:prstGeom>
          <a:solidFill>
            <a:srgbClr val="00FF9D"/>
          </a:solidFill>
          <a:ln/>
        </p:spPr>
      </p:sp>
      <p:sp>
        <p:nvSpPr>
          <p:cNvPr id="46" name="Text 44"/>
          <p:cNvSpPr/>
          <p:nvPr/>
        </p:nvSpPr>
        <p:spPr>
          <a:xfrm>
            <a:off x="4892040" y="2103120"/>
            <a:ext cx="320040" cy="320040"/>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2</a:t>
            </a:r>
            <a:endParaRPr lang="en-US" sz="1100" dirty="0"/>
          </a:p>
        </p:txBody>
      </p:sp>
      <p:sp>
        <p:nvSpPr>
          <p:cNvPr id="47" name="Text 45"/>
          <p:cNvSpPr/>
          <p:nvPr/>
        </p:nvSpPr>
        <p:spPr>
          <a:xfrm>
            <a:off x="5303520" y="2103120"/>
            <a:ext cx="35204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Αναβάθμιση pip</a:t>
            </a:r>
            <a:endParaRPr lang="en-US" sz="950" dirty="0"/>
          </a:p>
        </p:txBody>
      </p:sp>
      <p:sp>
        <p:nvSpPr>
          <p:cNvPr id="48" name="Text 46"/>
          <p:cNvSpPr/>
          <p:nvPr/>
        </p:nvSpPr>
        <p:spPr>
          <a:xfrm>
            <a:off x="5303520" y="2313432"/>
            <a:ext cx="3520440" cy="320040"/>
          </a:xfrm>
          <a:prstGeom prst="rect">
            <a:avLst/>
          </a:prstGeom>
          <a:noFill/>
          <a:ln/>
        </p:spPr>
        <p:txBody>
          <a:bodyPr wrap="square" lIns="0" tIns="0" rIns="0" bIns="0" rtlCol="0" anchor="ctr"/>
          <a:lstStyle/>
          <a:p>
            <a:pPr indent="0" marL="0">
              <a:buNone/>
            </a:pPr>
            <a:r>
              <a:rPr lang="en-US" sz="800" dirty="0">
                <a:solidFill>
                  <a:srgbClr val="00FF9D"/>
                </a:solidFill>
                <a:latin typeface="Consolas" pitchFamily="34" charset="0"/>
                <a:ea typeface="Consolas" pitchFamily="34" charset="-122"/>
                <a:cs typeface="Consolas" pitchFamily="34" charset="-120"/>
              </a:rPr>
              <a:t>python -m pip install --upgrade pip</a:t>
            </a:r>
            <a:endParaRPr lang="en-US" sz="800" dirty="0"/>
          </a:p>
        </p:txBody>
      </p:sp>
      <p:sp>
        <p:nvSpPr>
          <p:cNvPr id="49" name="Shape 47"/>
          <p:cNvSpPr/>
          <p:nvPr/>
        </p:nvSpPr>
        <p:spPr>
          <a:xfrm>
            <a:off x="4892040" y="2724912"/>
            <a:ext cx="320040" cy="320040"/>
          </a:xfrm>
          <a:prstGeom prst="ellipse">
            <a:avLst/>
          </a:prstGeom>
          <a:solidFill>
            <a:srgbClr val="00FF9D"/>
          </a:solidFill>
          <a:ln/>
        </p:spPr>
      </p:sp>
      <p:sp>
        <p:nvSpPr>
          <p:cNvPr id="50" name="Text 48"/>
          <p:cNvSpPr/>
          <p:nvPr/>
        </p:nvSpPr>
        <p:spPr>
          <a:xfrm>
            <a:off x="4892040" y="2724912"/>
            <a:ext cx="320040" cy="320040"/>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3</a:t>
            </a:r>
            <a:endParaRPr lang="en-US" sz="1100" dirty="0"/>
          </a:p>
        </p:txBody>
      </p:sp>
      <p:sp>
        <p:nvSpPr>
          <p:cNvPr id="51" name="Text 49"/>
          <p:cNvSpPr/>
          <p:nvPr/>
        </p:nvSpPr>
        <p:spPr>
          <a:xfrm>
            <a:off x="5303520" y="2724912"/>
            <a:ext cx="35204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PyTorch (CUDA 12.1)</a:t>
            </a:r>
            <a:endParaRPr lang="en-US" sz="950" dirty="0"/>
          </a:p>
        </p:txBody>
      </p:sp>
      <p:sp>
        <p:nvSpPr>
          <p:cNvPr id="52" name="Text 50"/>
          <p:cNvSpPr/>
          <p:nvPr/>
        </p:nvSpPr>
        <p:spPr>
          <a:xfrm>
            <a:off x="5303520" y="2935224"/>
            <a:ext cx="3520440" cy="320040"/>
          </a:xfrm>
          <a:prstGeom prst="rect">
            <a:avLst/>
          </a:prstGeom>
          <a:noFill/>
          <a:ln/>
        </p:spPr>
        <p:txBody>
          <a:bodyPr wrap="square" lIns="0" tIns="0" rIns="0" bIns="0" rtlCol="0" anchor="ctr"/>
          <a:lstStyle/>
          <a:p>
            <a:pPr indent="0" marL="0">
              <a:buNone/>
            </a:pPr>
            <a:r>
              <a:rPr lang="en-US" sz="800" dirty="0">
                <a:solidFill>
                  <a:srgbClr val="00FF9D"/>
                </a:solidFill>
                <a:latin typeface="Consolas" pitchFamily="34" charset="0"/>
                <a:ea typeface="Consolas" pitchFamily="34" charset="-122"/>
                <a:cs typeface="Consolas" pitchFamily="34" charset="-120"/>
              </a:rPr>
              <a:t>pip install torch torchvision</a:t>
            </a:r>
            <a:endParaRPr lang="en-US" sz="800" dirty="0"/>
          </a:p>
          <a:p>
            <a:pPr indent="0" marL="0">
              <a:buNone/>
            </a:pPr>
            <a:r>
              <a:rPr lang="en-US" sz="800" dirty="0">
                <a:solidFill>
                  <a:srgbClr val="00FF9D"/>
                </a:solidFill>
                <a:latin typeface="Consolas" pitchFamily="34" charset="0"/>
                <a:ea typeface="Consolas" pitchFamily="34" charset="-122"/>
                <a:cs typeface="Consolas" pitchFamily="34" charset="-120"/>
              </a:rPr>
              <a:t>--index-url .../cu121</a:t>
            </a:r>
            <a:endParaRPr lang="en-US" sz="800" dirty="0"/>
          </a:p>
        </p:txBody>
      </p:sp>
      <p:sp>
        <p:nvSpPr>
          <p:cNvPr id="53" name="Shape 51"/>
          <p:cNvSpPr/>
          <p:nvPr/>
        </p:nvSpPr>
        <p:spPr>
          <a:xfrm>
            <a:off x="4892040" y="3346704"/>
            <a:ext cx="320040" cy="320040"/>
          </a:xfrm>
          <a:prstGeom prst="ellipse">
            <a:avLst/>
          </a:prstGeom>
          <a:solidFill>
            <a:srgbClr val="00FF9D"/>
          </a:solidFill>
          <a:ln/>
        </p:spPr>
      </p:sp>
      <p:sp>
        <p:nvSpPr>
          <p:cNvPr id="54" name="Text 52"/>
          <p:cNvSpPr/>
          <p:nvPr/>
        </p:nvSpPr>
        <p:spPr>
          <a:xfrm>
            <a:off x="4892040" y="3346704"/>
            <a:ext cx="320040" cy="320040"/>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4</a:t>
            </a:r>
            <a:endParaRPr lang="en-US" sz="1100" dirty="0"/>
          </a:p>
        </p:txBody>
      </p:sp>
      <p:sp>
        <p:nvSpPr>
          <p:cNvPr id="55" name="Text 53"/>
          <p:cNvSpPr/>
          <p:nvPr/>
        </p:nvSpPr>
        <p:spPr>
          <a:xfrm>
            <a:off x="5303520" y="3346704"/>
            <a:ext cx="35204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Βασικά πακέτα</a:t>
            </a:r>
            <a:endParaRPr lang="en-US" sz="950" dirty="0"/>
          </a:p>
        </p:txBody>
      </p:sp>
      <p:sp>
        <p:nvSpPr>
          <p:cNvPr id="56" name="Text 54"/>
          <p:cNvSpPr/>
          <p:nvPr/>
        </p:nvSpPr>
        <p:spPr>
          <a:xfrm>
            <a:off x="5303520" y="3557016"/>
            <a:ext cx="3520440" cy="320040"/>
          </a:xfrm>
          <a:prstGeom prst="rect">
            <a:avLst/>
          </a:prstGeom>
          <a:noFill/>
          <a:ln/>
        </p:spPr>
        <p:txBody>
          <a:bodyPr wrap="square" lIns="0" tIns="0" rIns="0" bIns="0" rtlCol="0" anchor="ctr"/>
          <a:lstStyle/>
          <a:p>
            <a:pPr indent="0" marL="0">
              <a:buNone/>
            </a:pPr>
            <a:r>
              <a:rPr lang="en-US" sz="800" dirty="0">
                <a:solidFill>
                  <a:srgbClr val="00FF9D"/>
                </a:solidFill>
                <a:latin typeface="Consolas" pitchFamily="34" charset="0"/>
                <a:ea typeface="Consolas" pitchFamily="34" charset="-122"/>
                <a:cs typeface="Consolas" pitchFamily="34" charset="-120"/>
              </a:rPr>
              <a:t>pip install ultralytics opencv-python</a:t>
            </a:r>
            <a:endParaRPr lang="en-US" sz="800" dirty="0"/>
          </a:p>
          <a:p>
            <a:pPr indent="0" marL="0">
              <a:buNone/>
            </a:pPr>
            <a:r>
              <a:rPr lang="en-US" sz="800" dirty="0">
                <a:solidFill>
                  <a:srgbClr val="00FF9D"/>
                </a:solidFill>
                <a:latin typeface="Consolas" pitchFamily="34" charset="0"/>
                <a:ea typeface="Consolas" pitchFamily="34" charset="-122"/>
                <a:cs typeface="Consolas" pitchFamily="34" charset="-120"/>
              </a:rPr>
              <a:t>PySide6 reportlab psutil onnxruntime</a:t>
            </a:r>
            <a:endParaRPr lang="en-US" sz="800" dirty="0"/>
          </a:p>
        </p:txBody>
      </p:sp>
      <p:sp>
        <p:nvSpPr>
          <p:cNvPr id="57" name="Shape 55"/>
          <p:cNvSpPr/>
          <p:nvPr/>
        </p:nvSpPr>
        <p:spPr>
          <a:xfrm>
            <a:off x="4892040" y="3968496"/>
            <a:ext cx="320040" cy="320040"/>
          </a:xfrm>
          <a:prstGeom prst="ellipse">
            <a:avLst/>
          </a:prstGeom>
          <a:solidFill>
            <a:srgbClr val="00FF9D"/>
          </a:solidFill>
          <a:ln/>
        </p:spPr>
      </p:sp>
      <p:sp>
        <p:nvSpPr>
          <p:cNvPr id="58" name="Text 56"/>
          <p:cNvSpPr/>
          <p:nvPr/>
        </p:nvSpPr>
        <p:spPr>
          <a:xfrm>
            <a:off x="4892040" y="3968496"/>
            <a:ext cx="320040" cy="320040"/>
          </a:xfrm>
          <a:prstGeom prst="rect">
            <a:avLst/>
          </a:prstGeom>
          <a:noFill/>
          <a:ln/>
        </p:spPr>
        <p:txBody>
          <a:bodyPr wrap="square" lIns="0" tIns="0" rIns="0" bIns="0" rtlCol="0" anchor="ctr"/>
          <a:lstStyle/>
          <a:p>
            <a:pPr algn="ctr" indent="0" marL="0">
              <a:buNone/>
            </a:pPr>
            <a:r>
              <a:rPr lang="en-US" sz="1100" b="1" dirty="0">
                <a:solidFill>
                  <a:srgbClr val="050D1A"/>
                </a:solidFill>
                <a:latin typeface="Consolas" pitchFamily="34" charset="0"/>
                <a:ea typeface="Consolas" pitchFamily="34" charset="-122"/>
                <a:cs typeface="Consolas" pitchFamily="34" charset="-120"/>
              </a:rPr>
              <a:t>5</a:t>
            </a:r>
            <a:endParaRPr lang="en-US" sz="1100" dirty="0"/>
          </a:p>
        </p:txBody>
      </p:sp>
      <p:sp>
        <p:nvSpPr>
          <p:cNvPr id="59" name="Text 57"/>
          <p:cNvSpPr/>
          <p:nvPr/>
        </p:nvSpPr>
        <p:spPr>
          <a:xfrm>
            <a:off x="5303520" y="3968496"/>
            <a:ext cx="35204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Επαλήθευση</a:t>
            </a:r>
            <a:endParaRPr lang="en-US" sz="950" dirty="0"/>
          </a:p>
        </p:txBody>
      </p:sp>
      <p:sp>
        <p:nvSpPr>
          <p:cNvPr id="60" name="Text 58"/>
          <p:cNvSpPr/>
          <p:nvPr/>
        </p:nvSpPr>
        <p:spPr>
          <a:xfrm>
            <a:off x="5303520" y="4178808"/>
            <a:ext cx="3520440" cy="320040"/>
          </a:xfrm>
          <a:prstGeom prst="rect">
            <a:avLst/>
          </a:prstGeom>
          <a:noFill/>
          <a:ln/>
        </p:spPr>
        <p:txBody>
          <a:bodyPr wrap="square" lIns="0" tIns="0" rIns="0" bIns="0" rtlCol="0" anchor="ctr"/>
          <a:lstStyle/>
          <a:p>
            <a:pPr indent="0" marL="0">
              <a:buNone/>
            </a:pPr>
            <a:r>
              <a:rPr lang="en-US" sz="800" dirty="0">
                <a:solidFill>
                  <a:srgbClr val="00FF9D"/>
                </a:solidFill>
                <a:latin typeface="Consolas" pitchFamily="34" charset="0"/>
                <a:ea typeface="Consolas" pitchFamily="34" charset="-122"/>
                <a:cs typeface="Consolas" pitchFamily="34" charset="-120"/>
              </a:rPr>
              <a:t>python -c "import torch, ultralytics,</a:t>
            </a:r>
            <a:endParaRPr lang="en-US" sz="800" dirty="0"/>
          </a:p>
          <a:p>
            <a:pPr indent="0" marL="0">
              <a:buNone/>
            </a:pPr>
            <a:r>
              <a:rPr lang="en-US" sz="800" dirty="0">
                <a:solidFill>
                  <a:srgbClr val="00FF9D"/>
                </a:solidFill>
                <a:latin typeface="Consolas" pitchFamily="34" charset="0"/>
                <a:ea typeface="Consolas" pitchFamily="34" charset="-122"/>
                <a:cs typeface="Consolas" pitchFamily="34" charset="-120"/>
              </a:rPr>
              <a:t>cv2, PySide6; print('OK')"</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D4FF"/>
            </a:solidFill>
            <a:prstDash val="solid"/>
          </a:ln>
        </p:spPr>
      </p:sp>
      <p:sp>
        <p:nvSpPr>
          <p:cNvPr id="3" name="Shape 1"/>
          <p:cNvSpPr/>
          <p:nvPr/>
        </p:nvSpPr>
        <p:spPr>
          <a:xfrm>
            <a:off x="0" y="0"/>
            <a:ext cx="73152" cy="822960"/>
          </a:xfrm>
          <a:prstGeom prst="rect">
            <a:avLst/>
          </a:prstGeom>
          <a:solidFill>
            <a:srgbClr val="00D4FF"/>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04 — Υποστηριζόμενα Μοντέλα YOLO</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D4FF"/>
                </a:solidFill>
                <a:latin typeface="Calibri" pitchFamily="34" charset="0"/>
                <a:ea typeface="Calibri" pitchFamily="34" charset="-122"/>
                <a:cs typeface="Calibri" pitchFamily="34" charset="-120"/>
              </a:rPr>
              <a:t>v5 έως v12 – Αντικείμενα &amp; Κατηγορίες</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300" i="1" dirty="0">
                <a:solidFill>
                  <a:srgbClr val="AABBCC"/>
                </a:solidFill>
                <a:latin typeface="Calibri" pitchFamily="34" charset="0"/>
                <a:ea typeface="Calibri" pitchFamily="34" charset="-122"/>
                <a:cs typeface="Calibri" pitchFamily="34" charset="-120"/>
              </a:rPr>
              <a:t>Διπλή Αρχιτεκτονική: Ανίχνευση (Detection) + Κατηγοριοποίηση (Classification)</a:t>
            </a:r>
            <a:endParaRPr lang="en-US" sz="1300" dirty="0"/>
          </a:p>
        </p:txBody>
      </p:sp>
      <p:sp>
        <p:nvSpPr>
          <p:cNvPr id="7" name="Shape 5"/>
          <p:cNvSpPr/>
          <p:nvPr/>
        </p:nvSpPr>
        <p:spPr>
          <a:xfrm>
            <a:off x="182880" y="1371600"/>
            <a:ext cx="2834640" cy="1554480"/>
          </a:xfrm>
          <a:prstGeom prst="rect">
            <a:avLst/>
          </a:prstGeom>
          <a:solidFill>
            <a:srgbClr val="0D1F3C"/>
          </a:solidFill>
          <a:ln w="25400">
            <a:solidFill>
              <a:srgbClr val="00D4FF"/>
            </a:solidFill>
            <a:prstDash val="solid"/>
          </a:ln>
        </p:spPr>
      </p:sp>
      <p:sp>
        <p:nvSpPr>
          <p:cNvPr id="8" name="Shape 6"/>
          <p:cNvSpPr/>
          <p:nvPr/>
        </p:nvSpPr>
        <p:spPr>
          <a:xfrm>
            <a:off x="182880" y="1371600"/>
            <a:ext cx="2834640" cy="475488"/>
          </a:xfrm>
          <a:prstGeom prst="rect">
            <a:avLst/>
          </a:prstGeom>
          <a:solidFill>
            <a:srgbClr val="00D4FF">
              <a:alpha val="75000"/>
            </a:srgbClr>
          </a:solidFill>
          <a:ln/>
        </p:spPr>
      </p:sp>
      <p:sp>
        <p:nvSpPr>
          <p:cNvPr id="9" name="Text 7"/>
          <p:cNvSpPr/>
          <p:nvPr/>
        </p:nvSpPr>
        <p:spPr>
          <a:xfrm>
            <a:off x="274320" y="1426464"/>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YOLOv5</a:t>
            </a:r>
            <a:endParaRPr lang="en-US" sz="2000" dirty="0"/>
          </a:p>
        </p:txBody>
      </p:sp>
      <p:sp>
        <p:nvSpPr>
          <p:cNvPr id="10" name="Text 8"/>
          <p:cNvSpPr/>
          <p:nvPr/>
        </p:nvSpPr>
        <p:spPr>
          <a:xfrm>
            <a:off x="320040" y="1938528"/>
            <a:ext cx="2606040" cy="896112"/>
          </a:xfrm>
          <a:prstGeom prst="rect">
            <a:avLst/>
          </a:prstGeom>
          <a:noFill/>
          <a:ln/>
        </p:spPr>
        <p:txBody>
          <a:bodyPr wrap="square" lIns="0" tIns="0" rIns="0" bIns="0" rtlCol="0" anchor="t"/>
          <a:lstStyle/>
          <a:p>
            <a:pPr indent="0" marL="0">
              <a:buNone/>
            </a:pPr>
            <a:r>
              <a:rPr lang="en-US" sz="1100" dirty="0">
                <a:solidFill>
                  <a:srgbClr val="AABBCC"/>
                </a:solidFill>
                <a:latin typeface="Calibri" pitchFamily="34" charset="0"/>
                <a:ea typeface="Calibri" pitchFamily="34" charset="-122"/>
                <a:cs typeface="Calibri" pitchFamily="34" charset="-120"/>
              </a:rPr>
              <a:t>Θεμέλιο αρχιτεκτονική</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Πολύ γρήγορο &amp; ελαφρύ</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Εκτεταμένη κοινότητα</a:t>
            </a:r>
            <a:endParaRPr lang="en-US" sz="1100" dirty="0"/>
          </a:p>
        </p:txBody>
      </p:sp>
      <p:sp>
        <p:nvSpPr>
          <p:cNvPr id="11" name="Shape 9"/>
          <p:cNvSpPr/>
          <p:nvPr/>
        </p:nvSpPr>
        <p:spPr>
          <a:xfrm>
            <a:off x="3154680" y="1371600"/>
            <a:ext cx="2834640" cy="1554480"/>
          </a:xfrm>
          <a:prstGeom prst="rect">
            <a:avLst/>
          </a:prstGeom>
          <a:solidFill>
            <a:srgbClr val="0D1F3C"/>
          </a:solidFill>
          <a:ln w="25400">
            <a:solidFill>
              <a:srgbClr val="7B2FBE"/>
            </a:solidFill>
            <a:prstDash val="solid"/>
          </a:ln>
        </p:spPr>
      </p:sp>
      <p:sp>
        <p:nvSpPr>
          <p:cNvPr id="12" name="Shape 10"/>
          <p:cNvSpPr/>
          <p:nvPr/>
        </p:nvSpPr>
        <p:spPr>
          <a:xfrm>
            <a:off x="3154680" y="1371600"/>
            <a:ext cx="2834640" cy="475488"/>
          </a:xfrm>
          <a:prstGeom prst="rect">
            <a:avLst/>
          </a:prstGeom>
          <a:solidFill>
            <a:srgbClr val="7B2FBE">
              <a:alpha val="75000"/>
            </a:srgbClr>
          </a:solidFill>
          <a:ln/>
        </p:spPr>
      </p:sp>
      <p:sp>
        <p:nvSpPr>
          <p:cNvPr id="13" name="Text 11"/>
          <p:cNvSpPr/>
          <p:nvPr/>
        </p:nvSpPr>
        <p:spPr>
          <a:xfrm>
            <a:off x="3246120" y="1426464"/>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YOLOv8</a:t>
            </a:r>
            <a:endParaRPr lang="en-US" sz="2000" dirty="0"/>
          </a:p>
        </p:txBody>
      </p:sp>
      <p:sp>
        <p:nvSpPr>
          <p:cNvPr id="14" name="Text 12"/>
          <p:cNvSpPr/>
          <p:nvPr/>
        </p:nvSpPr>
        <p:spPr>
          <a:xfrm>
            <a:off x="3291840" y="1938528"/>
            <a:ext cx="2606040" cy="896112"/>
          </a:xfrm>
          <a:prstGeom prst="rect">
            <a:avLst/>
          </a:prstGeom>
          <a:noFill/>
          <a:ln/>
        </p:spPr>
        <p:txBody>
          <a:bodyPr wrap="square" lIns="0" tIns="0" rIns="0" bIns="0" rtlCol="0" anchor="t"/>
          <a:lstStyle/>
          <a:p>
            <a:pPr indent="0" marL="0">
              <a:buNone/>
            </a:pPr>
            <a:r>
              <a:rPr lang="en-US" sz="1100" dirty="0">
                <a:solidFill>
                  <a:srgbClr val="AABBCC"/>
                </a:solidFill>
                <a:latin typeface="Calibri" pitchFamily="34" charset="0"/>
                <a:ea typeface="Calibri" pitchFamily="34" charset="-122"/>
                <a:cs typeface="Calibri" pitchFamily="34" charset="-120"/>
              </a:rPr>
              <a:t>Βελτιωμένο backbone</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Anchor-free detection</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Υψηλότερη ακρίβεια</a:t>
            </a:r>
            <a:endParaRPr lang="en-US" sz="1100" dirty="0"/>
          </a:p>
        </p:txBody>
      </p:sp>
      <p:sp>
        <p:nvSpPr>
          <p:cNvPr id="15" name="Shape 13"/>
          <p:cNvSpPr/>
          <p:nvPr/>
        </p:nvSpPr>
        <p:spPr>
          <a:xfrm>
            <a:off x="6126480" y="1371600"/>
            <a:ext cx="2834640" cy="1554480"/>
          </a:xfrm>
          <a:prstGeom prst="rect">
            <a:avLst/>
          </a:prstGeom>
          <a:solidFill>
            <a:srgbClr val="0D1F3C"/>
          </a:solidFill>
          <a:ln w="25400">
            <a:solidFill>
              <a:srgbClr val="00FF9D"/>
            </a:solidFill>
            <a:prstDash val="solid"/>
          </a:ln>
        </p:spPr>
      </p:sp>
      <p:sp>
        <p:nvSpPr>
          <p:cNvPr id="16" name="Shape 14"/>
          <p:cNvSpPr/>
          <p:nvPr/>
        </p:nvSpPr>
        <p:spPr>
          <a:xfrm>
            <a:off x="6126480" y="1371600"/>
            <a:ext cx="2834640" cy="475488"/>
          </a:xfrm>
          <a:prstGeom prst="rect">
            <a:avLst/>
          </a:prstGeom>
          <a:solidFill>
            <a:srgbClr val="00FF9D">
              <a:alpha val="75000"/>
            </a:srgbClr>
          </a:solidFill>
          <a:ln/>
        </p:spPr>
      </p:sp>
      <p:sp>
        <p:nvSpPr>
          <p:cNvPr id="17" name="Text 15"/>
          <p:cNvSpPr/>
          <p:nvPr/>
        </p:nvSpPr>
        <p:spPr>
          <a:xfrm>
            <a:off x="6217920" y="1426464"/>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YOLOv9</a:t>
            </a:r>
            <a:endParaRPr lang="en-US" sz="2000" dirty="0"/>
          </a:p>
        </p:txBody>
      </p:sp>
      <p:sp>
        <p:nvSpPr>
          <p:cNvPr id="18" name="Text 16"/>
          <p:cNvSpPr/>
          <p:nvPr/>
        </p:nvSpPr>
        <p:spPr>
          <a:xfrm>
            <a:off x="6263640" y="1938528"/>
            <a:ext cx="2606040" cy="896112"/>
          </a:xfrm>
          <a:prstGeom prst="rect">
            <a:avLst/>
          </a:prstGeom>
          <a:noFill/>
          <a:ln/>
        </p:spPr>
        <p:txBody>
          <a:bodyPr wrap="square" lIns="0" tIns="0" rIns="0" bIns="0" rtlCol="0" anchor="t"/>
          <a:lstStyle/>
          <a:p>
            <a:pPr indent="0" marL="0">
              <a:buNone/>
            </a:pPr>
            <a:r>
              <a:rPr lang="en-US" sz="1100" dirty="0">
                <a:solidFill>
                  <a:srgbClr val="AABBCC"/>
                </a:solidFill>
                <a:latin typeface="Calibri" pitchFamily="34" charset="0"/>
                <a:ea typeface="Calibri" pitchFamily="34" charset="-122"/>
                <a:cs typeface="Calibri" pitchFamily="34" charset="-120"/>
              </a:rPr>
              <a:t>Programmable gradient</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information (PGI)</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Νέος συνδυαστής</a:t>
            </a:r>
            <a:endParaRPr lang="en-US" sz="1100" dirty="0"/>
          </a:p>
        </p:txBody>
      </p:sp>
      <p:sp>
        <p:nvSpPr>
          <p:cNvPr id="19" name="Shape 17"/>
          <p:cNvSpPr/>
          <p:nvPr/>
        </p:nvSpPr>
        <p:spPr>
          <a:xfrm>
            <a:off x="182880" y="3063240"/>
            <a:ext cx="2834640" cy="1554480"/>
          </a:xfrm>
          <a:prstGeom prst="rect">
            <a:avLst/>
          </a:prstGeom>
          <a:solidFill>
            <a:srgbClr val="0D1F3C"/>
          </a:solidFill>
          <a:ln w="25400">
            <a:solidFill>
              <a:srgbClr val="FF6B35"/>
            </a:solidFill>
            <a:prstDash val="solid"/>
          </a:ln>
        </p:spPr>
      </p:sp>
      <p:sp>
        <p:nvSpPr>
          <p:cNvPr id="20" name="Shape 18"/>
          <p:cNvSpPr/>
          <p:nvPr/>
        </p:nvSpPr>
        <p:spPr>
          <a:xfrm>
            <a:off x="182880" y="3063240"/>
            <a:ext cx="2834640" cy="475488"/>
          </a:xfrm>
          <a:prstGeom prst="rect">
            <a:avLst/>
          </a:prstGeom>
          <a:solidFill>
            <a:srgbClr val="FF6B35">
              <a:alpha val="75000"/>
            </a:srgbClr>
          </a:solidFill>
          <a:ln/>
        </p:spPr>
      </p:sp>
      <p:sp>
        <p:nvSpPr>
          <p:cNvPr id="21" name="Text 19"/>
          <p:cNvSpPr/>
          <p:nvPr/>
        </p:nvSpPr>
        <p:spPr>
          <a:xfrm>
            <a:off x="274320" y="3118104"/>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YOLOv10</a:t>
            </a:r>
            <a:endParaRPr lang="en-US" sz="2000" dirty="0"/>
          </a:p>
        </p:txBody>
      </p:sp>
      <p:sp>
        <p:nvSpPr>
          <p:cNvPr id="22" name="Text 20"/>
          <p:cNvSpPr/>
          <p:nvPr/>
        </p:nvSpPr>
        <p:spPr>
          <a:xfrm>
            <a:off x="320040" y="3630168"/>
            <a:ext cx="2606040" cy="896112"/>
          </a:xfrm>
          <a:prstGeom prst="rect">
            <a:avLst/>
          </a:prstGeom>
          <a:noFill/>
          <a:ln/>
        </p:spPr>
        <p:txBody>
          <a:bodyPr wrap="square" lIns="0" tIns="0" rIns="0" bIns="0" rtlCol="0" anchor="t"/>
          <a:lstStyle/>
          <a:p>
            <a:pPr indent="0" marL="0">
              <a:buNone/>
            </a:pPr>
            <a:r>
              <a:rPr lang="en-US" sz="1100" dirty="0">
                <a:solidFill>
                  <a:srgbClr val="AABBCC"/>
                </a:solidFill>
                <a:latin typeface="Calibri" pitchFamily="34" charset="0"/>
                <a:ea typeface="Calibri" pitchFamily="34" charset="-122"/>
                <a:cs typeface="Calibri" pitchFamily="34" charset="-120"/>
              </a:rPr>
              <a:t>Dual assignments NMS-free</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Εξαιρετικά ελαφρύ</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Push for edge AI</a:t>
            </a:r>
            <a:endParaRPr lang="en-US" sz="1100" dirty="0"/>
          </a:p>
        </p:txBody>
      </p:sp>
      <p:sp>
        <p:nvSpPr>
          <p:cNvPr id="23" name="Shape 21"/>
          <p:cNvSpPr/>
          <p:nvPr/>
        </p:nvSpPr>
        <p:spPr>
          <a:xfrm>
            <a:off x="3154680" y="3063240"/>
            <a:ext cx="2834640" cy="1554480"/>
          </a:xfrm>
          <a:prstGeom prst="rect">
            <a:avLst/>
          </a:prstGeom>
          <a:solidFill>
            <a:srgbClr val="0D1F3C"/>
          </a:solidFill>
          <a:ln w="25400">
            <a:solidFill>
              <a:srgbClr val="FF2D78"/>
            </a:solidFill>
            <a:prstDash val="solid"/>
          </a:ln>
        </p:spPr>
      </p:sp>
      <p:sp>
        <p:nvSpPr>
          <p:cNvPr id="24" name="Shape 22"/>
          <p:cNvSpPr/>
          <p:nvPr/>
        </p:nvSpPr>
        <p:spPr>
          <a:xfrm>
            <a:off x="3154680" y="3063240"/>
            <a:ext cx="2834640" cy="475488"/>
          </a:xfrm>
          <a:prstGeom prst="rect">
            <a:avLst/>
          </a:prstGeom>
          <a:solidFill>
            <a:srgbClr val="FF2D78">
              <a:alpha val="75000"/>
            </a:srgbClr>
          </a:solidFill>
          <a:ln/>
        </p:spPr>
      </p:sp>
      <p:sp>
        <p:nvSpPr>
          <p:cNvPr id="25" name="Text 23"/>
          <p:cNvSpPr/>
          <p:nvPr/>
        </p:nvSpPr>
        <p:spPr>
          <a:xfrm>
            <a:off x="3246120" y="3118104"/>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YOLOv11</a:t>
            </a:r>
            <a:endParaRPr lang="en-US" sz="2000" dirty="0"/>
          </a:p>
        </p:txBody>
      </p:sp>
      <p:sp>
        <p:nvSpPr>
          <p:cNvPr id="26" name="Text 24"/>
          <p:cNvSpPr/>
          <p:nvPr/>
        </p:nvSpPr>
        <p:spPr>
          <a:xfrm>
            <a:off x="3291840" y="3630168"/>
            <a:ext cx="2606040" cy="896112"/>
          </a:xfrm>
          <a:prstGeom prst="rect">
            <a:avLst/>
          </a:prstGeom>
          <a:noFill/>
          <a:ln/>
        </p:spPr>
        <p:txBody>
          <a:bodyPr wrap="square" lIns="0" tIns="0" rIns="0" bIns="0" rtlCol="0" anchor="t"/>
          <a:lstStyle/>
          <a:p>
            <a:pPr indent="0" marL="0">
              <a:buNone/>
            </a:pPr>
            <a:r>
              <a:rPr lang="en-US" sz="1100" dirty="0">
                <a:solidFill>
                  <a:srgbClr val="AABBCC"/>
                </a:solidFill>
                <a:latin typeface="Calibri" pitchFamily="34" charset="0"/>
                <a:ea typeface="Calibri" pitchFamily="34" charset="-122"/>
                <a:cs typeface="Calibri" pitchFamily="34" charset="-120"/>
              </a:rPr>
              <a:t>Κεφαλίδα C2PSA</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Αναθεωρημένο neck</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Καλύτερο mAP/speed</a:t>
            </a:r>
            <a:endParaRPr lang="en-US" sz="1100" dirty="0"/>
          </a:p>
        </p:txBody>
      </p:sp>
      <p:sp>
        <p:nvSpPr>
          <p:cNvPr id="27" name="Shape 25"/>
          <p:cNvSpPr/>
          <p:nvPr/>
        </p:nvSpPr>
        <p:spPr>
          <a:xfrm>
            <a:off x="6126480" y="3063240"/>
            <a:ext cx="2834640" cy="1554480"/>
          </a:xfrm>
          <a:prstGeom prst="rect">
            <a:avLst/>
          </a:prstGeom>
          <a:solidFill>
            <a:srgbClr val="0D1F3C"/>
          </a:solidFill>
          <a:ln w="25400">
            <a:solidFill>
              <a:srgbClr val="FFD700"/>
            </a:solidFill>
            <a:prstDash val="solid"/>
          </a:ln>
        </p:spPr>
      </p:sp>
      <p:sp>
        <p:nvSpPr>
          <p:cNvPr id="28" name="Shape 26"/>
          <p:cNvSpPr/>
          <p:nvPr/>
        </p:nvSpPr>
        <p:spPr>
          <a:xfrm>
            <a:off x="6126480" y="3063240"/>
            <a:ext cx="2834640" cy="475488"/>
          </a:xfrm>
          <a:prstGeom prst="rect">
            <a:avLst/>
          </a:prstGeom>
          <a:solidFill>
            <a:srgbClr val="FFD700">
              <a:alpha val="75000"/>
            </a:srgbClr>
          </a:solidFill>
          <a:ln/>
        </p:spPr>
      </p:sp>
      <p:sp>
        <p:nvSpPr>
          <p:cNvPr id="29" name="Text 27"/>
          <p:cNvSpPr/>
          <p:nvPr/>
        </p:nvSpPr>
        <p:spPr>
          <a:xfrm>
            <a:off x="6217920" y="3118104"/>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YOLOv12</a:t>
            </a:r>
            <a:endParaRPr lang="en-US" sz="2000" dirty="0"/>
          </a:p>
        </p:txBody>
      </p:sp>
      <p:sp>
        <p:nvSpPr>
          <p:cNvPr id="30" name="Text 28"/>
          <p:cNvSpPr/>
          <p:nvPr/>
        </p:nvSpPr>
        <p:spPr>
          <a:xfrm>
            <a:off x="6263640" y="3630168"/>
            <a:ext cx="2606040" cy="896112"/>
          </a:xfrm>
          <a:prstGeom prst="rect">
            <a:avLst/>
          </a:prstGeom>
          <a:noFill/>
          <a:ln/>
        </p:spPr>
        <p:txBody>
          <a:bodyPr wrap="square" lIns="0" tIns="0" rIns="0" bIns="0" rtlCol="0" anchor="t"/>
          <a:lstStyle/>
          <a:p>
            <a:pPr indent="0" marL="0">
              <a:buNone/>
            </a:pPr>
            <a:r>
              <a:rPr lang="en-US" sz="1100" dirty="0">
                <a:solidFill>
                  <a:srgbClr val="AABBCC"/>
                </a:solidFill>
                <a:latin typeface="Calibri" pitchFamily="34" charset="0"/>
                <a:ea typeface="Calibri" pitchFamily="34" charset="-122"/>
                <a:cs typeface="Calibri" pitchFamily="34" charset="-120"/>
              </a:rPr>
              <a:t>Attention-centric design</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Area attention modules</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Πλήρης transformer arch</a:t>
            </a:r>
            <a:endParaRPr lang="en-US" sz="1100" dirty="0"/>
          </a:p>
        </p:txBody>
      </p:sp>
      <p:sp>
        <p:nvSpPr>
          <p:cNvPr id="31" name="Shape 29"/>
          <p:cNvSpPr/>
          <p:nvPr/>
        </p:nvSpPr>
        <p:spPr>
          <a:xfrm>
            <a:off x="182880" y="4754880"/>
            <a:ext cx="8778240" cy="274320"/>
          </a:xfrm>
          <a:prstGeom prst="rect">
            <a:avLst/>
          </a:prstGeom>
          <a:solidFill>
            <a:srgbClr val="122544"/>
          </a:solidFill>
          <a:ln w="12700">
            <a:solidFill>
              <a:srgbClr val="00D4FF"/>
            </a:solidFill>
            <a:prstDash val="solid"/>
          </a:ln>
        </p:spPr>
      </p:sp>
      <p:sp>
        <p:nvSpPr>
          <p:cNvPr id="32" name="Text 30"/>
          <p:cNvSpPr/>
          <p:nvPr/>
        </p:nvSpPr>
        <p:spPr>
          <a:xfrm>
            <a:off x="182880" y="4754880"/>
            <a:ext cx="8778240" cy="274320"/>
          </a:xfrm>
          <a:prstGeom prst="rect">
            <a:avLst/>
          </a:prstGeom>
          <a:noFill/>
          <a:ln/>
        </p:spPr>
        <p:txBody>
          <a:bodyPr wrap="square" lIns="0" tIns="0" rIns="0" bIns="0" rtlCol="0" anchor="ctr"/>
          <a:lstStyle/>
          <a:p>
            <a:pPr algn="ctr" indent="0" marL="0">
              <a:buNone/>
            </a:pPr>
            <a:r>
              <a:rPr lang="en-US" sz="900" dirty="0">
                <a:solidFill>
                  <a:srgbClr val="00D4FF"/>
                </a:solidFill>
                <a:latin typeface="Calibri" pitchFamily="34" charset="0"/>
                <a:ea typeface="Calibri" pitchFamily="34" charset="-122"/>
                <a:cs typeface="Calibri" pitchFamily="34" charset="-120"/>
              </a:rPr>
              <a:t>Κάθε μοντέλο υποστηρίζει: Detection · Classification · Segmentation (όπου υποστηρίζεται) · Εξαγωγή σε ONNX / TRT / NCNN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7B2FBE"/>
            </a:solidFill>
            <a:prstDash val="solid"/>
          </a:ln>
        </p:spPr>
      </p:sp>
      <p:sp>
        <p:nvSpPr>
          <p:cNvPr id="3" name="Shape 1"/>
          <p:cNvSpPr/>
          <p:nvPr/>
        </p:nvSpPr>
        <p:spPr>
          <a:xfrm>
            <a:off x="0" y="0"/>
            <a:ext cx="73152" cy="822960"/>
          </a:xfrm>
          <a:prstGeom prst="rect">
            <a:avLst/>
          </a:prstGeom>
          <a:solidFill>
            <a:srgbClr val="7B2FBE"/>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05 — CNN Ταξινομητές (torchvision)</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7B2FBE"/>
                </a:solidFill>
                <a:latin typeface="Calibri" pitchFamily="34" charset="0"/>
                <a:ea typeface="Calibri" pitchFamily="34" charset="-122"/>
                <a:cs typeface="Calibri" pitchFamily="34" charset="-120"/>
              </a:rPr>
              <a:t>MobileNet V2/V3 &amp; ResNet-50/101</a:t>
            </a:r>
            <a:endParaRPr lang="en-US" sz="1100" dirty="0"/>
          </a:p>
        </p:txBody>
      </p:sp>
      <p:sp>
        <p:nvSpPr>
          <p:cNvPr id="6" name="Text 4"/>
          <p:cNvSpPr/>
          <p:nvPr/>
        </p:nvSpPr>
        <p:spPr>
          <a:xfrm>
            <a:off x="274320" y="914400"/>
            <a:ext cx="8595360" cy="347472"/>
          </a:xfrm>
          <a:prstGeom prst="rect">
            <a:avLst/>
          </a:prstGeom>
          <a:noFill/>
          <a:ln/>
        </p:spPr>
        <p:txBody>
          <a:bodyPr wrap="square" lIns="0" tIns="0" rIns="0" bIns="0" rtlCol="0" anchor="ctr"/>
          <a:lstStyle/>
          <a:p>
            <a:pPr indent="0" marL="0">
              <a:buNone/>
            </a:pPr>
            <a:r>
              <a:rPr lang="en-US" sz="1500" b="1" dirty="0">
                <a:solidFill>
                  <a:srgbClr val="7B2FBE"/>
                </a:solidFill>
                <a:latin typeface="Calibri" pitchFamily="34" charset="0"/>
                <a:ea typeface="Calibri" pitchFamily="34" charset="-122"/>
                <a:cs typeface="Calibri" pitchFamily="34" charset="-120"/>
              </a:rPr>
              <a:t>Υποστηριζόμενα CNN Μοντέλα Ταξινόμησης (Classification)</a:t>
            </a:r>
            <a:endParaRPr lang="en-US" sz="1500" dirty="0"/>
          </a:p>
        </p:txBody>
      </p:sp>
      <p:sp>
        <p:nvSpPr>
          <p:cNvPr id="7" name="Shape 5"/>
          <p:cNvSpPr/>
          <p:nvPr/>
        </p:nvSpPr>
        <p:spPr>
          <a:xfrm>
            <a:off x="91440" y="1417320"/>
            <a:ext cx="1691640" cy="3520440"/>
          </a:xfrm>
          <a:prstGeom prst="rect">
            <a:avLst/>
          </a:prstGeom>
          <a:solidFill>
            <a:srgbClr val="0D1F3C"/>
          </a:solidFill>
          <a:ln w="25400">
            <a:solidFill>
              <a:srgbClr val="00D4FF"/>
            </a:solidFill>
            <a:prstDash val="solid"/>
          </a:ln>
        </p:spPr>
      </p:sp>
      <p:sp>
        <p:nvSpPr>
          <p:cNvPr id="8" name="Shape 6"/>
          <p:cNvSpPr/>
          <p:nvPr/>
        </p:nvSpPr>
        <p:spPr>
          <a:xfrm>
            <a:off x="91440" y="1417320"/>
            <a:ext cx="1691640" cy="457200"/>
          </a:xfrm>
          <a:prstGeom prst="rect">
            <a:avLst/>
          </a:prstGeom>
          <a:solidFill>
            <a:srgbClr val="00D4FF">
              <a:alpha val="80000"/>
            </a:srgbClr>
          </a:solidFill>
          <a:ln/>
        </p:spPr>
      </p:sp>
      <p:sp>
        <p:nvSpPr>
          <p:cNvPr id="9" name="Text 7"/>
          <p:cNvSpPr/>
          <p:nvPr/>
        </p:nvSpPr>
        <p:spPr>
          <a:xfrm>
            <a:off x="155448" y="1453896"/>
            <a:ext cx="1572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MobileNet V2</a:t>
            </a:r>
            <a:endParaRPr lang="en-US" sz="1100" dirty="0"/>
          </a:p>
        </p:txBody>
      </p:sp>
      <p:sp>
        <p:nvSpPr>
          <p:cNvPr id="10" name="Text 8"/>
          <p:cNvSpPr/>
          <p:nvPr/>
        </p:nvSpPr>
        <p:spPr>
          <a:xfrm>
            <a:off x="91440" y="193852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Params</a:t>
            </a:r>
            <a:endParaRPr lang="en-US" sz="800" dirty="0"/>
          </a:p>
        </p:txBody>
      </p:sp>
      <p:sp>
        <p:nvSpPr>
          <p:cNvPr id="11" name="Text 9"/>
          <p:cNvSpPr/>
          <p:nvPr/>
        </p:nvSpPr>
        <p:spPr>
          <a:xfrm>
            <a:off x="91440" y="2130552"/>
            <a:ext cx="1691640" cy="32004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3.4M</a:t>
            </a:r>
            <a:endParaRPr lang="en-US" sz="1800" dirty="0"/>
          </a:p>
        </p:txBody>
      </p:sp>
      <p:sp>
        <p:nvSpPr>
          <p:cNvPr id="12" name="Text 10"/>
          <p:cNvSpPr/>
          <p:nvPr/>
        </p:nvSpPr>
        <p:spPr>
          <a:xfrm>
            <a:off x="91440" y="248716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Model Size</a:t>
            </a:r>
            <a:endParaRPr lang="en-US" sz="800" dirty="0"/>
          </a:p>
        </p:txBody>
      </p:sp>
      <p:sp>
        <p:nvSpPr>
          <p:cNvPr id="13" name="Text 11"/>
          <p:cNvSpPr/>
          <p:nvPr/>
        </p:nvSpPr>
        <p:spPr>
          <a:xfrm>
            <a:off x="91440" y="2679192"/>
            <a:ext cx="169164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14 MB</a:t>
            </a:r>
            <a:endParaRPr lang="en-US" sz="1600" dirty="0"/>
          </a:p>
        </p:txBody>
      </p:sp>
      <p:sp>
        <p:nvSpPr>
          <p:cNvPr id="14" name="Shape 12"/>
          <p:cNvSpPr/>
          <p:nvPr/>
        </p:nvSpPr>
        <p:spPr>
          <a:xfrm>
            <a:off x="228600" y="2999232"/>
            <a:ext cx="1417320" cy="0"/>
          </a:xfrm>
          <a:prstGeom prst="line">
            <a:avLst/>
          </a:prstGeom>
          <a:noFill/>
          <a:ln w="6350">
            <a:solidFill>
              <a:srgbClr val="00D4FF"/>
            </a:solidFill>
            <a:prstDash val="solid"/>
          </a:ln>
        </p:spPr>
      </p:sp>
      <p:sp>
        <p:nvSpPr>
          <p:cNvPr id="15" name="Text 13"/>
          <p:cNvSpPr/>
          <p:nvPr/>
        </p:nvSpPr>
        <p:spPr>
          <a:xfrm>
            <a:off x="164592" y="3108960"/>
            <a:ext cx="1572768" cy="1188720"/>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Ελαφρύτατη αρχιτεκτονική ideal για mobile &amp; edge</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DevWise blocks &amp; inverted residuals</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Ιδανικό για real-time classification</a:t>
            </a:r>
            <a:endParaRPr lang="en-US" sz="850" dirty="0"/>
          </a:p>
        </p:txBody>
      </p:sp>
      <p:sp>
        <p:nvSpPr>
          <p:cNvPr id="16" name="Shape 14"/>
          <p:cNvSpPr/>
          <p:nvPr/>
        </p:nvSpPr>
        <p:spPr>
          <a:xfrm>
            <a:off x="228600" y="4389120"/>
            <a:ext cx="1417320" cy="347472"/>
          </a:xfrm>
          <a:prstGeom prst="rect">
            <a:avLst/>
          </a:prstGeom>
          <a:solidFill>
            <a:srgbClr val="00D4FF">
              <a:alpha val="70000"/>
            </a:srgbClr>
          </a:solidFill>
          <a:ln w="12700">
            <a:solidFill>
              <a:srgbClr val="00D4FF"/>
            </a:solidFill>
            <a:prstDash val="solid"/>
          </a:ln>
        </p:spPr>
      </p:sp>
      <p:sp>
        <p:nvSpPr>
          <p:cNvPr id="17" name="Text 15"/>
          <p:cNvSpPr/>
          <p:nvPr/>
        </p:nvSpPr>
        <p:spPr>
          <a:xfrm>
            <a:off x="228600" y="4389120"/>
            <a:ext cx="14173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Best: Edge Devices</a:t>
            </a:r>
            <a:endParaRPr lang="en-US" sz="900" dirty="0"/>
          </a:p>
        </p:txBody>
      </p:sp>
      <p:sp>
        <p:nvSpPr>
          <p:cNvPr id="18" name="Shape 16"/>
          <p:cNvSpPr/>
          <p:nvPr/>
        </p:nvSpPr>
        <p:spPr>
          <a:xfrm>
            <a:off x="1874520" y="1417320"/>
            <a:ext cx="1691640" cy="3520440"/>
          </a:xfrm>
          <a:prstGeom prst="rect">
            <a:avLst/>
          </a:prstGeom>
          <a:solidFill>
            <a:srgbClr val="0D1F3C"/>
          </a:solidFill>
          <a:ln w="25400">
            <a:solidFill>
              <a:srgbClr val="00FF9D"/>
            </a:solidFill>
            <a:prstDash val="solid"/>
          </a:ln>
        </p:spPr>
      </p:sp>
      <p:sp>
        <p:nvSpPr>
          <p:cNvPr id="19" name="Shape 17"/>
          <p:cNvSpPr/>
          <p:nvPr/>
        </p:nvSpPr>
        <p:spPr>
          <a:xfrm>
            <a:off x="1874520" y="1417320"/>
            <a:ext cx="1691640" cy="457200"/>
          </a:xfrm>
          <a:prstGeom prst="rect">
            <a:avLst/>
          </a:prstGeom>
          <a:solidFill>
            <a:srgbClr val="00FF9D">
              <a:alpha val="80000"/>
            </a:srgbClr>
          </a:solidFill>
          <a:ln/>
        </p:spPr>
      </p:sp>
      <p:sp>
        <p:nvSpPr>
          <p:cNvPr id="20" name="Text 18"/>
          <p:cNvSpPr/>
          <p:nvPr/>
        </p:nvSpPr>
        <p:spPr>
          <a:xfrm>
            <a:off x="1938528" y="1453896"/>
            <a:ext cx="1572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MobileNet V3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Small</a:t>
            </a:r>
            <a:endParaRPr lang="en-US" sz="1100" dirty="0"/>
          </a:p>
        </p:txBody>
      </p:sp>
      <p:sp>
        <p:nvSpPr>
          <p:cNvPr id="21" name="Text 19"/>
          <p:cNvSpPr/>
          <p:nvPr/>
        </p:nvSpPr>
        <p:spPr>
          <a:xfrm>
            <a:off x="1874520" y="193852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Params</a:t>
            </a:r>
            <a:endParaRPr lang="en-US" sz="800" dirty="0"/>
          </a:p>
        </p:txBody>
      </p:sp>
      <p:sp>
        <p:nvSpPr>
          <p:cNvPr id="22" name="Text 20"/>
          <p:cNvSpPr/>
          <p:nvPr/>
        </p:nvSpPr>
        <p:spPr>
          <a:xfrm>
            <a:off x="1874520" y="2130552"/>
            <a:ext cx="1691640" cy="320040"/>
          </a:xfrm>
          <a:prstGeom prst="rect">
            <a:avLst/>
          </a:prstGeom>
          <a:noFill/>
          <a:ln/>
        </p:spPr>
        <p:txBody>
          <a:bodyPr wrap="square" lIns="0" tIns="0" rIns="0" bIns="0" rtlCol="0" anchor="ctr"/>
          <a:lstStyle/>
          <a:p>
            <a:pPr algn="ctr" indent="0" marL="0">
              <a:buNone/>
            </a:pPr>
            <a:r>
              <a:rPr lang="en-US" sz="1800" b="1" dirty="0">
                <a:solidFill>
                  <a:srgbClr val="00FF9D"/>
                </a:solidFill>
                <a:latin typeface="Calibri" pitchFamily="34" charset="0"/>
                <a:ea typeface="Calibri" pitchFamily="34" charset="-122"/>
                <a:cs typeface="Calibri" pitchFamily="34" charset="-120"/>
              </a:rPr>
              <a:t>2.5M</a:t>
            </a:r>
            <a:endParaRPr lang="en-US" sz="1800" dirty="0"/>
          </a:p>
        </p:txBody>
      </p:sp>
      <p:sp>
        <p:nvSpPr>
          <p:cNvPr id="23" name="Text 21"/>
          <p:cNvSpPr/>
          <p:nvPr/>
        </p:nvSpPr>
        <p:spPr>
          <a:xfrm>
            <a:off x="1874520" y="248716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Model Size</a:t>
            </a:r>
            <a:endParaRPr lang="en-US" sz="800" dirty="0"/>
          </a:p>
        </p:txBody>
      </p:sp>
      <p:sp>
        <p:nvSpPr>
          <p:cNvPr id="24" name="Text 22"/>
          <p:cNvSpPr/>
          <p:nvPr/>
        </p:nvSpPr>
        <p:spPr>
          <a:xfrm>
            <a:off x="1874520" y="2679192"/>
            <a:ext cx="169164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 MB</a:t>
            </a:r>
            <a:endParaRPr lang="en-US" sz="1600" dirty="0"/>
          </a:p>
        </p:txBody>
      </p:sp>
      <p:sp>
        <p:nvSpPr>
          <p:cNvPr id="25" name="Shape 23"/>
          <p:cNvSpPr/>
          <p:nvPr/>
        </p:nvSpPr>
        <p:spPr>
          <a:xfrm>
            <a:off x="2011680" y="2999232"/>
            <a:ext cx="1417320" cy="0"/>
          </a:xfrm>
          <a:prstGeom prst="line">
            <a:avLst/>
          </a:prstGeom>
          <a:noFill/>
          <a:ln w="6350">
            <a:solidFill>
              <a:srgbClr val="00FF9D"/>
            </a:solidFill>
            <a:prstDash val="solid"/>
          </a:ln>
        </p:spPr>
      </p:sp>
      <p:sp>
        <p:nvSpPr>
          <p:cNvPr id="26" name="Text 24"/>
          <p:cNvSpPr/>
          <p:nvPr/>
        </p:nvSpPr>
        <p:spPr>
          <a:xfrm>
            <a:off x="1947672" y="3108960"/>
            <a:ext cx="1572768" cy="1188720"/>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Η πιο ελαφριά επιλογή</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SE modules &amp; hard swish activation</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Βελτιστοποιημένο για low-power</a:t>
            </a:r>
            <a:endParaRPr lang="en-US" sz="850" dirty="0"/>
          </a:p>
        </p:txBody>
      </p:sp>
      <p:sp>
        <p:nvSpPr>
          <p:cNvPr id="27" name="Shape 25"/>
          <p:cNvSpPr/>
          <p:nvPr/>
        </p:nvSpPr>
        <p:spPr>
          <a:xfrm>
            <a:off x="2011680" y="4389120"/>
            <a:ext cx="1417320" cy="347472"/>
          </a:xfrm>
          <a:prstGeom prst="rect">
            <a:avLst/>
          </a:prstGeom>
          <a:solidFill>
            <a:srgbClr val="00FF9D">
              <a:alpha val="70000"/>
            </a:srgbClr>
          </a:solidFill>
          <a:ln w="12700">
            <a:solidFill>
              <a:srgbClr val="00FF9D"/>
            </a:solidFill>
            <a:prstDash val="solid"/>
          </a:ln>
        </p:spPr>
      </p:sp>
      <p:sp>
        <p:nvSpPr>
          <p:cNvPr id="28" name="Text 26"/>
          <p:cNvSpPr/>
          <p:nvPr/>
        </p:nvSpPr>
        <p:spPr>
          <a:xfrm>
            <a:off x="2011680" y="4389120"/>
            <a:ext cx="14173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Best: IoT / Mobile</a:t>
            </a:r>
            <a:endParaRPr lang="en-US" sz="900" dirty="0"/>
          </a:p>
        </p:txBody>
      </p:sp>
      <p:sp>
        <p:nvSpPr>
          <p:cNvPr id="29" name="Shape 27"/>
          <p:cNvSpPr/>
          <p:nvPr/>
        </p:nvSpPr>
        <p:spPr>
          <a:xfrm>
            <a:off x="3657600" y="1417320"/>
            <a:ext cx="1691640" cy="3520440"/>
          </a:xfrm>
          <a:prstGeom prst="rect">
            <a:avLst/>
          </a:prstGeom>
          <a:solidFill>
            <a:srgbClr val="0D1F3C"/>
          </a:solidFill>
          <a:ln w="25400">
            <a:solidFill>
              <a:srgbClr val="FF6B35"/>
            </a:solidFill>
            <a:prstDash val="solid"/>
          </a:ln>
        </p:spPr>
      </p:sp>
      <p:sp>
        <p:nvSpPr>
          <p:cNvPr id="30" name="Shape 28"/>
          <p:cNvSpPr/>
          <p:nvPr/>
        </p:nvSpPr>
        <p:spPr>
          <a:xfrm>
            <a:off x="3657600" y="1417320"/>
            <a:ext cx="1691640" cy="457200"/>
          </a:xfrm>
          <a:prstGeom prst="rect">
            <a:avLst/>
          </a:prstGeom>
          <a:solidFill>
            <a:srgbClr val="FF6B35">
              <a:alpha val="80000"/>
            </a:srgbClr>
          </a:solidFill>
          <a:ln/>
        </p:spPr>
      </p:sp>
      <p:sp>
        <p:nvSpPr>
          <p:cNvPr id="31" name="Text 29"/>
          <p:cNvSpPr/>
          <p:nvPr/>
        </p:nvSpPr>
        <p:spPr>
          <a:xfrm>
            <a:off x="3721608" y="1453896"/>
            <a:ext cx="1572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MobileNet V3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Large</a:t>
            </a:r>
            <a:endParaRPr lang="en-US" sz="1100" dirty="0"/>
          </a:p>
        </p:txBody>
      </p:sp>
      <p:sp>
        <p:nvSpPr>
          <p:cNvPr id="32" name="Text 30"/>
          <p:cNvSpPr/>
          <p:nvPr/>
        </p:nvSpPr>
        <p:spPr>
          <a:xfrm>
            <a:off x="3657600" y="193852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Params</a:t>
            </a:r>
            <a:endParaRPr lang="en-US" sz="800" dirty="0"/>
          </a:p>
        </p:txBody>
      </p:sp>
      <p:sp>
        <p:nvSpPr>
          <p:cNvPr id="33" name="Text 31"/>
          <p:cNvSpPr/>
          <p:nvPr/>
        </p:nvSpPr>
        <p:spPr>
          <a:xfrm>
            <a:off x="3657600" y="2130552"/>
            <a:ext cx="1691640" cy="320040"/>
          </a:xfrm>
          <a:prstGeom prst="rect">
            <a:avLst/>
          </a:prstGeom>
          <a:noFill/>
          <a:ln/>
        </p:spPr>
        <p:txBody>
          <a:bodyPr wrap="square" lIns="0" tIns="0" rIns="0" bIns="0" rtlCol="0" anchor="ctr"/>
          <a:lstStyle/>
          <a:p>
            <a:pPr algn="ctr" indent="0" marL="0">
              <a:buNone/>
            </a:pPr>
            <a:r>
              <a:rPr lang="en-US" sz="1800" b="1" dirty="0">
                <a:solidFill>
                  <a:srgbClr val="FF6B35"/>
                </a:solidFill>
                <a:latin typeface="Calibri" pitchFamily="34" charset="0"/>
                <a:ea typeface="Calibri" pitchFamily="34" charset="-122"/>
                <a:cs typeface="Calibri" pitchFamily="34" charset="-120"/>
              </a:rPr>
              <a:t>5.4M</a:t>
            </a:r>
            <a:endParaRPr lang="en-US" sz="1800" dirty="0"/>
          </a:p>
        </p:txBody>
      </p:sp>
      <p:sp>
        <p:nvSpPr>
          <p:cNvPr id="34" name="Text 32"/>
          <p:cNvSpPr/>
          <p:nvPr/>
        </p:nvSpPr>
        <p:spPr>
          <a:xfrm>
            <a:off x="3657600" y="248716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Model Size</a:t>
            </a:r>
            <a:endParaRPr lang="en-US" sz="800" dirty="0"/>
          </a:p>
        </p:txBody>
      </p:sp>
      <p:sp>
        <p:nvSpPr>
          <p:cNvPr id="35" name="Text 33"/>
          <p:cNvSpPr/>
          <p:nvPr/>
        </p:nvSpPr>
        <p:spPr>
          <a:xfrm>
            <a:off x="3657600" y="2679192"/>
            <a:ext cx="169164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22 MB</a:t>
            </a:r>
            <a:endParaRPr lang="en-US" sz="1600" dirty="0"/>
          </a:p>
        </p:txBody>
      </p:sp>
      <p:sp>
        <p:nvSpPr>
          <p:cNvPr id="36" name="Shape 34"/>
          <p:cNvSpPr/>
          <p:nvPr/>
        </p:nvSpPr>
        <p:spPr>
          <a:xfrm>
            <a:off x="3794760" y="2999232"/>
            <a:ext cx="1417320" cy="0"/>
          </a:xfrm>
          <a:prstGeom prst="line">
            <a:avLst/>
          </a:prstGeom>
          <a:noFill/>
          <a:ln w="6350">
            <a:solidFill>
              <a:srgbClr val="FF6B35"/>
            </a:solidFill>
            <a:prstDash val="solid"/>
          </a:ln>
        </p:spPr>
      </p:sp>
      <p:sp>
        <p:nvSpPr>
          <p:cNvPr id="37" name="Text 35"/>
          <p:cNvSpPr/>
          <p:nvPr/>
        </p:nvSpPr>
        <p:spPr>
          <a:xfrm>
            <a:off x="3730752" y="3108960"/>
            <a:ext cx="1572768" cy="1188720"/>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Ισορροπία ταχύτητας-ακρίβειας</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NAS-optimized architecture</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Συνιστάται για tablets</a:t>
            </a:r>
            <a:endParaRPr lang="en-US" sz="850" dirty="0"/>
          </a:p>
        </p:txBody>
      </p:sp>
      <p:sp>
        <p:nvSpPr>
          <p:cNvPr id="38" name="Shape 36"/>
          <p:cNvSpPr/>
          <p:nvPr/>
        </p:nvSpPr>
        <p:spPr>
          <a:xfrm>
            <a:off x="3794760" y="4389120"/>
            <a:ext cx="1417320" cy="347472"/>
          </a:xfrm>
          <a:prstGeom prst="rect">
            <a:avLst/>
          </a:prstGeom>
          <a:solidFill>
            <a:srgbClr val="FF6B35">
              <a:alpha val="70000"/>
            </a:srgbClr>
          </a:solidFill>
          <a:ln w="12700">
            <a:solidFill>
              <a:srgbClr val="FF6B35"/>
            </a:solidFill>
            <a:prstDash val="solid"/>
          </a:ln>
        </p:spPr>
      </p:sp>
      <p:sp>
        <p:nvSpPr>
          <p:cNvPr id="39" name="Text 37"/>
          <p:cNvSpPr/>
          <p:nvPr/>
        </p:nvSpPr>
        <p:spPr>
          <a:xfrm>
            <a:off x="3794760" y="4389120"/>
            <a:ext cx="14173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Best: Balanced</a:t>
            </a:r>
            <a:endParaRPr lang="en-US" sz="900" dirty="0"/>
          </a:p>
        </p:txBody>
      </p:sp>
      <p:sp>
        <p:nvSpPr>
          <p:cNvPr id="40" name="Shape 38"/>
          <p:cNvSpPr/>
          <p:nvPr/>
        </p:nvSpPr>
        <p:spPr>
          <a:xfrm>
            <a:off x="5440680" y="1417320"/>
            <a:ext cx="1691640" cy="3520440"/>
          </a:xfrm>
          <a:prstGeom prst="rect">
            <a:avLst/>
          </a:prstGeom>
          <a:solidFill>
            <a:srgbClr val="0D1F3C"/>
          </a:solidFill>
          <a:ln w="25400">
            <a:solidFill>
              <a:srgbClr val="7B2FBE"/>
            </a:solidFill>
            <a:prstDash val="solid"/>
          </a:ln>
        </p:spPr>
      </p:sp>
      <p:sp>
        <p:nvSpPr>
          <p:cNvPr id="41" name="Shape 39"/>
          <p:cNvSpPr/>
          <p:nvPr/>
        </p:nvSpPr>
        <p:spPr>
          <a:xfrm>
            <a:off x="5440680" y="1417320"/>
            <a:ext cx="1691640" cy="457200"/>
          </a:xfrm>
          <a:prstGeom prst="rect">
            <a:avLst/>
          </a:prstGeom>
          <a:solidFill>
            <a:srgbClr val="7B2FBE">
              <a:alpha val="80000"/>
            </a:srgbClr>
          </a:solidFill>
          <a:ln/>
        </p:spPr>
      </p:sp>
      <p:sp>
        <p:nvSpPr>
          <p:cNvPr id="42" name="Text 40"/>
          <p:cNvSpPr/>
          <p:nvPr/>
        </p:nvSpPr>
        <p:spPr>
          <a:xfrm>
            <a:off x="5504688" y="1453896"/>
            <a:ext cx="1572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ResNet-50</a:t>
            </a:r>
            <a:endParaRPr lang="en-US" sz="1100" dirty="0"/>
          </a:p>
        </p:txBody>
      </p:sp>
      <p:sp>
        <p:nvSpPr>
          <p:cNvPr id="43" name="Text 41"/>
          <p:cNvSpPr/>
          <p:nvPr/>
        </p:nvSpPr>
        <p:spPr>
          <a:xfrm>
            <a:off x="5440680" y="193852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Params</a:t>
            </a:r>
            <a:endParaRPr lang="en-US" sz="800" dirty="0"/>
          </a:p>
        </p:txBody>
      </p:sp>
      <p:sp>
        <p:nvSpPr>
          <p:cNvPr id="44" name="Text 42"/>
          <p:cNvSpPr/>
          <p:nvPr/>
        </p:nvSpPr>
        <p:spPr>
          <a:xfrm>
            <a:off x="5440680" y="2130552"/>
            <a:ext cx="1691640" cy="320040"/>
          </a:xfrm>
          <a:prstGeom prst="rect">
            <a:avLst/>
          </a:prstGeom>
          <a:noFill/>
          <a:ln/>
        </p:spPr>
        <p:txBody>
          <a:bodyPr wrap="square" lIns="0" tIns="0" rIns="0" bIns="0" rtlCol="0" anchor="ctr"/>
          <a:lstStyle/>
          <a:p>
            <a:pPr algn="ctr" indent="0" marL="0">
              <a:buNone/>
            </a:pPr>
            <a:r>
              <a:rPr lang="en-US" sz="1800" b="1" dirty="0">
                <a:solidFill>
                  <a:srgbClr val="7B2FBE"/>
                </a:solidFill>
                <a:latin typeface="Calibri" pitchFamily="34" charset="0"/>
                <a:ea typeface="Calibri" pitchFamily="34" charset="-122"/>
                <a:cs typeface="Calibri" pitchFamily="34" charset="-120"/>
              </a:rPr>
              <a:t>25.6M</a:t>
            </a:r>
            <a:endParaRPr lang="en-US" sz="1800" dirty="0"/>
          </a:p>
        </p:txBody>
      </p:sp>
      <p:sp>
        <p:nvSpPr>
          <p:cNvPr id="45" name="Text 43"/>
          <p:cNvSpPr/>
          <p:nvPr/>
        </p:nvSpPr>
        <p:spPr>
          <a:xfrm>
            <a:off x="5440680" y="248716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Model Size</a:t>
            </a:r>
            <a:endParaRPr lang="en-US" sz="800" dirty="0"/>
          </a:p>
        </p:txBody>
      </p:sp>
      <p:sp>
        <p:nvSpPr>
          <p:cNvPr id="46" name="Text 44"/>
          <p:cNvSpPr/>
          <p:nvPr/>
        </p:nvSpPr>
        <p:spPr>
          <a:xfrm>
            <a:off x="5440680" y="2679192"/>
            <a:ext cx="169164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98 MB</a:t>
            </a:r>
            <a:endParaRPr lang="en-US" sz="1600" dirty="0"/>
          </a:p>
        </p:txBody>
      </p:sp>
      <p:sp>
        <p:nvSpPr>
          <p:cNvPr id="47" name="Shape 45"/>
          <p:cNvSpPr/>
          <p:nvPr/>
        </p:nvSpPr>
        <p:spPr>
          <a:xfrm>
            <a:off x="5577840" y="2999232"/>
            <a:ext cx="1417320" cy="0"/>
          </a:xfrm>
          <a:prstGeom prst="line">
            <a:avLst/>
          </a:prstGeom>
          <a:noFill/>
          <a:ln w="6350">
            <a:solidFill>
              <a:srgbClr val="7B2FBE"/>
            </a:solidFill>
            <a:prstDash val="solid"/>
          </a:ln>
        </p:spPr>
      </p:sp>
      <p:sp>
        <p:nvSpPr>
          <p:cNvPr id="48" name="Text 46"/>
          <p:cNvSpPr/>
          <p:nvPr/>
        </p:nvSpPr>
        <p:spPr>
          <a:xfrm>
            <a:off x="5513832" y="3108960"/>
            <a:ext cx="1572768" cy="1188720"/>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Κλασικό residual network</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Skip connections για βαθύτερη εκπαίδευση</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Εξαιρετική ακρίβεια ImageNet</a:t>
            </a:r>
            <a:endParaRPr lang="en-US" sz="850" dirty="0"/>
          </a:p>
        </p:txBody>
      </p:sp>
      <p:sp>
        <p:nvSpPr>
          <p:cNvPr id="49" name="Shape 47"/>
          <p:cNvSpPr/>
          <p:nvPr/>
        </p:nvSpPr>
        <p:spPr>
          <a:xfrm>
            <a:off x="5577840" y="4389120"/>
            <a:ext cx="1417320" cy="347472"/>
          </a:xfrm>
          <a:prstGeom prst="rect">
            <a:avLst/>
          </a:prstGeom>
          <a:solidFill>
            <a:srgbClr val="7B2FBE">
              <a:alpha val="70000"/>
            </a:srgbClr>
          </a:solidFill>
          <a:ln w="12700">
            <a:solidFill>
              <a:srgbClr val="7B2FBE"/>
            </a:solidFill>
            <a:prstDash val="solid"/>
          </a:ln>
        </p:spPr>
      </p:sp>
      <p:sp>
        <p:nvSpPr>
          <p:cNvPr id="50" name="Text 48"/>
          <p:cNvSpPr/>
          <p:nvPr/>
        </p:nvSpPr>
        <p:spPr>
          <a:xfrm>
            <a:off x="5577840" y="4389120"/>
            <a:ext cx="14173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Best: Server / GPU</a:t>
            </a:r>
            <a:endParaRPr lang="en-US" sz="900" dirty="0"/>
          </a:p>
        </p:txBody>
      </p:sp>
      <p:sp>
        <p:nvSpPr>
          <p:cNvPr id="51" name="Shape 49"/>
          <p:cNvSpPr/>
          <p:nvPr/>
        </p:nvSpPr>
        <p:spPr>
          <a:xfrm>
            <a:off x="7223760" y="1417320"/>
            <a:ext cx="1691640" cy="3520440"/>
          </a:xfrm>
          <a:prstGeom prst="rect">
            <a:avLst/>
          </a:prstGeom>
          <a:solidFill>
            <a:srgbClr val="0D1F3C"/>
          </a:solidFill>
          <a:ln w="25400">
            <a:solidFill>
              <a:srgbClr val="FF2D78"/>
            </a:solidFill>
            <a:prstDash val="solid"/>
          </a:ln>
        </p:spPr>
      </p:sp>
      <p:sp>
        <p:nvSpPr>
          <p:cNvPr id="52" name="Shape 50"/>
          <p:cNvSpPr/>
          <p:nvPr/>
        </p:nvSpPr>
        <p:spPr>
          <a:xfrm>
            <a:off x="7223760" y="1417320"/>
            <a:ext cx="1691640" cy="457200"/>
          </a:xfrm>
          <a:prstGeom prst="rect">
            <a:avLst/>
          </a:prstGeom>
          <a:solidFill>
            <a:srgbClr val="FF2D78">
              <a:alpha val="80000"/>
            </a:srgbClr>
          </a:solidFill>
          <a:ln/>
        </p:spPr>
      </p:sp>
      <p:sp>
        <p:nvSpPr>
          <p:cNvPr id="53" name="Text 51"/>
          <p:cNvSpPr/>
          <p:nvPr/>
        </p:nvSpPr>
        <p:spPr>
          <a:xfrm>
            <a:off x="7287768" y="1453896"/>
            <a:ext cx="1572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ResNet-101</a:t>
            </a:r>
            <a:endParaRPr lang="en-US" sz="1100" dirty="0"/>
          </a:p>
        </p:txBody>
      </p:sp>
      <p:sp>
        <p:nvSpPr>
          <p:cNvPr id="54" name="Text 52"/>
          <p:cNvSpPr/>
          <p:nvPr/>
        </p:nvSpPr>
        <p:spPr>
          <a:xfrm>
            <a:off x="7223760" y="193852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Params</a:t>
            </a:r>
            <a:endParaRPr lang="en-US" sz="800" dirty="0"/>
          </a:p>
        </p:txBody>
      </p:sp>
      <p:sp>
        <p:nvSpPr>
          <p:cNvPr id="55" name="Text 53"/>
          <p:cNvSpPr/>
          <p:nvPr/>
        </p:nvSpPr>
        <p:spPr>
          <a:xfrm>
            <a:off x="7223760" y="2130552"/>
            <a:ext cx="1691640" cy="320040"/>
          </a:xfrm>
          <a:prstGeom prst="rect">
            <a:avLst/>
          </a:prstGeom>
          <a:noFill/>
          <a:ln/>
        </p:spPr>
        <p:txBody>
          <a:bodyPr wrap="square" lIns="0" tIns="0" rIns="0" bIns="0" rtlCol="0" anchor="ctr"/>
          <a:lstStyle/>
          <a:p>
            <a:pPr algn="ctr" indent="0" marL="0">
              <a:buNone/>
            </a:pPr>
            <a:r>
              <a:rPr lang="en-US" sz="1800" b="1" dirty="0">
                <a:solidFill>
                  <a:srgbClr val="FF2D78"/>
                </a:solidFill>
                <a:latin typeface="Calibri" pitchFamily="34" charset="0"/>
                <a:ea typeface="Calibri" pitchFamily="34" charset="-122"/>
                <a:cs typeface="Calibri" pitchFamily="34" charset="-120"/>
              </a:rPr>
              <a:t>44.5M</a:t>
            </a:r>
            <a:endParaRPr lang="en-US" sz="1800" dirty="0"/>
          </a:p>
        </p:txBody>
      </p:sp>
      <p:sp>
        <p:nvSpPr>
          <p:cNvPr id="56" name="Text 54"/>
          <p:cNvSpPr/>
          <p:nvPr/>
        </p:nvSpPr>
        <p:spPr>
          <a:xfrm>
            <a:off x="7223760" y="2487168"/>
            <a:ext cx="1691640" cy="201168"/>
          </a:xfrm>
          <a:prstGeom prst="rect">
            <a:avLst/>
          </a:prstGeom>
          <a:noFill/>
          <a:ln/>
        </p:spPr>
        <p:txBody>
          <a:bodyPr wrap="square" lIns="0" tIns="0" rIns="0" bIns="0" rtlCol="0" anchor="ctr"/>
          <a:lstStyle/>
          <a:p>
            <a:pPr algn="ctr" indent="0" marL="0">
              <a:buNone/>
            </a:pPr>
            <a:r>
              <a:rPr lang="en-US" sz="800" dirty="0">
                <a:solidFill>
                  <a:srgbClr val="8899BB"/>
                </a:solidFill>
                <a:latin typeface="Calibri" pitchFamily="34" charset="0"/>
                <a:ea typeface="Calibri" pitchFamily="34" charset="-122"/>
                <a:cs typeface="Calibri" pitchFamily="34" charset="-120"/>
              </a:rPr>
              <a:t>Model Size</a:t>
            </a:r>
            <a:endParaRPr lang="en-US" sz="800" dirty="0"/>
          </a:p>
        </p:txBody>
      </p:sp>
      <p:sp>
        <p:nvSpPr>
          <p:cNvPr id="57" name="Text 55"/>
          <p:cNvSpPr/>
          <p:nvPr/>
        </p:nvSpPr>
        <p:spPr>
          <a:xfrm>
            <a:off x="7223760" y="2679192"/>
            <a:ext cx="169164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170 MB</a:t>
            </a:r>
            <a:endParaRPr lang="en-US" sz="1600" dirty="0"/>
          </a:p>
        </p:txBody>
      </p:sp>
      <p:sp>
        <p:nvSpPr>
          <p:cNvPr id="58" name="Shape 56"/>
          <p:cNvSpPr/>
          <p:nvPr/>
        </p:nvSpPr>
        <p:spPr>
          <a:xfrm>
            <a:off x="7360920" y="2999232"/>
            <a:ext cx="1417320" cy="0"/>
          </a:xfrm>
          <a:prstGeom prst="line">
            <a:avLst/>
          </a:prstGeom>
          <a:noFill/>
          <a:ln w="6350">
            <a:solidFill>
              <a:srgbClr val="FF2D78"/>
            </a:solidFill>
            <a:prstDash val="solid"/>
          </a:ln>
        </p:spPr>
      </p:sp>
      <p:sp>
        <p:nvSpPr>
          <p:cNvPr id="59" name="Text 57"/>
          <p:cNvSpPr/>
          <p:nvPr/>
        </p:nvSpPr>
        <p:spPr>
          <a:xfrm>
            <a:off x="7296912" y="3108960"/>
            <a:ext cx="1572768" cy="1188720"/>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Η πιο ακριβής επιλογή</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101-layer deep residual network</a:t>
            </a:r>
            <a:endParaRPr lang="en-US" sz="850" dirty="0"/>
          </a:p>
          <a:p>
            <a:pPr indent="0" marL="0">
              <a:buNone/>
            </a:pPr>
            <a:r>
              <a:rPr lang="en-US" sz="850" dirty="0">
                <a:solidFill>
                  <a:srgbClr val="AABBCC"/>
                </a:solidFill>
                <a:latin typeface="Calibri" pitchFamily="34" charset="0"/>
                <a:ea typeface="Calibri" pitchFamily="34" charset="-122"/>
                <a:cs typeface="Calibri" pitchFamily="34" charset="-120"/>
              </a:rPr>
              <a:t>Ιδανικό για απαιτητικά tasks</a:t>
            </a:r>
            <a:endParaRPr lang="en-US" sz="850" dirty="0"/>
          </a:p>
        </p:txBody>
      </p:sp>
      <p:sp>
        <p:nvSpPr>
          <p:cNvPr id="60" name="Shape 58"/>
          <p:cNvSpPr/>
          <p:nvPr/>
        </p:nvSpPr>
        <p:spPr>
          <a:xfrm>
            <a:off x="7360920" y="4389120"/>
            <a:ext cx="1417320" cy="347472"/>
          </a:xfrm>
          <a:prstGeom prst="rect">
            <a:avLst/>
          </a:prstGeom>
          <a:solidFill>
            <a:srgbClr val="FF2D78">
              <a:alpha val="70000"/>
            </a:srgbClr>
          </a:solidFill>
          <a:ln w="12700">
            <a:solidFill>
              <a:srgbClr val="FF2D78"/>
            </a:solidFill>
            <a:prstDash val="solid"/>
          </a:ln>
        </p:spPr>
      </p:sp>
      <p:sp>
        <p:nvSpPr>
          <p:cNvPr id="61" name="Text 59"/>
          <p:cNvSpPr/>
          <p:nvPr/>
        </p:nvSpPr>
        <p:spPr>
          <a:xfrm>
            <a:off x="7360920" y="4389120"/>
            <a:ext cx="141732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Best: High Accuracy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FF9D"/>
            </a:solidFill>
            <a:prstDash val="solid"/>
          </a:ln>
        </p:spPr>
      </p:sp>
      <p:sp>
        <p:nvSpPr>
          <p:cNvPr id="3" name="Shape 1"/>
          <p:cNvSpPr/>
          <p:nvPr/>
        </p:nvSpPr>
        <p:spPr>
          <a:xfrm>
            <a:off x="0" y="0"/>
            <a:ext cx="73152" cy="822960"/>
          </a:xfrm>
          <a:prstGeom prst="rect">
            <a:avLst/>
          </a:prstGeom>
          <a:solidFill>
            <a:srgbClr val="00FF9D"/>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06 — Διαδικασία Εκπαίδευσης</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FF9D"/>
                </a:solidFill>
                <a:latin typeface="Calibri" pitchFamily="34" charset="0"/>
                <a:ea typeface="Calibri" pitchFamily="34" charset="-122"/>
                <a:cs typeface="Calibri" pitchFamily="34" charset="-120"/>
              </a:rPr>
              <a:t>YOLO &amp; CNN Training Pipeline</a:t>
            </a:r>
            <a:endParaRPr lang="en-US" sz="1100" dirty="0"/>
          </a:p>
        </p:txBody>
      </p:sp>
      <p:sp>
        <p:nvSpPr>
          <p:cNvPr id="6" name="Shape 4"/>
          <p:cNvSpPr/>
          <p:nvPr/>
        </p:nvSpPr>
        <p:spPr>
          <a:xfrm>
            <a:off x="182880" y="960120"/>
            <a:ext cx="1115568" cy="1005840"/>
          </a:xfrm>
          <a:prstGeom prst="rect">
            <a:avLst/>
          </a:prstGeom>
          <a:solidFill>
            <a:srgbClr val="0D1F3C"/>
          </a:solidFill>
          <a:ln w="25400">
            <a:solidFill>
              <a:srgbClr val="00D4FF"/>
            </a:solidFill>
            <a:prstDash val="solid"/>
          </a:ln>
        </p:spPr>
      </p:sp>
      <p:pic>
        <p:nvPicPr>
          <p:cNvPr id="7" name="Image 0" descr="preencoded.png">    </p:cNvPr>
          <p:cNvPicPr>
            <a:picLocks noChangeAspect="1"/>
          </p:cNvPicPr>
          <p:nvPr/>
        </p:nvPicPr>
        <p:blipFill>
          <a:blip r:embed="rId1"/>
          <a:stretch>
            <a:fillRect/>
          </a:stretch>
        </p:blipFill>
        <p:spPr>
          <a:xfrm>
            <a:off x="502920" y="1024128"/>
            <a:ext cx="457200" cy="457200"/>
          </a:xfrm>
          <a:prstGeom prst="rect">
            <a:avLst/>
          </a:prstGeom>
        </p:spPr>
      </p:pic>
      <p:sp>
        <p:nvSpPr>
          <p:cNvPr id="8" name="Text 5"/>
          <p:cNvSpPr/>
          <p:nvPr/>
        </p:nvSpPr>
        <p:spPr>
          <a:xfrm>
            <a:off x="182880" y="1508760"/>
            <a:ext cx="1115568" cy="402336"/>
          </a:xfrm>
          <a:prstGeom prst="rect">
            <a:avLst/>
          </a:prstGeom>
          <a:noFill/>
          <a:ln/>
        </p:spPr>
        <p:txBody>
          <a:bodyPr wrap="square" lIns="0" tIns="0" rIns="0" bIns="0" rtlCol="0" anchor="ctr"/>
          <a:lstStyle/>
          <a:p>
            <a:pPr algn="ctr" indent="0" marL="0">
              <a:buNone/>
            </a:pPr>
            <a:r>
              <a:rPr lang="en-US" sz="950" b="1" dirty="0">
                <a:solidFill>
                  <a:srgbClr val="00D4FF"/>
                </a:solidFill>
                <a:latin typeface="Calibri" pitchFamily="34" charset="0"/>
                <a:ea typeface="Calibri" pitchFamily="34" charset="-122"/>
                <a:cs typeface="Calibri" pitchFamily="34" charset="-120"/>
              </a:rPr>
              <a:t>Dataset</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Load</a:t>
            </a:r>
            <a:endParaRPr lang="en-US" sz="950" dirty="0"/>
          </a:p>
        </p:txBody>
      </p:sp>
      <p:sp>
        <p:nvSpPr>
          <p:cNvPr id="9" name="Shape 6"/>
          <p:cNvSpPr/>
          <p:nvPr/>
        </p:nvSpPr>
        <p:spPr>
          <a:xfrm>
            <a:off x="1298448" y="1463040"/>
            <a:ext cx="137160" cy="0"/>
          </a:xfrm>
          <a:prstGeom prst="line">
            <a:avLst/>
          </a:prstGeom>
          <a:noFill/>
          <a:ln w="25400">
            <a:solidFill>
              <a:srgbClr val="8899BB"/>
            </a:solidFill>
            <a:prstDash val="solid"/>
          </a:ln>
        </p:spPr>
      </p:sp>
      <p:sp>
        <p:nvSpPr>
          <p:cNvPr id="10" name="Shape 7"/>
          <p:cNvSpPr/>
          <p:nvPr/>
        </p:nvSpPr>
        <p:spPr>
          <a:xfrm>
            <a:off x="1435608" y="960120"/>
            <a:ext cx="1115568" cy="1005840"/>
          </a:xfrm>
          <a:prstGeom prst="rect">
            <a:avLst/>
          </a:prstGeom>
          <a:solidFill>
            <a:srgbClr val="0D1F3C"/>
          </a:solidFill>
          <a:ln w="25400">
            <a:solidFill>
              <a:srgbClr val="7B2FBE"/>
            </a:solidFill>
            <a:prstDash val="solid"/>
          </a:ln>
        </p:spPr>
      </p:sp>
      <p:pic>
        <p:nvPicPr>
          <p:cNvPr id="11" name="Image 1" descr="preencoded.png">    </p:cNvPr>
          <p:cNvPicPr>
            <a:picLocks noChangeAspect="1"/>
          </p:cNvPicPr>
          <p:nvPr/>
        </p:nvPicPr>
        <p:blipFill>
          <a:blip r:embed="rId2"/>
          <a:stretch>
            <a:fillRect/>
          </a:stretch>
        </p:blipFill>
        <p:spPr>
          <a:xfrm>
            <a:off x="1755648" y="1024128"/>
            <a:ext cx="457200" cy="457200"/>
          </a:xfrm>
          <a:prstGeom prst="rect">
            <a:avLst/>
          </a:prstGeom>
        </p:spPr>
      </p:pic>
      <p:sp>
        <p:nvSpPr>
          <p:cNvPr id="12" name="Text 8"/>
          <p:cNvSpPr/>
          <p:nvPr/>
        </p:nvSpPr>
        <p:spPr>
          <a:xfrm>
            <a:off x="1435608" y="1508760"/>
            <a:ext cx="1115568" cy="402336"/>
          </a:xfrm>
          <a:prstGeom prst="rect">
            <a:avLst/>
          </a:prstGeom>
          <a:noFill/>
          <a:ln/>
        </p:spPr>
        <p:txBody>
          <a:bodyPr wrap="square" lIns="0" tIns="0" rIns="0" bIns="0" rtlCol="0" anchor="ctr"/>
          <a:lstStyle/>
          <a:p>
            <a:pPr algn="ctr" indent="0" marL="0">
              <a:buNone/>
            </a:pPr>
            <a:r>
              <a:rPr lang="en-US" sz="950" b="1" dirty="0">
                <a:solidFill>
                  <a:srgbClr val="7B2FBE"/>
                </a:solidFill>
                <a:latin typeface="Calibri" pitchFamily="34" charset="0"/>
                <a:ea typeface="Calibri" pitchFamily="34" charset="-122"/>
                <a:cs typeface="Calibri" pitchFamily="34" charset="-120"/>
              </a:rPr>
              <a:t>Model</a:t>
            </a:r>
            <a:endParaRPr lang="en-US" sz="950" dirty="0"/>
          </a:p>
          <a:p>
            <a:pPr algn="ctr" indent="0" marL="0">
              <a:buNone/>
            </a:pPr>
            <a:r>
              <a:rPr lang="en-US" sz="950" b="1" dirty="0">
                <a:solidFill>
                  <a:srgbClr val="7B2FBE"/>
                </a:solidFill>
                <a:latin typeface="Calibri" pitchFamily="34" charset="0"/>
                <a:ea typeface="Calibri" pitchFamily="34" charset="-122"/>
                <a:cs typeface="Calibri" pitchFamily="34" charset="-120"/>
              </a:rPr>
              <a:t>Select</a:t>
            </a:r>
            <a:endParaRPr lang="en-US" sz="950" dirty="0"/>
          </a:p>
        </p:txBody>
      </p:sp>
      <p:sp>
        <p:nvSpPr>
          <p:cNvPr id="13" name="Shape 9"/>
          <p:cNvSpPr/>
          <p:nvPr/>
        </p:nvSpPr>
        <p:spPr>
          <a:xfrm>
            <a:off x="2551176" y="1463040"/>
            <a:ext cx="137160" cy="0"/>
          </a:xfrm>
          <a:prstGeom prst="line">
            <a:avLst/>
          </a:prstGeom>
          <a:noFill/>
          <a:ln w="25400">
            <a:solidFill>
              <a:srgbClr val="8899BB"/>
            </a:solidFill>
            <a:prstDash val="solid"/>
          </a:ln>
        </p:spPr>
      </p:sp>
      <p:sp>
        <p:nvSpPr>
          <p:cNvPr id="14" name="Shape 10"/>
          <p:cNvSpPr/>
          <p:nvPr/>
        </p:nvSpPr>
        <p:spPr>
          <a:xfrm>
            <a:off x="2688336" y="960120"/>
            <a:ext cx="1115568" cy="1005840"/>
          </a:xfrm>
          <a:prstGeom prst="rect">
            <a:avLst/>
          </a:prstGeom>
          <a:solidFill>
            <a:srgbClr val="0D1F3C"/>
          </a:solidFill>
          <a:ln w="25400">
            <a:solidFill>
              <a:srgbClr val="00FF9D"/>
            </a:solidFill>
            <a:prstDash val="solid"/>
          </a:ln>
        </p:spPr>
      </p:sp>
      <p:pic>
        <p:nvPicPr>
          <p:cNvPr id="15" name="Image 2" descr="preencoded.png">    </p:cNvPr>
          <p:cNvPicPr>
            <a:picLocks noChangeAspect="1"/>
          </p:cNvPicPr>
          <p:nvPr/>
        </p:nvPicPr>
        <p:blipFill>
          <a:blip r:embed="rId3"/>
          <a:stretch>
            <a:fillRect/>
          </a:stretch>
        </p:blipFill>
        <p:spPr>
          <a:xfrm>
            <a:off x="3008376" y="1024128"/>
            <a:ext cx="457200" cy="457200"/>
          </a:xfrm>
          <a:prstGeom prst="rect">
            <a:avLst/>
          </a:prstGeom>
        </p:spPr>
      </p:pic>
      <p:sp>
        <p:nvSpPr>
          <p:cNvPr id="16" name="Text 11"/>
          <p:cNvSpPr/>
          <p:nvPr/>
        </p:nvSpPr>
        <p:spPr>
          <a:xfrm>
            <a:off x="2688336" y="1508760"/>
            <a:ext cx="1115568" cy="402336"/>
          </a:xfrm>
          <a:prstGeom prst="rect">
            <a:avLst/>
          </a:prstGeom>
          <a:noFill/>
          <a:ln/>
        </p:spPr>
        <p:txBody>
          <a:bodyPr wrap="square" lIns="0" tIns="0" rIns="0" bIns="0" rtlCol="0" anchor="ctr"/>
          <a:lstStyle/>
          <a:p>
            <a:pPr algn="ctr" indent="0" marL="0">
              <a:buNone/>
            </a:pPr>
            <a:r>
              <a:rPr lang="en-US" sz="950" b="1" dirty="0">
                <a:solidFill>
                  <a:srgbClr val="00FF9D"/>
                </a:solidFill>
                <a:latin typeface="Calibri" pitchFamily="34" charset="0"/>
                <a:ea typeface="Calibri" pitchFamily="34" charset="-122"/>
                <a:cs typeface="Calibri" pitchFamily="34" charset="-120"/>
              </a:rPr>
              <a:t>Config</a:t>
            </a:r>
            <a:endParaRPr lang="en-US" sz="950" dirty="0"/>
          </a:p>
          <a:p>
            <a:pPr algn="ctr" indent="0" marL="0">
              <a:buNone/>
            </a:pPr>
            <a:r>
              <a:rPr lang="en-US" sz="950" b="1" dirty="0">
                <a:solidFill>
                  <a:srgbClr val="00FF9D"/>
                </a:solidFill>
                <a:latin typeface="Calibri" pitchFamily="34" charset="0"/>
                <a:ea typeface="Calibri" pitchFamily="34" charset="-122"/>
                <a:cs typeface="Calibri" pitchFamily="34" charset="-120"/>
              </a:rPr>
              <a:t>Setup</a:t>
            </a:r>
            <a:endParaRPr lang="en-US" sz="950" dirty="0"/>
          </a:p>
        </p:txBody>
      </p:sp>
      <p:sp>
        <p:nvSpPr>
          <p:cNvPr id="17" name="Shape 12"/>
          <p:cNvSpPr/>
          <p:nvPr/>
        </p:nvSpPr>
        <p:spPr>
          <a:xfrm>
            <a:off x="3803904" y="1463040"/>
            <a:ext cx="137160" cy="0"/>
          </a:xfrm>
          <a:prstGeom prst="line">
            <a:avLst/>
          </a:prstGeom>
          <a:noFill/>
          <a:ln w="25400">
            <a:solidFill>
              <a:srgbClr val="8899BB"/>
            </a:solidFill>
            <a:prstDash val="solid"/>
          </a:ln>
        </p:spPr>
      </p:sp>
      <p:sp>
        <p:nvSpPr>
          <p:cNvPr id="18" name="Shape 13"/>
          <p:cNvSpPr/>
          <p:nvPr/>
        </p:nvSpPr>
        <p:spPr>
          <a:xfrm>
            <a:off x="3941064" y="960120"/>
            <a:ext cx="1115568" cy="1005840"/>
          </a:xfrm>
          <a:prstGeom prst="rect">
            <a:avLst/>
          </a:prstGeom>
          <a:solidFill>
            <a:srgbClr val="0D1F3C"/>
          </a:solidFill>
          <a:ln w="25400">
            <a:solidFill>
              <a:srgbClr val="FF6B35"/>
            </a:solidFill>
            <a:prstDash val="solid"/>
          </a:ln>
        </p:spPr>
      </p:sp>
      <p:pic>
        <p:nvPicPr>
          <p:cNvPr id="19" name="Image 3" descr="preencoded.png">    </p:cNvPr>
          <p:cNvPicPr>
            <a:picLocks noChangeAspect="1"/>
          </p:cNvPicPr>
          <p:nvPr/>
        </p:nvPicPr>
        <p:blipFill>
          <a:blip r:embed="rId4"/>
          <a:stretch>
            <a:fillRect/>
          </a:stretch>
        </p:blipFill>
        <p:spPr>
          <a:xfrm>
            <a:off x="4261104" y="1024128"/>
            <a:ext cx="457200" cy="457200"/>
          </a:xfrm>
          <a:prstGeom prst="rect">
            <a:avLst/>
          </a:prstGeom>
        </p:spPr>
      </p:pic>
      <p:sp>
        <p:nvSpPr>
          <p:cNvPr id="20" name="Text 14"/>
          <p:cNvSpPr/>
          <p:nvPr/>
        </p:nvSpPr>
        <p:spPr>
          <a:xfrm>
            <a:off x="3941064" y="1508760"/>
            <a:ext cx="1115568" cy="402336"/>
          </a:xfrm>
          <a:prstGeom prst="rect">
            <a:avLst/>
          </a:prstGeom>
          <a:noFill/>
          <a:ln/>
        </p:spPr>
        <p:txBody>
          <a:bodyPr wrap="square" lIns="0" tIns="0" rIns="0" bIns="0" rtlCol="0" anchor="ctr"/>
          <a:lstStyle/>
          <a:p>
            <a:pPr algn="ctr" indent="0" marL="0">
              <a:buNone/>
            </a:pPr>
            <a:r>
              <a:rPr lang="en-US" sz="950" b="1" dirty="0">
                <a:solidFill>
                  <a:srgbClr val="FF6B35"/>
                </a:solidFill>
                <a:latin typeface="Calibri" pitchFamily="34" charset="0"/>
                <a:ea typeface="Calibri" pitchFamily="34" charset="-122"/>
                <a:cs typeface="Calibri" pitchFamily="34" charset="-120"/>
              </a:rPr>
              <a:t>CUDA</a:t>
            </a:r>
            <a:endParaRPr lang="en-US" sz="950" dirty="0"/>
          </a:p>
          <a:p>
            <a:pPr algn="ctr" indent="0" marL="0">
              <a:buNone/>
            </a:pPr>
            <a:r>
              <a:rPr lang="en-US" sz="950" b="1" dirty="0">
                <a:solidFill>
                  <a:srgbClr val="FF6B35"/>
                </a:solidFill>
                <a:latin typeface="Calibri" pitchFamily="34" charset="0"/>
                <a:ea typeface="Calibri" pitchFamily="34" charset="-122"/>
                <a:cs typeface="Calibri" pitchFamily="34" charset="-120"/>
              </a:rPr>
              <a:t>Check</a:t>
            </a:r>
            <a:endParaRPr lang="en-US" sz="950" dirty="0"/>
          </a:p>
        </p:txBody>
      </p:sp>
      <p:sp>
        <p:nvSpPr>
          <p:cNvPr id="21" name="Shape 15"/>
          <p:cNvSpPr/>
          <p:nvPr/>
        </p:nvSpPr>
        <p:spPr>
          <a:xfrm>
            <a:off x="5056632" y="1463040"/>
            <a:ext cx="137160" cy="0"/>
          </a:xfrm>
          <a:prstGeom prst="line">
            <a:avLst/>
          </a:prstGeom>
          <a:noFill/>
          <a:ln w="25400">
            <a:solidFill>
              <a:srgbClr val="8899BB"/>
            </a:solidFill>
            <a:prstDash val="solid"/>
          </a:ln>
        </p:spPr>
      </p:sp>
      <p:sp>
        <p:nvSpPr>
          <p:cNvPr id="22" name="Shape 16"/>
          <p:cNvSpPr/>
          <p:nvPr/>
        </p:nvSpPr>
        <p:spPr>
          <a:xfrm>
            <a:off x="5193792" y="960120"/>
            <a:ext cx="1115568" cy="1005840"/>
          </a:xfrm>
          <a:prstGeom prst="rect">
            <a:avLst/>
          </a:prstGeom>
          <a:solidFill>
            <a:srgbClr val="0D1F3C"/>
          </a:solidFill>
          <a:ln w="25400">
            <a:solidFill>
              <a:srgbClr val="FF2D78"/>
            </a:solidFill>
            <a:prstDash val="solid"/>
          </a:ln>
        </p:spPr>
      </p:sp>
      <p:pic>
        <p:nvPicPr>
          <p:cNvPr id="23" name="Image 4" descr="preencoded.png">    </p:cNvPr>
          <p:cNvPicPr>
            <a:picLocks noChangeAspect="1"/>
          </p:cNvPicPr>
          <p:nvPr/>
        </p:nvPicPr>
        <p:blipFill>
          <a:blip r:embed="rId5"/>
          <a:stretch>
            <a:fillRect/>
          </a:stretch>
        </p:blipFill>
        <p:spPr>
          <a:xfrm>
            <a:off x="5513832" y="1024128"/>
            <a:ext cx="457200" cy="457200"/>
          </a:xfrm>
          <a:prstGeom prst="rect">
            <a:avLst/>
          </a:prstGeom>
        </p:spPr>
      </p:pic>
      <p:sp>
        <p:nvSpPr>
          <p:cNvPr id="24" name="Text 17"/>
          <p:cNvSpPr/>
          <p:nvPr/>
        </p:nvSpPr>
        <p:spPr>
          <a:xfrm>
            <a:off x="5193792" y="1508760"/>
            <a:ext cx="1115568" cy="402336"/>
          </a:xfrm>
          <a:prstGeom prst="rect">
            <a:avLst/>
          </a:prstGeom>
          <a:noFill/>
          <a:ln/>
        </p:spPr>
        <p:txBody>
          <a:bodyPr wrap="square" lIns="0" tIns="0" rIns="0" bIns="0" rtlCol="0" anchor="ctr"/>
          <a:lstStyle/>
          <a:p>
            <a:pPr algn="ctr" indent="0" marL="0">
              <a:buNone/>
            </a:pPr>
            <a:r>
              <a:rPr lang="en-US" sz="950" b="1" dirty="0">
                <a:solidFill>
                  <a:srgbClr val="FF2D78"/>
                </a:solidFill>
                <a:latin typeface="Calibri" pitchFamily="34" charset="0"/>
                <a:ea typeface="Calibri" pitchFamily="34" charset="-122"/>
                <a:cs typeface="Calibri" pitchFamily="34" charset="-120"/>
              </a:rPr>
              <a:t>Training</a:t>
            </a:r>
            <a:endParaRPr lang="en-US" sz="950" dirty="0"/>
          </a:p>
          <a:p>
            <a:pPr algn="ctr" indent="0" marL="0">
              <a:buNone/>
            </a:pPr>
            <a:r>
              <a:rPr lang="en-US" sz="950" b="1" dirty="0">
                <a:solidFill>
                  <a:srgbClr val="FF2D78"/>
                </a:solidFill>
                <a:latin typeface="Calibri" pitchFamily="34" charset="0"/>
                <a:ea typeface="Calibri" pitchFamily="34" charset="-122"/>
                <a:cs typeface="Calibri" pitchFamily="34" charset="-120"/>
              </a:rPr>
              <a:t>Loop</a:t>
            </a:r>
            <a:endParaRPr lang="en-US" sz="950" dirty="0"/>
          </a:p>
        </p:txBody>
      </p:sp>
      <p:sp>
        <p:nvSpPr>
          <p:cNvPr id="25" name="Shape 18"/>
          <p:cNvSpPr/>
          <p:nvPr/>
        </p:nvSpPr>
        <p:spPr>
          <a:xfrm>
            <a:off x="6309360" y="1463040"/>
            <a:ext cx="137160" cy="0"/>
          </a:xfrm>
          <a:prstGeom prst="line">
            <a:avLst/>
          </a:prstGeom>
          <a:noFill/>
          <a:ln w="25400">
            <a:solidFill>
              <a:srgbClr val="8899BB"/>
            </a:solidFill>
            <a:prstDash val="solid"/>
          </a:ln>
        </p:spPr>
      </p:sp>
      <p:sp>
        <p:nvSpPr>
          <p:cNvPr id="26" name="Shape 19"/>
          <p:cNvSpPr/>
          <p:nvPr/>
        </p:nvSpPr>
        <p:spPr>
          <a:xfrm>
            <a:off x="6446520" y="960120"/>
            <a:ext cx="1115568" cy="1005840"/>
          </a:xfrm>
          <a:prstGeom prst="rect">
            <a:avLst/>
          </a:prstGeom>
          <a:solidFill>
            <a:srgbClr val="0D1F3C"/>
          </a:solidFill>
          <a:ln w="25400">
            <a:solidFill>
              <a:srgbClr val="FFD700"/>
            </a:solidFill>
            <a:prstDash val="solid"/>
          </a:ln>
        </p:spPr>
      </p:sp>
      <p:pic>
        <p:nvPicPr>
          <p:cNvPr id="27" name="Image 5" descr="preencoded.png">    </p:cNvPr>
          <p:cNvPicPr>
            <a:picLocks noChangeAspect="1"/>
          </p:cNvPicPr>
          <p:nvPr/>
        </p:nvPicPr>
        <p:blipFill>
          <a:blip r:embed="rId6"/>
          <a:stretch>
            <a:fillRect/>
          </a:stretch>
        </p:blipFill>
        <p:spPr>
          <a:xfrm>
            <a:off x="6766560" y="1024128"/>
            <a:ext cx="457200" cy="457200"/>
          </a:xfrm>
          <a:prstGeom prst="rect">
            <a:avLst/>
          </a:prstGeom>
        </p:spPr>
      </p:pic>
      <p:sp>
        <p:nvSpPr>
          <p:cNvPr id="28" name="Text 20"/>
          <p:cNvSpPr/>
          <p:nvPr/>
        </p:nvSpPr>
        <p:spPr>
          <a:xfrm>
            <a:off x="6446520" y="1508760"/>
            <a:ext cx="1115568" cy="402336"/>
          </a:xfrm>
          <a:prstGeom prst="rect">
            <a:avLst/>
          </a:prstGeom>
          <a:noFill/>
          <a:ln/>
        </p:spPr>
        <p:txBody>
          <a:bodyPr wrap="square" lIns="0" tIns="0" rIns="0" bIns="0" rtlCol="0" anchor="ctr"/>
          <a:lstStyle/>
          <a:p>
            <a:pPr algn="ctr" indent="0" marL="0">
              <a:buNone/>
            </a:pPr>
            <a:r>
              <a:rPr lang="en-US" sz="950" b="1" dirty="0">
                <a:solidFill>
                  <a:srgbClr val="FFD700"/>
                </a:solidFill>
                <a:latin typeface="Calibri" pitchFamily="34" charset="0"/>
                <a:ea typeface="Calibri" pitchFamily="34" charset="-122"/>
                <a:cs typeface="Calibri" pitchFamily="34" charset="-120"/>
              </a:rPr>
              <a:t>Metrics</a:t>
            </a:r>
            <a:endParaRPr lang="en-US" sz="950" dirty="0"/>
          </a:p>
          <a:p>
            <a:pPr algn="ctr" indent="0" marL="0">
              <a:buNone/>
            </a:pPr>
            <a:r>
              <a:rPr lang="en-US" sz="950" b="1" dirty="0">
                <a:solidFill>
                  <a:srgbClr val="FFD700"/>
                </a:solidFill>
                <a:latin typeface="Calibri" pitchFamily="34" charset="0"/>
                <a:ea typeface="Calibri" pitchFamily="34" charset="-122"/>
                <a:cs typeface="Calibri" pitchFamily="34" charset="-120"/>
              </a:rPr>
              <a:t>Eval</a:t>
            </a:r>
            <a:endParaRPr lang="en-US" sz="950" dirty="0"/>
          </a:p>
        </p:txBody>
      </p:sp>
      <p:sp>
        <p:nvSpPr>
          <p:cNvPr id="29" name="Shape 21"/>
          <p:cNvSpPr/>
          <p:nvPr/>
        </p:nvSpPr>
        <p:spPr>
          <a:xfrm>
            <a:off x="7562088" y="1463040"/>
            <a:ext cx="137160" cy="0"/>
          </a:xfrm>
          <a:prstGeom prst="line">
            <a:avLst/>
          </a:prstGeom>
          <a:noFill/>
          <a:ln w="25400">
            <a:solidFill>
              <a:srgbClr val="8899BB"/>
            </a:solidFill>
            <a:prstDash val="solid"/>
          </a:ln>
        </p:spPr>
      </p:sp>
      <p:sp>
        <p:nvSpPr>
          <p:cNvPr id="30" name="Shape 22"/>
          <p:cNvSpPr/>
          <p:nvPr/>
        </p:nvSpPr>
        <p:spPr>
          <a:xfrm>
            <a:off x="7699248" y="960120"/>
            <a:ext cx="1115568" cy="1005840"/>
          </a:xfrm>
          <a:prstGeom prst="rect">
            <a:avLst/>
          </a:prstGeom>
          <a:solidFill>
            <a:srgbClr val="0D1F3C"/>
          </a:solidFill>
          <a:ln w="25400">
            <a:solidFill>
              <a:srgbClr val="00D4FF"/>
            </a:solidFill>
            <a:prstDash val="solid"/>
          </a:ln>
        </p:spPr>
      </p:sp>
      <p:pic>
        <p:nvPicPr>
          <p:cNvPr id="31" name="Image 6" descr="preencoded.png">    </p:cNvPr>
          <p:cNvPicPr>
            <a:picLocks noChangeAspect="1"/>
          </p:cNvPicPr>
          <p:nvPr/>
        </p:nvPicPr>
        <p:blipFill>
          <a:blip r:embed="rId7"/>
          <a:stretch>
            <a:fillRect/>
          </a:stretch>
        </p:blipFill>
        <p:spPr>
          <a:xfrm>
            <a:off x="8019288" y="1024128"/>
            <a:ext cx="457200" cy="457200"/>
          </a:xfrm>
          <a:prstGeom prst="rect">
            <a:avLst/>
          </a:prstGeom>
        </p:spPr>
      </p:pic>
      <p:sp>
        <p:nvSpPr>
          <p:cNvPr id="32" name="Text 23"/>
          <p:cNvSpPr/>
          <p:nvPr/>
        </p:nvSpPr>
        <p:spPr>
          <a:xfrm>
            <a:off x="7699248" y="1508760"/>
            <a:ext cx="1115568" cy="402336"/>
          </a:xfrm>
          <a:prstGeom prst="rect">
            <a:avLst/>
          </a:prstGeom>
          <a:noFill/>
          <a:ln/>
        </p:spPr>
        <p:txBody>
          <a:bodyPr wrap="square" lIns="0" tIns="0" rIns="0" bIns="0" rtlCol="0" anchor="ctr"/>
          <a:lstStyle/>
          <a:p>
            <a:pPr algn="ctr" indent="0" marL="0">
              <a:buNone/>
            </a:pPr>
            <a:r>
              <a:rPr lang="en-US" sz="950" b="1" dirty="0">
                <a:solidFill>
                  <a:srgbClr val="00D4FF"/>
                </a:solidFill>
                <a:latin typeface="Calibri" pitchFamily="34" charset="0"/>
                <a:ea typeface="Calibri" pitchFamily="34" charset="-122"/>
                <a:cs typeface="Calibri" pitchFamily="34" charset="-120"/>
              </a:rPr>
              <a:t>Export</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Ready</a:t>
            </a:r>
            <a:endParaRPr lang="en-US" sz="950" dirty="0"/>
          </a:p>
        </p:txBody>
      </p:sp>
      <p:sp>
        <p:nvSpPr>
          <p:cNvPr id="33" name="Text 24"/>
          <p:cNvSpPr/>
          <p:nvPr/>
        </p:nvSpPr>
        <p:spPr>
          <a:xfrm>
            <a:off x="274320" y="2148840"/>
            <a:ext cx="4114800" cy="347472"/>
          </a:xfrm>
          <a:prstGeom prst="rect">
            <a:avLst/>
          </a:prstGeom>
          <a:noFill/>
          <a:ln/>
        </p:spPr>
        <p:txBody>
          <a:bodyPr wrap="square" lIns="0" tIns="0" rIns="0" bIns="0" rtlCol="0" anchor="ctr"/>
          <a:lstStyle/>
          <a:p>
            <a:pPr indent="0" marL="0">
              <a:buNone/>
            </a:pPr>
            <a:r>
              <a:rPr lang="en-US" sz="1400" b="1" dirty="0">
                <a:solidFill>
                  <a:srgbClr val="00FF9D"/>
                </a:solidFill>
                <a:latin typeface="Calibri" pitchFamily="34" charset="0"/>
                <a:ea typeface="Calibri" pitchFamily="34" charset="-122"/>
                <a:cs typeface="Calibri" pitchFamily="34" charset="-120"/>
              </a:rPr>
              <a:t>Παράμετροι Εκπαίδευσης</a:t>
            </a:r>
            <a:endParaRPr lang="en-US" sz="1400" dirty="0"/>
          </a:p>
        </p:txBody>
      </p:sp>
      <p:sp>
        <p:nvSpPr>
          <p:cNvPr id="34" name="Shape 25"/>
          <p:cNvSpPr/>
          <p:nvPr/>
        </p:nvSpPr>
        <p:spPr>
          <a:xfrm>
            <a:off x="182880" y="2606040"/>
            <a:ext cx="4114800" cy="594360"/>
          </a:xfrm>
          <a:prstGeom prst="rect">
            <a:avLst/>
          </a:prstGeom>
          <a:solidFill>
            <a:srgbClr val="0D1F3C"/>
          </a:solidFill>
          <a:ln w="12700">
            <a:solidFill>
              <a:srgbClr val="00D4FF"/>
            </a:solidFill>
            <a:prstDash val="solid"/>
          </a:ln>
        </p:spPr>
      </p:sp>
      <p:sp>
        <p:nvSpPr>
          <p:cNvPr id="35" name="Shape 26"/>
          <p:cNvSpPr/>
          <p:nvPr/>
        </p:nvSpPr>
        <p:spPr>
          <a:xfrm>
            <a:off x="182880" y="2606040"/>
            <a:ext cx="54864" cy="594360"/>
          </a:xfrm>
          <a:prstGeom prst="rect">
            <a:avLst/>
          </a:prstGeom>
          <a:solidFill>
            <a:srgbClr val="00D4FF"/>
          </a:solidFill>
          <a:ln/>
        </p:spPr>
      </p:sp>
      <p:sp>
        <p:nvSpPr>
          <p:cNvPr id="36" name="Text 27"/>
          <p:cNvSpPr/>
          <p:nvPr/>
        </p:nvSpPr>
        <p:spPr>
          <a:xfrm>
            <a:off x="320040" y="2624328"/>
            <a:ext cx="1645920" cy="256032"/>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Epochs</a:t>
            </a:r>
            <a:endParaRPr lang="en-US" sz="1000" dirty="0"/>
          </a:p>
        </p:txBody>
      </p:sp>
      <p:sp>
        <p:nvSpPr>
          <p:cNvPr id="37" name="Text 28"/>
          <p:cNvSpPr/>
          <p:nvPr/>
        </p:nvSpPr>
        <p:spPr>
          <a:xfrm>
            <a:off x="320040" y="2880360"/>
            <a:ext cx="3840480" cy="29260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Αριθμός εποχών εκπαίδευσης</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(default: 100, range: 1-1000)</a:t>
            </a:r>
            <a:endParaRPr lang="en-US" sz="900" dirty="0"/>
          </a:p>
        </p:txBody>
      </p:sp>
      <p:sp>
        <p:nvSpPr>
          <p:cNvPr id="38" name="Shape 29"/>
          <p:cNvSpPr/>
          <p:nvPr/>
        </p:nvSpPr>
        <p:spPr>
          <a:xfrm>
            <a:off x="4480560" y="2606040"/>
            <a:ext cx="4114800" cy="594360"/>
          </a:xfrm>
          <a:prstGeom prst="rect">
            <a:avLst/>
          </a:prstGeom>
          <a:solidFill>
            <a:srgbClr val="0D1F3C"/>
          </a:solidFill>
          <a:ln w="12700">
            <a:solidFill>
              <a:srgbClr val="7B2FBE"/>
            </a:solidFill>
            <a:prstDash val="solid"/>
          </a:ln>
        </p:spPr>
      </p:sp>
      <p:sp>
        <p:nvSpPr>
          <p:cNvPr id="39" name="Shape 30"/>
          <p:cNvSpPr/>
          <p:nvPr/>
        </p:nvSpPr>
        <p:spPr>
          <a:xfrm>
            <a:off x="4480560" y="2606040"/>
            <a:ext cx="54864" cy="594360"/>
          </a:xfrm>
          <a:prstGeom prst="rect">
            <a:avLst/>
          </a:prstGeom>
          <a:solidFill>
            <a:srgbClr val="7B2FBE"/>
          </a:solidFill>
          <a:ln/>
        </p:spPr>
      </p:sp>
      <p:sp>
        <p:nvSpPr>
          <p:cNvPr id="40" name="Text 31"/>
          <p:cNvSpPr/>
          <p:nvPr/>
        </p:nvSpPr>
        <p:spPr>
          <a:xfrm>
            <a:off x="4617720" y="2624328"/>
            <a:ext cx="1645920" cy="256032"/>
          </a:xfrm>
          <a:prstGeom prst="rect">
            <a:avLst/>
          </a:prstGeom>
          <a:noFill/>
          <a:ln/>
        </p:spPr>
        <p:txBody>
          <a:bodyPr wrap="square" lIns="0" tIns="0" rIns="0" bIns="0" rtlCol="0" anchor="ctr"/>
          <a:lstStyle/>
          <a:p>
            <a:pPr indent="0" marL="0">
              <a:buNone/>
            </a:pPr>
            <a:r>
              <a:rPr lang="en-US" sz="1000" b="1" dirty="0">
                <a:solidFill>
                  <a:srgbClr val="7B2FBE"/>
                </a:solidFill>
                <a:latin typeface="Calibri" pitchFamily="34" charset="0"/>
                <a:ea typeface="Calibri" pitchFamily="34" charset="-122"/>
                <a:cs typeface="Calibri" pitchFamily="34" charset="-120"/>
              </a:rPr>
              <a:t>Batch Size</a:t>
            </a:r>
            <a:endParaRPr lang="en-US" sz="1000" dirty="0"/>
          </a:p>
        </p:txBody>
      </p:sp>
      <p:sp>
        <p:nvSpPr>
          <p:cNvPr id="41" name="Text 32"/>
          <p:cNvSpPr/>
          <p:nvPr/>
        </p:nvSpPr>
        <p:spPr>
          <a:xfrm>
            <a:off x="4617720" y="2880360"/>
            <a:ext cx="3840480" cy="29260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Πλήθος εικόνων ανά step</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(auto ή manual 4–128)</a:t>
            </a:r>
            <a:endParaRPr lang="en-US" sz="900" dirty="0"/>
          </a:p>
        </p:txBody>
      </p:sp>
      <p:sp>
        <p:nvSpPr>
          <p:cNvPr id="42" name="Shape 33"/>
          <p:cNvSpPr/>
          <p:nvPr/>
        </p:nvSpPr>
        <p:spPr>
          <a:xfrm>
            <a:off x="182880" y="3319272"/>
            <a:ext cx="4114800" cy="594360"/>
          </a:xfrm>
          <a:prstGeom prst="rect">
            <a:avLst/>
          </a:prstGeom>
          <a:solidFill>
            <a:srgbClr val="0D1F3C"/>
          </a:solidFill>
          <a:ln w="12700">
            <a:solidFill>
              <a:srgbClr val="00FF9D"/>
            </a:solidFill>
            <a:prstDash val="solid"/>
          </a:ln>
        </p:spPr>
      </p:sp>
      <p:sp>
        <p:nvSpPr>
          <p:cNvPr id="43" name="Shape 34"/>
          <p:cNvSpPr/>
          <p:nvPr/>
        </p:nvSpPr>
        <p:spPr>
          <a:xfrm>
            <a:off x="182880" y="3319272"/>
            <a:ext cx="54864" cy="594360"/>
          </a:xfrm>
          <a:prstGeom prst="rect">
            <a:avLst/>
          </a:prstGeom>
          <a:solidFill>
            <a:srgbClr val="00FF9D"/>
          </a:solidFill>
          <a:ln/>
        </p:spPr>
      </p:sp>
      <p:sp>
        <p:nvSpPr>
          <p:cNvPr id="44" name="Text 35"/>
          <p:cNvSpPr/>
          <p:nvPr/>
        </p:nvSpPr>
        <p:spPr>
          <a:xfrm>
            <a:off x="320040" y="3337560"/>
            <a:ext cx="1645920" cy="256032"/>
          </a:xfrm>
          <a:prstGeom prst="rect">
            <a:avLst/>
          </a:prstGeom>
          <a:noFill/>
          <a:ln/>
        </p:spPr>
        <p:txBody>
          <a:bodyPr wrap="square" lIns="0" tIns="0" rIns="0" bIns="0" rtlCol="0" anchor="ctr"/>
          <a:lstStyle/>
          <a:p>
            <a:pPr indent="0" marL="0">
              <a:buNone/>
            </a:pPr>
            <a:r>
              <a:rPr lang="en-US" sz="1000" b="1" dirty="0">
                <a:solidFill>
                  <a:srgbClr val="00FF9D"/>
                </a:solidFill>
                <a:latin typeface="Calibri" pitchFamily="34" charset="0"/>
                <a:ea typeface="Calibri" pitchFamily="34" charset="-122"/>
                <a:cs typeface="Calibri" pitchFamily="34" charset="-120"/>
              </a:rPr>
              <a:t>Image Size (imgsz)</a:t>
            </a:r>
            <a:endParaRPr lang="en-US" sz="1000" dirty="0"/>
          </a:p>
        </p:txBody>
      </p:sp>
      <p:sp>
        <p:nvSpPr>
          <p:cNvPr id="45" name="Text 36"/>
          <p:cNvSpPr/>
          <p:nvPr/>
        </p:nvSpPr>
        <p:spPr>
          <a:xfrm>
            <a:off x="320040" y="3593592"/>
            <a:ext cx="3840480" cy="29260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Μέγεθος εισόδου</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(320, 416, 640, 1280)</a:t>
            </a:r>
            <a:endParaRPr lang="en-US" sz="900" dirty="0"/>
          </a:p>
        </p:txBody>
      </p:sp>
      <p:sp>
        <p:nvSpPr>
          <p:cNvPr id="46" name="Shape 37"/>
          <p:cNvSpPr/>
          <p:nvPr/>
        </p:nvSpPr>
        <p:spPr>
          <a:xfrm>
            <a:off x="4480560" y="3319272"/>
            <a:ext cx="4114800" cy="594360"/>
          </a:xfrm>
          <a:prstGeom prst="rect">
            <a:avLst/>
          </a:prstGeom>
          <a:solidFill>
            <a:srgbClr val="0D1F3C"/>
          </a:solidFill>
          <a:ln w="12700">
            <a:solidFill>
              <a:srgbClr val="FF6B35"/>
            </a:solidFill>
            <a:prstDash val="solid"/>
          </a:ln>
        </p:spPr>
      </p:sp>
      <p:sp>
        <p:nvSpPr>
          <p:cNvPr id="47" name="Shape 38"/>
          <p:cNvSpPr/>
          <p:nvPr/>
        </p:nvSpPr>
        <p:spPr>
          <a:xfrm>
            <a:off x="4480560" y="3319272"/>
            <a:ext cx="54864" cy="594360"/>
          </a:xfrm>
          <a:prstGeom prst="rect">
            <a:avLst/>
          </a:prstGeom>
          <a:solidFill>
            <a:srgbClr val="FF6B35"/>
          </a:solidFill>
          <a:ln/>
        </p:spPr>
      </p:sp>
      <p:sp>
        <p:nvSpPr>
          <p:cNvPr id="48" name="Text 39"/>
          <p:cNvSpPr/>
          <p:nvPr/>
        </p:nvSpPr>
        <p:spPr>
          <a:xfrm>
            <a:off x="4617720" y="3337560"/>
            <a:ext cx="1645920" cy="256032"/>
          </a:xfrm>
          <a:prstGeom prst="rect">
            <a:avLst/>
          </a:prstGeom>
          <a:noFill/>
          <a:ln/>
        </p:spPr>
        <p:txBody>
          <a:bodyPr wrap="square" lIns="0" tIns="0" rIns="0" bIns="0" rtlCol="0" anchor="ctr"/>
          <a:lstStyle/>
          <a:p>
            <a:pPr indent="0" marL="0">
              <a:buNone/>
            </a:pPr>
            <a:r>
              <a:rPr lang="en-US" sz="1000" b="1" dirty="0">
                <a:solidFill>
                  <a:srgbClr val="FF6B35"/>
                </a:solidFill>
                <a:latin typeface="Calibri" pitchFamily="34" charset="0"/>
                <a:ea typeface="Calibri" pitchFamily="34" charset="-122"/>
                <a:cs typeface="Calibri" pitchFamily="34" charset="-120"/>
              </a:rPr>
              <a:t>Learning Rate</a:t>
            </a:r>
            <a:endParaRPr lang="en-US" sz="1000" dirty="0"/>
          </a:p>
        </p:txBody>
      </p:sp>
      <p:sp>
        <p:nvSpPr>
          <p:cNvPr id="49" name="Text 40"/>
          <p:cNvSpPr/>
          <p:nvPr/>
        </p:nvSpPr>
        <p:spPr>
          <a:xfrm>
            <a:off x="4617720" y="3593592"/>
            <a:ext cx="3840480" cy="29260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Ρυθμός μάθησης</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(auto ή custom 1e-5 ~ 1e-1)</a:t>
            </a:r>
            <a:endParaRPr lang="en-US" sz="900" dirty="0"/>
          </a:p>
        </p:txBody>
      </p:sp>
      <p:sp>
        <p:nvSpPr>
          <p:cNvPr id="50" name="Shape 41"/>
          <p:cNvSpPr/>
          <p:nvPr/>
        </p:nvSpPr>
        <p:spPr>
          <a:xfrm>
            <a:off x="182880" y="4032504"/>
            <a:ext cx="4114800" cy="594360"/>
          </a:xfrm>
          <a:prstGeom prst="rect">
            <a:avLst/>
          </a:prstGeom>
          <a:solidFill>
            <a:srgbClr val="0D1F3C"/>
          </a:solidFill>
          <a:ln w="12700">
            <a:solidFill>
              <a:srgbClr val="FF2D78"/>
            </a:solidFill>
            <a:prstDash val="solid"/>
          </a:ln>
        </p:spPr>
      </p:sp>
      <p:sp>
        <p:nvSpPr>
          <p:cNvPr id="51" name="Shape 42"/>
          <p:cNvSpPr/>
          <p:nvPr/>
        </p:nvSpPr>
        <p:spPr>
          <a:xfrm>
            <a:off x="182880" y="4032504"/>
            <a:ext cx="54864" cy="594360"/>
          </a:xfrm>
          <a:prstGeom prst="rect">
            <a:avLst/>
          </a:prstGeom>
          <a:solidFill>
            <a:srgbClr val="FF2D78"/>
          </a:solidFill>
          <a:ln/>
        </p:spPr>
      </p:sp>
      <p:sp>
        <p:nvSpPr>
          <p:cNvPr id="52" name="Text 43"/>
          <p:cNvSpPr/>
          <p:nvPr/>
        </p:nvSpPr>
        <p:spPr>
          <a:xfrm>
            <a:off x="320040" y="4050792"/>
            <a:ext cx="1645920" cy="256032"/>
          </a:xfrm>
          <a:prstGeom prst="rect">
            <a:avLst/>
          </a:prstGeom>
          <a:noFill/>
          <a:ln/>
        </p:spPr>
        <p:txBody>
          <a:bodyPr wrap="square" lIns="0" tIns="0" rIns="0" bIns="0" rtlCol="0" anchor="ctr"/>
          <a:lstStyle/>
          <a:p>
            <a:pPr indent="0" marL="0">
              <a:buNone/>
            </a:pPr>
            <a:r>
              <a:rPr lang="en-US" sz="1000" b="1" dirty="0">
                <a:solidFill>
                  <a:srgbClr val="FF2D78"/>
                </a:solidFill>
                <a:latin typeface="Calibri" pitchFamily="34" charset="0"/>
                <a:ea typeface="Calibri" pitchFamily="34" charset="-122"/>
                <a:cs typeface="Calibri" pitchFamily="34" charset="-120"/>
              </a:rPr>
              <a:t>Optimizer</a:t>
            </a:r>
            <a:endParaRPr lang="en-US" sz="1000" dirty="0"/>
          </a:p>
        </p:txBody>
      </p:sp>
      <p:sp>
        <p:nvSpPr>
          <p:cNvPr id="53" name="Text 44"/>
          <p:cNvSpPr/>
          <p:nvPr/>
        </p:nvSpPr>
        <p:spPr>
          <a:xfrm>
            <a:off x="320040" y="4306824"/>
            <a:ext cx="3840480" cy="29260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SGD / Adam / AdamW</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(ή auto-select)</a:t>
            </a:r>
            <a:endParaRPr lang="en-US" sz="900" dirty="0"/>
          </a:p>
        </p:txBody>
      </p:sp>
      <p:sp>
        <p:nvSpPr>
          <p:cNvPr id="54" name="Shape 45"/>
          <p:cNvSpPr/>
          <p:nvPr/>
        </p:nvSpPr>
        <p:spPr>
          <a:xfrm>
            <a:off x="4480560" y="4032504"/>
            <a:ext cx="4114800" cy="594360"/>
          </a:xfrm>
          <a:prstGeom prst="rect">
            <a:avLst/>
          </a:prstGeom>
          <a:solidFill>
            <a:srgbClr val="0D1F3C"/>
          </a:solidFill>
          <a:ln w="12700">
            <a:solidFill>
              <a:srgbClr val="FFD700"/>
            </a:solidFill>
            <a:prstDash val="solid"/>
          </a:ln>
        </p:spPr>
      </p:sp>
      <p:sp>
        <p:nvSpPr>
          <p:cNvPr id="55" name="Shape 46"/>
          <p:cNvSpPr/>
          <p:nvPr/>
        </p:nvSpPr>
        <p:spPr>
          <a:xfrm>
            <a:off x="4480560" y="4032504"/>
            <a:ext cx="54864" cy="594360"/>
          </a:xfrm>
          <a:prstGeom prst="rect">
            <a:avLst/>
          </a:prstGeom>
          <a:solidFill>
            <a:srgbClr val="FFD700"/>
          </a:solidFill>
          <a:ln/>
        </p:spPr>
      </p:sp>
      <p:sp>
        <p:nvSpPr>
          <p:cNvPr id="56" name="Text 47"/>
          <p:cNvSpPr/>
          <p:nvPr/>
        </p:nvSpPr>
        <p:spPr>
          <a:xfrm>
            <a:off x="4617720" y="4050792"/>
            <a:ext cx="1645920" cy="256032"/>
          </a:xfrm>
          <a:prstGeom prst="rect">
            <a:avLst/>
          </a:prstGeom>
          <a:noFill/>
          <a:ln/>
        </p:spPr>
        <p:txBody>
          <a:bodyPr wrap="square" lIns="0" tIns="0" rIns="0" bIns="0" rtlCol="0" anchor="ctr"/>
          <a:lstStyle/>
          <a:p>
            <a:pPr indent="0" marL="0">
              <a:buNone/>
            </a:pPr>
            <a:r>
              <a:rPr lang="en-US" sz="1000" b="1" dirty="0">
                <a:solidFill>
                  <a:srgbClr val="FFD700"/>
                </a:solidFill>
                <a:latin typeface="Calibri" pitchFamily="34" charset="0"/>
                <a:ea typeface="Calibri" pitchFamily="34" charset="-122"/>
                <a:cs typeface="Calibri" pitchFamily="34" charset="-120"/>
              </a:rPr>
              <a:t>Device</a:t>
            </a:r>
            <a:endParaRPr lang="en-US" sz="1000" dirty="0"/>
          </a:p>
        </p:txBody>
      </p:sp>
      <p:sp>
        <p:nvSpPr>
          <p:cNvPr id="57" name="Text 48"/>
          <p:cNvSpPr/>
          <p:nvPr/>
        </p:nvSpPr>
        <p:spPr>
          <a:xfrm>
            <a:off x="4617720" y="4306824"/>
            <a:ext cx="3840480" cy="29260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CUDA:0 ή CPU fallback</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(αυτόματη ανίχνευση)</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6B35"/>
            </a:solidFill>
            <a:prstDash val="solid"/>
          </a:ln>
        </p:spPr>
      </p:sp>
      <p:sp>
        <p:nvSpPr>
          <p:cNvPr id="3" name="Shape 1"/>
          <p:cNvSpPr/>
          <p:nvPr/>
        </p:nvSpPr>
        <p:spPr>
          <a:xfrm>
            <a:off x="0" y="0"/>
            <a:ext cx="73152" cy="822960"/>
          </a:xfrm>
          <a:prstGeom prst="rect">
            <a:avLst/>
          </a:prstGeom>
          <a:solidFill>
            <a:srgbClr val="FF6B35"/>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07 — AI Copilot (Groq LLM Integration)</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6B35"/>
                </a:solidFill>
                <a:latin typeface="Calibri" pitchFamily="34" charset="0"/>
                <a:ea typeface="Calibri" pitchFamily="34" charset="-122"/>
                <a:cs typeface="Calibri" pitchFamily="34" charset="-120"/>
              </a:rPr>
              <a:t>Έξυπνες Προτάσεις Εκπαίδευσης</a:t>
            </a:r>
            <a:endParaRPr lang="en-US" sz="1100" dirty="0"/>
          </a:p>
        </p:txBody>
      </p:sp>
      <p:sp>
        <p:nvSpPr>
          <p:cNvPr id="6" name="Shape 4"/>
          <p:cNvSpPr/>
          <p:nvPr/>
        </p:nvSpPr>
        <p:spPr>
          <a:xfrm>
            <a:off x="182880" y="914400"/>
            <a:ext cx="8778240" cy="1097280"/>
          </a:xfrm>
          <a:prstGeom prst="rect">
            <a:avLst/>
          </a:prstGeom>
          <a:solidFill>
            <a:srgbClr val="122544"/>
          </a:solidFill>
          <a:ln w="25400">
            <a:solidFill>
              <a:srgbClr val="FF6B35"/>
            </a:solidFill>
            <a:prstDash val="solid"/>
          </a:ln>
        </p:spPr>
      </p:sp>
      <p:pic>
        <p:nvPicPr>
          <p:cNvPr id="7" name="Image 0" descr="preencoded.png">    </p:cNvPr>
          <p:cNvPicPr>
            <a:picLocks noChangeAspect="1"/>
          </p:cNvPicPr>
          <p:nvPr/>
        </p:nvPicPr>
        <p:blipFill>
          <a:blip r:embed="rId1"/>
          <a:stretch>
            <a:fillRect/>
          </a:stretch>
        </p:blipFill>
        <p:spPr>
          <a:xfrm>
            <a:off x="320040" y="1024128"/>
            <a:ext cx="822960" cy="822960"/>
          </a:xfrm>
          <a:prstGeom prst="rect">
            <a:avLst/>
          </a:prstGeom>
        </p:spPr>
      </p:pic>
      <p:sp>
        <p:nvSpPr>
          <p:cNvPr id="8" name="Text 5"/>
          <p:cNvSpPr/>
          <p:nvPr/>
        </p:nvSpPr>
        <p:spPr>
          <a:xfrm>
            <a:off x="1280160" y="960120"/>
            <a:ext cx="7315200" cy="411480"/>
          </a:xfrm>
          <a:prstGeom prst="rect">
            <a:avLst/>
          </a:prstGeom>
          <a:noFill/>
          <a:ln/>
        </p:spPr>
        <p:txBody>
          <a:bodyPr wrap="square" lIns="0" tIns="0" rIns="0" bIns="0" rtlCol="0" anchor="ctr"/>
          <a:lstStyle/>
          <a:p>
            <a:pPr indent="0" marL="0">
              <a:buNone/>
            </a:pPr>
            <a:r>
              <a:rPr lang="en-US" sz="1800" b="1" dirty="0">
                <a:solidFill>
                  <a:srgbClr val="FF6B35"/>
                </a:solidFill>
                <a:latin typeface="Calibri" pitchFamily="34" charset="0"/>
                <a:ea typeface="Calibri" pitchFamily="34" charset="-122"/>
                <a:cs typeface="Calibri" pitchFamily="34" charset="-120"/>
              </a:rPr>
              <a:t>AI Copilot — Powered by Groq API</a:t>
            </a:r>
            <a:endParaRPr lang="en-US" sz="1800" dirty="0"/>
          </a:p>
        </p:txBody>
      </p:sp>
      <p:sp>
        <p:nvSpPr>
          <p:cNvPr id="9" name="Text 6"/>
          <p:cNvSpPr/>
          <p:nvPr/>
        </p:nvSpPr>
        <p:spPr>
          <a:xfrm>
            <a:off x="1280160" y="1399032"/>
            <a:ext cx="7498080" cy="502920"/>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Το AI Copilot αναλύει τα δεδομένα σας (dataset path, αριθμό κλάσεων, hardware specs) και χρησιμοποιεί ένα LLM μέσω του Groq API για να προτείνει βέλτιστες ρυθμίσεις εκπαίδευσης σε πραγματικό χρόνο.</a:t>
            </a:r>
            <a:endParaRPr lang="en-US" sz="1100" dirty="0"/>
          </a:p>
        </p:txBody>
      </p:sp>
      <p:sp>
        <p:nvSpPr>
          <p:cNvPr id="10" name="Shape 7"/>
          <p:cNvSpPr/>
          <p:nvPr/>
        </p:nvSpPr>
        <p:spPr>
          <a:xfrm>
            <a:off x="457200" y="2240280"/>
            <a:ext cx="1463040" cy="822960"/>
          </a:xfrm>
          <a:prstGeom prst="rect">
            <a:avLst/>
          </a:prstGeom>
          <a:solidFill>
            <a:srgbClr val="0D1F3C"/>
          </a:solidFill>
          <a:ln w="25400">
            <a:solidFill>
              <a:srgbClr val="00D4FF"/>
            </a:solidFill>
            <a:prstDash val="solid"/>
          </a:ln>
        </p:spPr>
      </p:sp>
      <p:sp>
        <p:nvSpPr>
          <p:cNvPr id="11" name="Text 8"/>
          <p:cNvSpPr/>
          <p:nvPr/>
        </p:nvSpPr>
        <p:spPr>
          <a:xfrm>
            <a:off x="457200" y="2240280"/>
            <a:ext cx="1463040" cy="822960"/>
          </a:xfrm>
          <a:prstGeom prst="rect">
            <a:avLst/>
          </a:prstGeom>
          <a:noFill/>
          <a:ln/>
        </p:spPr>
        <p:txBody>
          <a:bodyPr wrap="square" lIns="0" tIns="0" rIns="0" bIns="0"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Ανάλυση</a:t>
            </a:r>
            <a:endParaRPr lang="en-US" sz="1050" dirty="0"/>
          </a:p>
          <a:p>
            <a:pPr algn="ctr" indent="0" marL="0">
              <a:buNone/>
            </a:pPr>
            <a:r>
              <a:rPr lang="en-US" sz="1050" b="1" dirty="0">
                <a:solidFill>
                  <a:srgbClr val="00D4FF"/>
                </a:solidFill>
                <a:latin typeface="Calibri" pitchFamily="34" charset="0"/>
                <a:ea typeface="Calibri" pitchFamily="34" charset="-122"/>
                <a:cs typeface="Calibri" pitchFamily="34" charset="-120"/>
              </a:rPr>
              <a:t>Dataset</a:t>
            </a:r>
            <a:endParaRPr lang="en-US" sz="1050" dirty="0"/>
          </a:p>
        </p:txBody>
      </p:sp>
      <p:sp>
        <p:nvSpPr>
          <p:cNvPr id="12" name="Shape 9"/>
          <p:cNvSpPr/>
          <p:nvPr/>
        </p:nvSpPr>
        <p:spPr>
          <a:xfrm>
            <a:off x="1920240" y="2651760"/>
            <a:ext cx="228600" cy="0"/>
          </a:xfrm>
          <a:prstGeom prst="line">
            <a:avLst/>
          </a:prstGeom>
          <a:noFill/>
          <a:ln w="25400">
            <a:solidFill>
              <a:srgbClr val="8899BB"/>
            </a:solidFill>
            <a:prstDash val="solid"/>
          </a:ln>
        </p:spPr>
      </p:sp>
      <p:sp>
        <p:nvSpPr>
          <p:cNvPr id="13" name="Shape 10"/>
          <p:cNvSpPr/>
          <p:nvPr/>
        </p:nvSpPr>
        <p:spPr>
          <a:xfrm>
            <a:off x="2148840" y="2240280"/>
            <a:ext cx="1463040" cy="822960"/>
          </a:xfrm>
          <a:prstGeom prst="rect">
            <a:avLst/>
          </a:prstGeom>
          <a:solidFill>
            <a:srgbClr val="0D1F3C"/>
          </a:solidFill>
          <a:ln w="25400">
            <a:solidFill>
              <a:srgbClr val="00FF9D"/>
            </a:solidFill>
            <a:prstDash val="solid"/>
          </a:ln>
        </p:spPr>
      </p:sp>
      <p:sp>
        <p:nvSpPr>
          <p:cNvPr id="14" name="Text 11"/>
          <p:cNvSpPr/>
          <p:nvPr/>
        </p:nvSpPr>
        <p:spPr>
          <a:xfrm>
            <a:off x="2148840" y="2240280"/>
            <a:ext cx="1463040" cy="822960"/>
          </a:xfrm>
          <a:prstGeom prst="rect">
            <a:avLst/>
          </a:prstGeom>
          <a:noFill/>
          <a:ln/>
        </p:spPr>
        <p:txBody>
          <a:bodyPr wrap="square" lIns="0" tIns="0" rIns="0" bIns="0" rtlCol="0" anchor="ctr"/>
          <a:lstStyle/>
          <a:p>
            <a:pPr algn="ctr" indent="0" marL="0">
              <a:buNone/>
            </a:pPr>
            <a:r>
              <a:rPr lang="en-US" sz="1050" b="1" dirty="0">
                <a:solidFill>
                  <a:srgbClr val="00FF9D"/>
                </a:solidFill>
                <a:latin typeface="Calibri" pitchFamily="34" charset="0"/>
                <a:ea typeface="Calibri" pitchFamily="34" charset="-122"/>
                <a:cs typeface="Calibri" pitchFamily="34" charset="-120"/>
              </a:rPr>
              <a:t>Hardware</a:t>
            </a:r>
            <a:endParaRPr lang="en-US" sz="1050" dirty="0"/>
          </a:p>
          <a:p>
            <a:pPr algn="ctr" indent="0" marL="0">
              <a:buNone/>
            </a:pPr>
            <a:r>
              <a:rPr lang="en-US" sz="1050" b="1" dirty="0">
                <a:solidFill>
                  <a:srgbClr val="00FF9D"/>
                </a:solidFill>
                <a:latin typeface="Calibri" pitchFamily="34" charset="0"/>
                <a:ea typeface="Calibri" pitchFamily="34" charset="-122"/>
                <a:cs typeface="Calibri" pitchFamily="34" charset="-120"/>
              </a:rPr>
              <a:t>Detection</a:t>
            </a:r>
            <a:endParaRPr lang="en-US" sz="1050" dirty="0"/>
          </a:p>
        </p:txBody>
      </p:sp>
      <p:sp>
        <p:nvSpPr>
          <p:cNvPr id="15" name="Shape 12"/>
          <p:cNvSpPr/>
          <p:nvPr/>
        </p:nvSpPr>
        <p:spPr>
          <a:xfrm>
            <a:off x="3611880" y="2651760"/>
            <a:ext cx="228600" cy="0"/>
          </a:xfrm>
          <a:prstGeom prst="line">
            <a:avLst/>
          </a:prstGeom>
          <a:noFill/>
          <a:ln w="25400">
            <a:solidFill>
              <a:srgbClr val="8899BB"/>
            </a:solidFill>
            <a:prstDash val="solid"/>
          </a:ln>
        </p:spPr>
      </p:sp>
      <p:sp>
        <p:nvSpPr>
          <p:cNvPr id="16" name="Shape 13"/>
          <p:cNvSpPr/>
          <p:nvPr/>
        </p:nvSpPr>
        <p:spPr>
          <a:xfrm>
            <a:off x="3840480" y="2240280"/>
            <a:ext cx="1463040" cy="822960"/>
          </a:xfrm>
          <a:prstGeom prst="rect">
            <a:avLst/>
          </a:prstGeom>
          <a:solidFill>
            <a:srgbClr val="0D1F3C"/>
          </a:solidFill>
          <a:ln w="25400">
            <a:solidFill>
              <a:srgbClr val="FF6B35"/>
            </a:solidFill>
            <a:prstDash val="solid"/>
          </a:ln>
        </p:spPr>
      </p:sp>
      <p:sp>
        <p:nvSpPr>
          <p:cNvPr id="17" name="Text 14"/>
          <p:cNvSpPr/>
          <p:nvPr/>
        </p:nvSpPr>
        <p:spPr>
          <a:xfrm>
            <a:off x="3840480" y="2240280"/>
            <a:ext cx="1463040" cy="822960"/>
          </a:xfrm>
          <a:prstGeom prst="rect">
            <a:avLst/>
          </a:prstGeom>
          <a:noFill/>
          <a:ln/>
        </p:spPr>
        <p:txBody>
          <a:bodyPr wrap="square" lIns="0" tIns="0" rIns="0" bIns="0" rtlCol="0" anchor="ctr"/>
          <a:lstStyle/>
          <a:p>
            <a:pPr algn="ctr" indent="0" marL="0">
              <a:buNone/>
            </a:pPr>
            <a:r>
              <a:rPr lang="en-US" sz="1050" b="1" dirty="0">
                <a:solidFill>
                  <a:srgbClr val="FF6B35"/>
                </a:solidFill>
                <a:latin typeface="Calibri" pitchFamily="34" charset="0"/>
                <a:ea typeface="Calibri" pitchFamily="34" charset="-122"/>
                <a:cs typeface="Calibri" pitchFamily="34" charset="-120"/>
              </a:rPr>
              <a:t>Groq LLM</a:t>
            </a:r>
            <a:endParaRPr lang="en-US" sz="1050" dirty="0"/>
          </a:p>
          <a:p>
            <a:pPr algn="ctr" indent="0" marL="0">
              <a:buNone/>
            </a:pPr>
            <a:r>
              <a:rPr lang="en-US" sz="1050" b="1" dirty="0">
                <a:solidFill>
                  <a:srgbClr val="FF6B35"/>
                </a:solidFill>
                <a:latin typeface="Calibri" pitchFamily="34" charset="0"/>
                <a:ea typeface="Calibri" pitchFamily="34" charset="-122"/>
                <a:cs typeface="Calibri" pitchFamily="34" charset="-120"/>
              </a:rPr>
              <a:t>Call</a:t>
            </a:r>
            <a:endParaRPr lang="en-US" sz="1050" dirty="0"/>
          </a:p>
        </p:txBody>
      </p:sp>
      <p:sp>
        <p:nvSpPr>
          <p:cNvPr id="18" name="Shape 15"/>
          <p:cNvSpPr/>
          <p:nvPr/>
        </p:nvSpPr>
        <p:spPr>
          <a:xfrm>
            <a:off x="5303520" y="2651760"/>
            <a:ext cx="228600" cy="0"/>
          </a:xfrm>
          <a:prstGeom prst="line">
            <a:avLst/>
          </a:prstGeom>
          <a:noFill/>
          <a:ln w="25400">
            <a:solidFill>
              <a:srgbClr val="8899BB"/>
            </a:solidFill>
            <a:prstDash val="solid"/>
          </a:ln>
        </p:spPr>
      </p:sp>
      <p:sp>
        <p:nvSpPr>
          <p:cNvPr id="19" name="Shape 16"/>
          <p:cNvSpPr/>
          <p:nvPr/>
        </p:nvSpPr>
        <p:spPr>
          <a:xfrm>
            <a:off x="5532120" y="2240280"/>
            <a:ext cx="1463040" cy="822960"/>
          </a:xfrm>
          <a:prstGeom prst="rect">
            <a:avLst/>
          </a:prstGeom>
          <a:solidFill>
            <a:srgbClr val="0D1F3C"/>
          </a:solidFill>
          <a:ln w="25400">
            <a:solidFill>
              <a:srgbClr val="7B2FBE"/>
            </a:solidFill>
            <a:prstDash val="solid"/>
          </a:ln>
        </p:spPr>
      </p:sp>
      <p:sp>
        <p:nvSpPr>
          <p:cNvPr id="20" name="Text 17"/>
          <p:cNvSpPr/>
          <p:nvPr/>
        </p:nvSpPr>
        <p:spPr>
          <a:xfrm>
            <a:off x="5532120" y="2240280"/>
            <a:ext cx="1463040" cy="822960"/>
          </a:xfrm>
          <a:prstGeom prst="rect">
            <a:avLst/>
          </a:prstGeom>
          <a:noFill/>
          <a:ln/>
        </p:spPr>
        <p:txBody>
          <a:bodyPr wrap="square" lIns="0" tIns="0" rIns="0" bIns="0" rtlCol="0" anchor="ctr"/>
          <a:lstStyle/>
          <a:p>
            <a:pPr algn="ctr" indent="0" marL="0">
              <a:buNone/>
            </a:pPr>
            <a:r>
              <a:rPr lang="en-US" sz="1050" b="1" dirty="0">
                <a:solidFill>
                  <a:srgbClr val="7B2FBE"/>
                </a:solidFill>
                <a:latin typeface="Calibri" pitchFamily="34" charset="0"/>
                <a:ea typeface="Calibri" pitchFamily="34" charset="-122"/>
                <a:cs typeface="Calibri" pitchFamily="34" charset="-120"/>
              </a:rPr>
              <a:t>Προτεινόμενες</a:t>
            </a:r>
            <a:endParaRPr lang="en-US" sz="1050" dirty="0"/>
          </a:p>
          <a:p>
            <a:pPr algn="ctr" indent="0" marL="0">
              <a:buNone/>
            </a:pPr>
            <a:r>
              <a:rPr lang="en-US" sz="1050" b="1" dirty="0">
                <a:solidFill>
                  <a:srgbClr val="7B2FBE"/>
                </a:solidFill>
                <a:latin typeface="Calibri" pitchFamily="34" charset="0"/>
                <a:ea typeface="Calibri" pitchFamily="34" charset="-122"/>
                <a:cs typeface="Calibri" pitchFamily="34" charset="-120"/>
              </a:rPr>
              <a:t>Ρυθμίσεις</a:t>
            </a:r>
            <a:endParaRPr lang="en-US" sz="1050" dirty="0"/>
          </a:p>
        </p:txBody>
      </p:sp>
      <p:sp>
        <p:nvSpPr>
          <p:cNvPr id="21" name="Shape 18"/>
          <p:cNvSpPr/>
          <p:nvPr/>
        </p:nvSpPr>
        <p:spPr>
          <a:xfrm>
            <a:off x="6995160" y="2651760"/>
            <a:ext cx="228600" cy="0"/>
          </a:xfrm>
          <a:prstGeom prst="line">
            <a:avLst/>
          </a:prstGeom>
          <a:noFill/>
          <a:ln w="25400">
            <a:solidFill>
              <a:srgbClr val="8899BB"/>
            </a:solidFill>
            <a:prstDash val="solid"/>
          </a:ln>
        </p:spPr>
      </p:sp>
      <p:sp>
        <p:nvSpPr>
          <p:cNvPr id="22" name="Shape 19"/>
          <p:cNvSpPr/>
          <p:nvPr/>
        </p:nvSpPr>
        <p:spPr>
          <a:xfrm>
            <a:off x="7223760" y="2240280"/>
            <a:ext cx="1463040" cy="822960"/>
          </a:xfrm>
          <a:prstGeom prst="rect">
            <a:avLst/>
          </a:prstGeom>
          <a:solidFill>
            <a:srgbClr val="0D1F3C"/>
          </a:solidFill>
          <a:ln w="25400">
            <a:solidFill>
              <a:srgbClr val="FF2D78"/>
            </a:solidFill>
            <a:prstDash val="solid"/>
          </a:ln>
        </p:spPr>
      </p:sp>
      <p:sp>
        <p:nvSpPr>
          <p:cNvPr id="23" name="Text 20"/>
          <p:cNvSpPr/>
          <p:nvPr/>
        </p:nvSpPr>
        <p:spPr>
          <a:xfrm>
            <a:off x="7223760" y="2240280"/>
            <a:ext cx="1463040" cy="822960"/>
          </a:xfrm>
          <a:prstGeom prst="rect">
            <a:avLst/>
          </a:prstGeom>
          <a:noFill/>
          <a:ln/>
        </p:spPr>
        <p:txBody>
          <a:bodyPr wrap="square" lIns="0" tIns="0" rIns="0" bIns="0" rtlCol="0" anchor="ctr"/>
          <a:lstStyle/>
          <a:p>
            <a:pPr algn="ctr" indent="0" marL="0">
              <a:buNone/>
            </a:pPr>
            <a:r>
              <a:rPr lang="en-US" sz="1050" b="1" dirty="0">
                <a:solidFill>
                  <a:srgbClr val="FF2D78"/>
                </a:solidFill>
                <a:latin typeface="Calibri" pitchFamily="34" charset="0"/>
                <a:ea typeface="Calibri" pitchFamily="34" charset="-122"/>
                <a:cs typeface="Calibri" pitchFamily="34" charset="-120"/>
              </a:rPr>
              <a:t>Εφαρμογή</a:t>
            </a:r>
            <a:endParaRPr lang="en-US" sz="1050" dirty="0"/>
          </a:p>
          <a:p>
            <a:pPr algn="ctr" indent="0" marL="0">
              <a:buNone/>
            </a:pPr>
            <a:r>
              <a:rPr lang="en-US" sz="1050" b="1" dirty="0">
                <a:solidFill>
                  <a:srgbClr val="FF2D78"/>
                </a:solidFill>
                <a:latin typeface="Calibri" pitchFamily="34" charset="0"/>
                <a:ea typeface="Calibri" pitchFamily="34" charset="-122"/>
                <a:cs typeface="Calibri" pitchFamily="34" charset="-120"/>
              </a:rPr>
              <a:t>One-click</a:t>
            </a:r>
            <a:endParaRPr lang="en-US" sz="1050" dirty="0"/>
          </a:p>
        </p:txBody>
      </p:sp>
      <p:sp>
        <p:nvSpPr>
          <p:cNvPr id="24" name="Text 21"/>
          <p:cNvSpPr/>
          <p:nvPr/>
        </p:nvSpPr>
        <p:spPr>
          <a:xfrm>
            <a:off x="274320" y="3246120"/>
            <a:ext cx="859536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Παραδείγματα Προτάσεων AI Copilot</a:t>
            </a:r>
            <a:endParaRPr lang="en-US" sz="1300" dirty="0"/>
          </a:p>
        </p:txBody>
      </p:sp>
      <p:sp>
        <p:nvSpPr>
          <p:cNvPr id="25" name="Shape 22"/>
          <p:cNvSpPr/>
          <p:nvPr/>
        </p:nvSpPr>
        <p:spPr>
          <a:xfrm>
            <a:off x="182880" y="3657600"/>
            <a:ext cx="4160520" cy="667512"/>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26" name="Shape 23"/>
          <p:cNvSpPr/>
          <p:nvPr/>
        </p:nvSpPr>
        <p:spPr>
          <a:xfrm>
            <a:off x="182880" y="3657600"/>
            <a:ext cx="4160520" cy="64008"/>
          </a:xfrm>
          <a:prstGeom prst="rect">
            <a:avLst/>
          </a:prstGeom>
          <a:solidFill>
            <a:srgbClr val="00D4FF"/>
          </a:solidFill>
          <a:ln/>
        </p:spPr>
      </p:sp>
      <p:sp>
        <p:nvSpPr>
          <p:cNvPr id="27" name="Text 24"/>
          <p:cNvSpPr/>
          <p:nvPr/>
        </p:nvSpPr>
        <p:spPr>
          <a:xfrm>
            <a:off x="320040" y="3749040"/>
            <a:ext cx="393192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Optimizers</a:t>
            </a:r>
            <a:endParaRPr lang="en-US" sz="1300" dirty="0"/>
          </a:p>
        </p:txBody>
      </p:sp>
      <p:sp>
        <p:nvSpPr>
          <p:cNvPr id="28" name="Text 25"/>
          <p:cNvSpPr/>
          <p:nvPr/>
        </p:nvSpPr>
        <p:spPr>
          <a:xfrm>
            <a:off x="320040" y="4133088"/>
            <a:ext cx="388620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Για YOLO + μεγάλο dataset: AdamW με lr=0.001</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Για CNN fine-tuning: SGD με momentum=0.9</a:t>
            </a:r>
            <a:endParaRPr lang="en-US" sz="1050" dirty="0"/>
          </a:p>
        </p:txBody>
      </p:sp>
      <p:sp>
        <p:nvSpPr>
          <p:cNvPr id="29" name="Shape 26"/>
          <p:cNvSpPr/>
          <p:nvPr/>
        </p:nvSpPr>
        <p:spPr>
          <a:xfrm>
            <a:off x="4526280" y="3657600"/>
            <a:ext cx="4160520" cy="667512"/>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30" name="Shape 27"/>
          <p:cNvSpPr/>
          <p:nvPr/>
        </p:nvSpPr>
        <p:spPr>
          <a:xfrm>
            <a:off x="4526280" y="3657600"/>
            <a:ext cx="4160520" cy="64008"/>
          </a:xfrm>
          <a:prstGeom prst="rect">
            <a:avLst/>
          </a:prstGeom>
          <a:solidFill>
            <a:srgbClr val="7B2FBE"/>
          </a:solidFill>
          <a:ln/>
        </p:spPr>
      </p:sp>
      <p:sp>
        <p:nvSpPr>
          <p:cNvPr id="31" name="Text 28"/>
          <p:cNvSpPr/>
          <p:nvPr/>
        </p:nvSpPr>
        <p:spPr>
          <a:xfrm>
            <a:off x="4663440" y="3749040"/>
            <a:ext cx="393192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Epochs</a:t>
            </a:r>
            <a:endParaRPr lang="en-US" sz="1300" dirty="0"/>
          </a:p>
        </p:txBody>
      </p:sp>
      <p:sp>
        <p:nvSpPr>
          <p:cNvPr id="32" name="Text 29"/>
          <p:cNvSpPr/>
          <p:nvPr/>
        </p:nvSpPr>
        <p:spPr>
          <a:xfrm>
            <a:off x="4663440" y="4133088"/>
            <a:ext cx="388620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Μικρό dataset (&lt;1000): 50-100 epochs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Μεγάλο dataset (&gt;10k): 200-300 epochs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Παρακολούθηση early stopping</a:t>
            </a:r>
            <a:endParaRPr lang="en-US" sz="1050" dirty="0"/>
          </a:p>
        </p:txBody>
      </p:sp>
      <p:sp>
        <p:nvSpPr>
          <p:cNvPr id="33" name="Shape 30"/>
          <p:cNvSpPr/>
          <p:nvPr/>
        </p:nvSpPr>
        <p:spPr>
          <a:xfrm>
            <a:off x="182880" y="4389120"/>
            <a:ext cx="4160520" cy="667512"/>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34" name="Shape 31"/>
          <p:cNvSpPr/>
          <p:nvPr/>
        </p:nvSpPr>
        <p:spPr>
          <a:xfrm>
            <a:off x="182880" y="4389120"/>
            <a:ext cx="4160520" cy="64008"/>
          </a:xfrm>
          <a:prstGeom prst="rect">
            <a:avLst/>
          </a:prstGeom>
          <a:solidFill>
            <a:srgbClr val="00FF9D"/>
          </a:solidFill>
          <a:ln/>
        </p:spPr>
      </p:sp>
      <p:sp>
        <p:nvSpPr>
          <p:cNvPr id="35" name="Text 32"/>
          <p:cNvSpPr/>
          <p:nvPr/>
        </p:nvSpPr>
        <p:spPr>
          <a:xfrm>
            <a:off x="320040" y="4480560"/>
            <a:ext cx="393192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Image Size</a:t>
            </a:r>
            <a:endParaRPr lang="en-US" sz="1300" dirty="0"/>
          </a:p>
        </p:txBody>
      </p:sp>
      <p:sp>
        <p:nvSpPr>
          <p:cNvPr id="36" name="Text 33"/>
          <p:cNvSpPr/>
          <p:nvPr/>
        </p:nvSpPr>
        <p:spPr>
          <a:xfrm>
            <a:off x="320040" y="4864608"/>
            <a:ext cx="388620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Για mobile deployment: imgsz=320</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Για server inference: imgsz=640-1280</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Balanced: imgsz=416</a:t>
            </a:r>
            <a:endParaRPr lang="en-US" sz="1050" dirty="0"/>
          </a:p>
        </p:txBody>
      </p:sp>
      <p:sp>
        <p:nvSpPr>
          <p:cNvPr id="37" name="Shape 34"/>
          <p:cNvSpPr/>
          <p:nvPr/>
        </p:nvSpPr>
        <p:spPr>
          <a:xfrm>
            <a:off x="4526280" y="4389120"/>
            <a:ext cx="4160520" cy="667512"/>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38" name="Shape 35"/>
          <p:cNvSpPr/>
          <p:nvPr/>
        </p:nvSpPr>
        <p:spPr>
          <a:xfrm>
            <a:off x="4526280" y="4389120"/>
            <a:ext cx="4160520" cy="64008"/>
          </a:xfrm>
          <a:prstGeom prst="rect">
            <a:avLst/>
          </a:prstGeom>
          <a:solidFill>
            <a:srgbClr val="FF6B35"/>
          </a:solidFill>
          <a:ln/>
        </p:spPr>
      </p:sp>
      <p:sp>
        <p:nvSpPr>
          <p:cNvPr id="39" name="Text 36"/>
          <p:cNvSpPr/>
          <p:nvPr/>
        </p:nvSpPr>
        <p:spPr>
          <a:xfrm>
            <a:off x="4663440" y="4480560"/>
            <a:ext cx="393192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Batch Size</a:t>
            </a:r>
            <a:endParaRPr lang="en-US" sz="1300" dirty="0"/>
          </a:p>
        </p:txBody>
      </p:sp>
      <p:sp>
        <p:nvSpPr>
          <p:cNvPr id="40" name="Text 37"/>
          <p:cNvSpPr/>
          <p:nvPr/>
        </p:nvSpPr>
        <p:spPr>
          <a:xfrm>
            <a:off x="4663440" y="4864608"/>
            <a:ext cx="388620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GPU 4-8GB VRAM: batch=8-16</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GPU 12GB+: batch=32-64</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CPU only: batch=4-8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2D78"/>
            </a:solidFill>
            <a:prstDash val="solid"/>
          </a:ln>
        </p:spPr>
      </p:sp>
      <p:sp>
        <p:nvSpPr>
          <p:cNvPr id="3" name="Shape 1"/>
          <p:cNvSpPr/>
          <p:nvPr/>
        </p:nvSpPr>
        <p:spPr>
          <a:xfrm>
            <a:off x="0" y="0"/>
            <a:ext cx="73152" cy="822960"/>
          </a:xfrm>
          <a:prstGeom prst="rect">
            <a:avLst/>
          </a:prstGeom>
          <a:solidFill>
            <a:srgbClr val="FF2D78"/>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08 — Εξαγωγή Μοντέλων (Model Export)</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2D78"/>
                </a:solidFill>
                <a:latin typeface="Calibri" pitchFamily="34" charset="0"/>
                <a:ea typeface="Calibri" pitchFamily="34" charset="-122"/>
                <a:cs typeface="Calibri" pitchFamily="34" charset="-120"/>
              </a:rPr>
              <a:t>ONNX · TensorRT · NCNN</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200" i="1" dirty="0">
                <a:solidFill>
                  <a:srgbClr val="AABBCC"/>
                </a:solidFill>
                <a:latin typeface="Calibri" pitchFamily="34" charset="0"/>
                <a:ea typeface="Calibri" pitchFamily="34" charset="-122"/>
                <a:cs typeface="Calibri" pitchFamily="34" charset="-120"/>
              </a:rPr>
              <a:t>Ο κόμβος εξαγωγής υποστηρίζει 3 formats για μέγιστη συμβατότητα:</a:t>
            </a:r>
            <a:endParaRPr lang="en-US" sz="1200" dirty="0"/>
          </a:p>
        </p:txBody>
      </p:sp>
      <p:sp>
        <p:nvSpPr>
          <p:cNvPr id="7" name="Shape 5"/>
          <p:cNvSpPr/>
          <p:nvPr/>
        </p:nvSpPr>
        <p:spPr>
          <a:xfrm>
            <a:off x="182880" y="1371600"/>
            <a:ext cx="2834640" cy="3566160"/>
          </a:xfrm>
          <a:prstGeom prst="rect">
            <a:avLst/>
          </a:prstGeom>
          <a:solidFill>
            <a:srgbClr val="0D1F3C"/>
          </a:solidFill>
          <a:ln w="25400">
            <a:solidFill>
              <a:srgbClr val="00D4FF"/>
            </a:solidFill>
            <a:prstDash val="solid"/>
          </a:ln>
        </p:spPr>
      </p:sp>
      <p:sp>
        <p:nvSpPr>
          <p:cNvPr id="8" name="Shape 6"/>
          <p:cNvSpPr/>
          <p:nvPr/>
        </p:nvSpPr>
        <p:spPr>
          <a:xfrm>
            <a:off x="182880" y="1371600"/>
            <a:ext cx="2834640" cy="685800"/>
          </a:xfrm>
          <a:prstGeom prst="rect">
            <a:avLst/>
          </a:prstGeom>
          <a:solidFill>
            <a:srgbClr val="00D4FF">
              <a:alpha val="80000"/>
            </a:srgbClr>
          </a:solidFill>
          <a:ln/>
        </p:spPr>
      </p:sp>
      <p:sp>
        <p:nvSpPr>
          <p:cNvPr id="9" name="Text 7"/>
          <p:cNvSpPr/>
          <p:nvPr/>
        </p:nvSpPr>
        <p:spPr>
          <a:xfrm>
            <a:off x="274320" y="1408176"/>
            <a:ext cx="1920240" cy="347472"/>
          </a:xfrm>
          <a:prstGeom prst="rect">
            <a:avLst/>
          </a:prstGeom>
          <a:noFill/>
          <a:ln/>
        </p:spPr>
        <p:txBody>
          <a:bodyPr wrap="square" lIns="0" tIns="0" rIns="0" bIns="0" rtlCol="0" anchor="ctr"/>
          <a:lstStyle/>
          <a:p>
            <a:pPr indent="0" marL="0">
              <a:buNone/>
            </a:pPr>
            <a:r>
              <a:rPr lang="en-US" sz="2200" b="1" dirty="0">
                <a:solidFill>
                  <a:srgbClr val="FFFFFF"/>
                </a:solidFill>
                <a:latin typeface="Consolas" pitchFamily="34" charset="0"/>
                <a:ea typeface="Consolas" pitchFamily="34" charset="-122"/>
                <a:cs typeface="Consolas" pitchFamily="34" charset="-120"/>
              </a:rPr>
              <a:t>.onnx</a:t>
            </a:r>
            <a:endParaRPr lang="en-US" sz="2200" dirty="0"/>
          </a:p>
        </p:txBody>
      </p:sp>
      <p:sp>
        <p:nvSpPr>
          <p:cNvPr id="10" name="Text 8"/>
          <p:cNvSpPr/>
          <p:nvPr/>
        </p:nvSpPr>
        <p:spPr>
          <a:xfrm>
            <a:off x="274320" y="1783080"/>
            <a:ext cx="2651760" cy="237744"/>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ONNX Runtime</a:t>
            </a:r>
            <a:endParaRPr lang="en-US" sz="1000" dirty="0"/>
          </a:p>
        </p:txBody>
      </p:sp>
      <p:sp>
        <p:nvSpPr>
          <p:cNvPr id="11" name="Text 9"/>
          <p:cNvSpPr/>
          <p:nvPr/>
        </p:nvSpPr>
        <p:spPr>
          <a:xfrm>
            <a:off x="274320" y="2130552"/>
            <a:ext cx="2651760" cy="228600"/>
          </a:xfrm>
          <a:prstGeom prst="rect">
            <a:avLst/>
          </a:prstGeom>
          <a:noFill/>
          <a:ln/>
        </p:spPr>
        <p:txBody>
          <a:bodyPr wrap="square" lIns="0" tIns="0" rIns="0" bIns="0"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Open Neural Network Exchange</a:t>
            </a:r>
            <a:endParaRPr lang="en-US" sz="900" dirty="0"/>
          </a:p>
        </p:txBody>
      </p:sp>
      <p:sp>
        <p:nvSpPr>
          <p:cNvPr id="12" name="Text 10"/>
          <p:cNvSpPr/>
          <p:nvPr/>
        </p:nvSpPr>
        <p:spPr>
          <a:xfrm>
            <a:off x="320040" y="2450592"/>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CPU &amp; GPU inference</a:t>
            </a:r>
            <a:endParaRPr lang="en-US" sz="1000" dirty="0"/>
          </a:p>
        </p:txBody>
      </p:sp>
      <p:sp>
        <p:nvSpPr>
          <p:cNvPr id="13" name="Text 11"/>
          <p:cNvSpPr/>
          <p:nvPr/>
        </p:nvSpPr>
        <p:spPr>
          <a:xfrm>
            <a:off x="320040" y="2779776"/>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Cross-platform support</a:t>
            </a:r>
            <a:endParaRPr lang="en-US" sz="1000" dirty="0"/>
          </a:p>
        </p:txBody>
      </p:sp>
      <p:sp>
        <p:nvSpPr>
          <p:cNvPr id="14" name="Text 12"/>
          <p:cNvSpPr/>
          <p:nvPr/>
        </p:nvSpPr>
        <p:spPr>
          <a:xfrm>
            <a:off x="320040" y="3108960"/>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Framework agnostic</a:t>
            </a:r>
            <a:endParaRPr lang="en-US" sz="1000" dirty="0"/>
          </a:p>
        </p:txBody>
      </p:sp>
      <p:sp>
        <p:nvSpPr>
          <p:cNvPr id="15" name="Text 13"/>
          <p:cNvSpPr/>
          <p:nvPr/>
        </p:nvSpPr>
        <p:spPr>
          <a:xfrm>
            <a:off x="320040" y="3438144"/>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ONNX Runtime acceleration</a:t>
            </a:r>
            <a:endParaRPr lang="en-US" sz="1000" dirty="0"/>
          </a:p>
        </p:txBody>
      </p:sp>
      <p:sp>
        <p:nvSpPr>
          <p:cNvPr id="16" name="Text 14"/>
          <p:cNvSpPr/>
          <p:nvPr/>
        </p:nvSpPr>
        <p:spPr>
          <a:xfrm>
            <a:off x="320040" y="3767328"/>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Quantization support</a:t>
            </a:r>
            <a:endParaRPr lang="en-US" sz="1000" dirty="0"/>
          </a:p>
        </p:txBody>
      </p:sp>
      <p:sp>
        <p:nvSpPr>
          <p:cNvPr id="17" name="Shape 15"/>
          <p:cNvSpPr/>
          <p:nvPr/>
        </p:nvSpPr>
        <p:spPr>
          <a:xfrm>
            <a:off x="274320" y="4434840"/>
            <a:ext cx="2651760" cy="384048"/>
          </a:xfrm>
          <a:prstGeom prst="rect">
            <a:avLst/>
          </a:prstGeom>
          <a:solidFill>
            <a:srgbClr val="001020"/>
          </a:solidFill>
          <a:ln w="12700">
            <a:solidFill>
              <a:srgbClr val="00D4FF"/>
            </a:solidFill>
            <a:prstDash val="solid"/>
          </a:ln>
        </p:spPr>
      </p:sp>
      <p:sp>
        <p:nvSpPr>
          <p:cNvPr id="18" name="Text 16"/>
          <p:cNvSpPr/>
          <p:nvPr/>
        </p:nvSpPr>
        <p:spPr>
          <a:xfrm>
            <a:off x="320040" y="4462272"/>
            <a:ext cx="2560320" cy="329184"/>
          </a:xfrm>
          <a:prstGeom prst="rect">
            <a:avLst/>
          </a:prstGeom>
          <a:noFill/>
          <a:ln/>
        </p:spPr>
        <p:txBody>
          <a:bodyPr wrap="square" lIns="0" tIns="0" rIns="0" bIns="0" rtlCol="0" anchor="ctr"/>
          <a:lstStyle/>
          <a:p>
            <a:pPr indent="0" marL="0">
              <a:buNone/>
            </a:pPr>
            <a:r>
              <a:rPr lang="en-US" sz="800" dirty="0">
                <a:solidFill>
                  <a:srgbClr val="00D4FF"/>
                </a:solidFill>
                <a:latin typeface="Consolas" pitchFamily="34" charset="0"/>
                <a:ea typeface="Consolas" pitchFamily="34" charset="-122"/>
                <a:cs typeface="Consolas" pitchFamily="34" charset="-120"/>
              </a:rPr>
              <a:t>model.export(format='onnx')</a:t>
            </a:r>
            <a:endParaRPr lang="en-US" sz="800" dirty="0"/>
          </a:p>
        </p:txBody>
      </p:sp>
      <p:sp>
        <p:nvSpPr>
          <p:cNvPr id="19" name="Shape 17"/>
          <p:cNvSpPr/>
          <p:nvPr/>
        </p:nvSpPr>
        <p:spPr>
          <a:xfrm>
            <a:off x="3154680" y="1371600"/>
            <a:ext cx="2834640" cy="3566160"/>
          </a:xfrm>
          <a:prstGeom prst="rect">
            <a:avLst/>
          </a:prstGeom>
          <a:solidFill>
            <a:srgbClr val="0D1F3C"/>
          </a:solidFill>
          <a:ln w="25400">
            <a:solidFill>
              <a:srgbClr val="FF6B35"/>
            </a:solidFill>
            <a:prstDash val="solid"/>
          </a:ln>
        </p:spPr>
      </p:sp>
      <p:sp>
        <p:nvSpPr>
          <p:cNvPr id="20" name="Shape 18"/>
          <p:cNvSpPr/>
          <p:nvPr/>
        </p:nvSpPr>
        <p:spPr>
          <a:xfrm>
            <a:off x="3154680" y="1371600"/>
            <a:ext cx="2834640" cy="685800"/>
          </a:xfrm>
          <a:prstGeom prst="rect">
            <a:avLst/>
          </a:prstGeom>
          <a:solidFill>
            <a:srgbClr val="FF6B35">
              <a:alpha val="80000"/>
            </a:srgbClr>
          </a:solidFill>
          <a:ln/>
        </p:spPr>
      </p:sp>
      <p:sp>
        <p:nvSpPr>
          <p:cNvPr id="21" name="Text 19"/>
          <p:cNvSpPr/>
          <p:nvPr/>
        </p:nvSpPr>
        <p:spPr>
          <a:xfrm>
            <a:off x="3246120" y="1408176"/>
            <a:ext cx="1920240" cy="347472"/>
          </a:xfrm>
          <a:prstGeom prst="rect">
            <a:avLst/>
          </a:prstGeom>
          <a:noFill/>
          <a:ln/>
        </p:spPr>
        <p:txBody>
          <a:bodyPr wrap="square" lIns="0" tIns="0" rIns="0" bIns="0" rtlCol="0" anchor="ctr"/>
          <a:lstStyle/>
          <a:p>
            <a:pPr indent="0" marL="0">
              <a:buNone/>
            </a:pPr>
            <a:r>
              <a:rPr lang="en-US" sz="2200" b="1" dirty="0">
                <a:solidFill>
                  <a:srgbClr val="FFFFFF"/>
                </a:solidFill>
                <a:latin typeface="Consolas" pitchFamily="34" charset="0"/>
                <a:ea typeface="Consolas" pitchFamily="34" charset="-122"/>
                <a:cs typeface="Consolas" pitchFamily="34" charset="-120"/>
              </a:rPr>
              <a:t>.engine</a:t>
            </a:r>
            <a:endParaRPr lang="en-US" sz="2200" dirty="0"/>
          </a:p>
        </p:txBody>
      </p:sp>
      <p:sp>
        <p:nvSpPr>
          <p:cNvPr id="22" name="Text 20"/>
          <p:cNvSpPr/>
          <p:nvPr/>
        </p:nvSpPr>
        <p:spPr>
          <a:xfrm>
            <a:off x="3246120" y="1783080"/>
            <a:ext cx="2651760" cy="237744"/>
          </a:xfrm>
          <a:prstGeom prst="rect">
            <a:avLst/>
          </a:prstGeom>
          <a:noFill/>
          <a:ln/>
        </p:spPr>
        <p:txBody>
          <a:bodyPr wrap="square" lIns="0" tIns="0" rIns="0" bIns="0" rtlCol="0" anchor="ctr"/>
          <a:lstStyle/>
          <a:p>
            <a:pPr indent="0" marL="0">
              <a:buNone/>
            </a:pPr>
            <a:r>
              <a:rPr lang="en-US" sz="1000" b="1" dirty="0">
                <a:solidFill>
                  <a:srgbClr val="FF6B35"/>
                </a:solidFill>
                <a:latin typeface="Calibri" pitchFamily="34" charset="0"/>
                <a:ea typeface="Calibri" pitchFamily="34" charset="-122"/>
                <a:cs typeface="Calibri" pitchFamily="34" charset="-120"/>
              </a:rPr>
              <a:t>TensorRT</a:t>
            </a:r>
            <a:endParaRPr lang="en-US" sz="1000" dirty="0"/>
          </a:p>
        </p:txBody>
      </p:sp>
      <p:sp>
        <p:nvSpPr>
          <p:cNvPr id="23" name="Text 21"/>
          <p:cNvSpPr/>
          <p:nvPr/>
        </p:nvSpPr>
        <p:spPr>
          <a:xfrm>
            <a:off x="3246120" y="2130552"/>
            <a:ext cx="2651760" cy="228600"/>
          </a:xfrm>
          <a:prstGeom prst="rect">
            <a:avLst/>
          </a:prstGeom>
          <a:noFill/>
          <a:ln/>
        </p:spPr>
        <p:txBody>
          <a:bodyPr wrap="square" lIns="0" tIns="0" rIns="0" bIns="0"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NVIDIA TensorRT Optimized</a:t>
            </a:r>
            <a:endParaRPr lang="en-US" sz="900" dirty="0"/>
          </a:p>
        </p:txBody>
      </p:sp>
      <p:sp>
        <p:nvSpPr>
          <p:cNvPr id="24" name="Text 22"/>
          <p:cNvSpPr/>
          <p:nvPr/>
        </p:nvSpPr>
        <p:spPr>
          <a:xfrm>
            <a:off x="3291840" y="2450592"/>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Μέγιστη NVIDIA GPU perf</a:t>
            </a:r>
            <a:endParaRPr lang="en-US" sz="1000" dirty="0"/>
          </a:p>
        </p:txBody>
      </p:sp>
      <p:sp>
        <p:nvSpPr>
          <p:cNvPr id="25" name="Text 23"/>
          <p:cNvSpPr/>
          <p:nvPr/>
        </p:nvSpPr>
        <p:spPr>
          <a:xfrm>
            <a:off x="3291840" y="2779776"/>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FP16/INT8 precision</a:t>
            </a:r>
            <a:endParaRPr lang="en-US" sz="1000" dirty="0"/>
          </a:p>
        </p:txBody>
      </p:sp>
      <p:sp>
        <p:nvSpPr>
          <p:cNvPr id="26" name="Text 24"/>
          <p:cNvSpPr/>
          <p:nvPr/>
        </p:nvSpPr>
        <p:spPr>
          <a:xfrm>
            <a:off x="3291840" y="3108960"/>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Layer fusion &amp; optimization</a:t>
            </a:r>
            <a:endParaRPr lang="en-US" sz="1000" dirty="0"/>
          </a:p>
        </p:txBody>
      </p:sp>
      <p:sp>
        <p:nvSpPr>
          <p:cNvPr id="27" name="Text 25"/>
          <p:cNvSpPr/>
          <p:nvPr/>
        </p:nvSpPr>
        <p:spPr>
          <a:xfrm>
            <a:off x="3291840" y="3438144"/>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Dedicated cache system</a:t>
            </a:r>
            <a:endParaRPr lang="en-US" sz="1000" dirty="0"/>
          </a:p>
        </p:txBody>
      </p:sp>
      <p:sp>
        <p:nvSpPr>
          <p:cNvPr id="28" name="Text 26"/>
          <p:cNvSpPr/>
          <p:nvPr/>
        </p:nvSpPr>
        <p:spPr>
          <a:xfrm>
            <a:off x="3291840" y="3767328"/>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Hardware fingerprinting</a:t>
            </a:r>
            <a:endParaRPr lang="en-US" sz="1000" dirty="0"/>
          </a:p>
        </p:txBody>
      </p:sp>
      <p:sp>
        <p:nvSpPr>
          <p:cNvPr id="29" name="Shape 27"/>
          <p:cNvSpPr/>
          <p:nvPr/>
        </p:nvSpPr>
        <p:spPr>
          <a:xfrm>
            <a:off x="3246120" y="4434840"/>
            <a:ext cx="2651760" cy="384048"/>
          </a:xfrm>
          <a:prstGeom prst="rect">
            <a:avLst/>
          </a:prstGeom>
          <a:solidFill>
            <a:srgbClr val="001020"/>
          </a:solidFill>
          <a:ln w="12700">
            <a:solidFill>
              <a:srgbClr val="FF6B35"/>
            </a:solidFill>
            <a:prstDash val="solid"/>
          </a:ln>
        </p:spPr>
      </p:sp>
      <p:sp>
        <p:nvSpPr>
          <p:cNvPr id="30" name="Text 28"/>
          <p:cNvSpPr/>
          <p:nvPr/>
        </p:nvSpPr>
        <p:spPr>
          <a:xfrm>
            <a:off x="3291840" y="4462272"/>
            <a:ext cx="2560320" cy="329184"/>
          </a:xfrm>
          <a:prstGeom prst="rect">
            <a:avLst/>
          </a:prstGeom>
          <a:noFill/>
          <a:ln/>
        </p:spPr>
        <p:txBody>
          <a:bodyPr wrap="square" lIns="0" tIns="0" rIns="0" bIns="0" rtlCol="0" anchor="ctr"/>
          <a:lstStyle/>
          <a:p>
            <a:pPr indent="0" marL="0">
              <a:buNone/>
            </a:pPr>
            <a:r>
              <a:rPr lang="en-US" sz="800" dirty="0">
                <a:solidFill>
                  <a:srgbClr val="FF6B35"/>
                </a:solidFill>
                <a:latin typeface="Consolas" pitchFamily="34" charset="0"/>
                <a:ea typeface="Consolas" pitchFamily="34" charset="-122"/>
                <a:cs typeface="Consolas" pitchFamily="34" charset="-120"/>
              </a:rPr>
              <a:t>model.export(format='engine')</a:t>
            </a:r>
            <a:endParaRPr lang="en-US" sz="800" dirty="0"/>
          </a:p>
        </p:txBody>
      </p:sp>
      <p:sp>
        <p:nvSpPr>
          <p:cNvPr id="31" name="Shape 29"/>
          <p:cNvSpPr/>
          <p:nvPr/>
        </p:nvSpPr>
        <p:spPr>
          <a:xfrm>
            <a:off x="6126480" y="1371600"/>
            <a:ext cx="2834640" cy="3566160"/>
          </a:xfrm>
          <a:prstGeom prst="rect">
            <a:avLst/>
          </a:prstGeom>
          <a:solidFill>
            <a:srgbClr val="0D1F3C"/>
          </a:solidFill>
          <a:ln w="25400">
            <a:solidFill>
              <a:srgbClr val="7B2FBE"/>
            </a:solidFill>
            <a:prstDash val="solid"/>
          </a:ln>
        </p:spPr>
      </p:sp>
      <p:sp>
        <p:nvSpPr>
          <p:cNvPr id="32" name="Shape 30"/>
          <p:cNvSpPr/>
          <p:nvPr/>
        </p:nvSpPr>
        <p:spPr>
          <a:xfrm>
            <a:off x="6126480" y="1371600"/>
            <a:ext cx="2834640" cy="685800"/>
          </a:xfrm>
          <a:prstGeom prst="rect">
            <a:avLst/>
          </a:prstGeom>
          <a:solidFill>
            <a:srgbClr val="7B2FBE">
              <a:alpha val="80000"/>
            </a:srgbClr>
          </a:solidFill>
          <a:ln/>
        </p:spPr>
      </p:sp>
      <p:sp>
        <p:nvSpPr>
          <p:cNvPr id="33" name="Text 31"/>
          <p:cNvSpPr/>
          <p:nvPr/>
        </p:nvSpPr>
        <p:spPr>
          <a:xfrm>
            <a:off x="6217920" y="1408176"/>
            <a:ext cx="1920240" cy="347472"/>
          </a:xfrm>
          <a:prstGeom prst="rect">
            <a:avLst/>
          </a:prstGeom>
          <a:noFill/>
          <a:ln/>
        </p:spPr>
        <p:txBody>
          <a:bodyPr wrap="square" lIns="0" tIns="0" rIns="0" bIns="0" rtlCol="0" anchor="ctr"/>
          <a:lstStyle/>
          <a:p>
            <a:pPr indent="0" marL="0">
              <a:buNone/>
            </a:pPr>
            <a:r>
              <a:rPr lang="en-US" sz="2200" b="1" dirty="0">
                <a:solidFill>
                  <a:srgbClr val="FFFFFF"/>
                </a:solidFill>
                <a:latin typeface="Consolas" pitchFamily="34" charset="0"/>
                <a:ea typeface="Consolas" pitchFamily="34" charset="-122"/>
                <a:cs typeface="Consolas" pitchFamily="34" charset="-120"/>
              </a:rPr>
              <a:t>.ncnn</a:t>
            </a:r>
            <a:endParaRPr lang="en-US" sz="2200" dirty="0"/>
          </a:p>
        </p:txBody>
      </p:sp>
      <p:sp>
        <p:nvSpPr>
          <p:cNvPr id="34" name="Text 32"/>
          <p:cNvSpPr/>
          <p:nvPr/>
        </p:nvSpPr>
        <p:spPr>
          <a:xfrm>
            <a:off x="6217920" y="1783080"/>
            <a:ext cx="2651760" cy="237744"/>
          </a:xfrm>
          <a:prstGeom prst="rect">
            <a:avLst/>
          </a:prstGeom>
          <a:noFill/>
          <a:ln/>
        </p:spPr>
        <p:txBody>
          <a:bodyPr wrap="square" lIns="0" tIns="0" rIns="0" bIns="0" rtlCol="0" anchor="ctr"/>
          <a:lstStyle/>
          <a:p>
            <a:pPr indent="0" marL="0">
              <a:buNone/>
            </a:pPr>
            <a:r>
              <a:rPr lang="en-US" sz="1000" b="1" dirty="0">
                <a:solidFill>
                  <a:srgbClr val="7B2FBE"/>
                </a:solidFill>
                <a:latin typeface="Calibri" pitchFamily="34" charset="0"/>
                <a:ea typeface="Calibri" pitchFamily="34" charset="-122"/>
                <a:cs typeface="Calibri" pitchFamily="34" charset="-120"/>
              </a:rPr>
              <a:t>NCNN</a:t>
            </a:r>
            <a:endParaRPr lang="en-US" sz="1000" dirty="0"/>
          </a:p>
        </p:txBody>
      </p:sp>
      <p:sp>
        <p:nvSpPr>
          <p:cNvPr id="35" name="Text 33"/>
          <p:cNvSpPr/>
          <p:nvPr/>
        </p:nvSpPr>
        <p:spPr>
          <a:xfrm>
            <a:off x="6217920" y="2130552"/>
            <a:ext cx="2651760" cy="228600"/>
          </a:xfrm>
          <a:prstGeom prst="rect">
            <a:avLst/>
          </a:prstGeom>
          <a:noFill/>
          <a:ln/>
        </p:spPr>
        <p:txBody>
          <a:bodyPr wrap="square" lIns="0" tIns="0" rIns="0" bIns="0" rtlCol="0" anchor="ctr"/>
          <a:lstStyle/>
          <a:p>
            <a:pPr indent="0" marL="0">
              <a:buNone/>
            </a:pPr>
            <a:r>
              <a:rPr lang="en-US" sz="900" i="1" dirty="0">
                <a:solidFill>
                  <a:srgbClr val="8899BB"/>
                </a:solidFill>
                <a:latin typeface="Calibri" pitchFamily="34" charset="0"/>
                <a:ea typeface="Calibri" pitchFamily="34" charset="-122"/>
                <a:cs typeface="Calibri" pitchFamily="34" charset="-120"/>
              </a:rPr>
              <a:t>Mobile Neural Network</a:t>
            </a:r>
            <a:endParaRPr lang="en-US" sz="900" dirty="0"/>
          </a:p>
        </p:txBody>
      </p:sp>
      <p:sp>
        <p:nvSpPr>
          <p:cNvPr id="36" name="Text 34"/>
          <p:cNvSpPr/>
          <p:nvPr/>
        </p:nvSpPr>
        <p:spPr>
          <a:xfrm>
            <a:off x="6263640" y="2450592"/>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Android &amp; iOS deploy</a:t>
            </a:r>
            <a:endParaRPr lang="en-US" sz="1000" dirty="0"/>
          </a:p>
        </p:txBody>
      </p:sp>
      <p:sp>
        <p:nvSpPr>
          <p:cNvPr id="37" name="Text 35"/>
          <p:cNvSpPr/>
          <p:nvPr/>
        </p:nvSpPr>
        <p:spPr>
          <a:xfrm>
            <a:off x="6263640" y="2779776"/>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Arm CPU optimized</a:t>
            </a:r>
            <a:endParaRPr lang="en-US" sz="1000" dirty="0"/>
          </a:p>
        </p:txBody>
      </p:sp>
      <p:sp>
        <p:nvSpPr>
          <p:cNvPr id="38" name="Text 36"/>
          <p:cNvSpPr/>
          <p:nvPr/>
        </p:nvSpPr>
        <p:spPr>
          <a:xfrm>
            <a:off x="6263640" y="3108960"/>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Zero dependencies</a:t>
            </a:r>
            <a:endParaRPr lang="en-US" sz="1000" dirty="0"/>
          </a:p>
        </p:txBody>
      </p:sp>
      <p:sp>
        <p:nvSpPr>
          <p:cNvPr id="39" name="Text 37"/>
          <p:cNvSpPr/>
          <p:nvPr/>
        </p:nvSpPr>
        <p:spPr>
          <a:xfrm>
            <a:off x="6263640" y="3438144"/>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Ultra-low latency</a:t>
            </a:r>
            <a:endParaRPr lang="en-US" sz="1000" dirty="0"/>
          </a:p>
        </p:txBody>
      </p:sp>
      <p:sp>
        <p:nvSpPr>
          <p:cNvPr id="40" name="Text 38"/>
          <p:cNvSpPr/>
          <p:nvPr/>
        </p:nvSpPr>
        <p:spPr>
          <a:xfrm>
            <a:off x="6263640" y="3767328"/>
            <a:ext cx="2560320" cy="27432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  Embedded systems</a:t>
            </a:r>
            <a:endParaRPr lang="en-US" sz="1000" dirty="0"/>
          </a:p>
        </p:txBody>
      </p:sp>
      <p:sp>
        <p:nvSpPr>
          <p:cNvPr id="41" name="Shape 39"/>
          <p:cNvSpPr/>
          <p:nvPr/>
        </p:nvSpPr>
        <p:spPr>
          <a:xfrm>
            <a:off x="6217920" y="4434840"/>
            <a:ext cx="2651760" cy="384048"/>
          </a:xfrm>
          <a:prstGeom prst="rect">
            <a:avLst/>
          </a:prstGeom>
          <a:solidFill>
            <a:srgbClr val="001020"/>
          </a:solidFill>
          <a:ln w="12700">
            <a:solidFill>
              <a:srgbClr val="7B2FBE"/>
            </a:solidFill>
            <a:prstDash val="solid"/>
          </a:ln>
        </p:spPr>
      </p:sp>
      <p:sp>
        <p:nvSpPr>
          <p:cNvPr id="42" name="Text 40"/>
          <p:cNvSpPr/>
          <p:nvPr/>
        </p:nvSpPr>
        <p:spPr>
          <a:xfrm>
            <a:off x="6263640" y="4462272"/>
            <a:ext cx="2560320" cy="329184"/>
          </a:xfrm>
          <a:prstGeom prst="rect">
            <a:avLst/>
          </a:prstGeom>
          <a:noFill/>
          <a:ln/>
        </p:spPr>
        <p:txBody>
          <a:bodyPr wrap="square" lIns="0" tIns="0" rIns="0" bIns="0" rtlCol="0" anchor="ctr"/>
          <a:lstStyle/>
          <a:p>
            <a:pPr indent="0" marL="0">
              <a:buNone/>
            </a:pPr>
            <a:r>
              <a:rPr lang="en-US" sz="800" dirty="0">
                <a:solidFill>
                  <a:srgbClr val="7B2FBE"/>
                </a:solidFill>
                <a:latin typeface="Consolas" pitchFamily="34" charset="0"/>
                <a:ea typeface="Consolas" pitchFamily="34" charset="-122"/>
                <a:cs typeface="Consolas" pitchFamily="34" charset="-120"/>
              </a:rPr>
              <a:t>model.export(format='ncnn')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6B35"/>
            </a:solidFill>
            <a:prstDash val="solid"/>
          </a:ln>
        </p:spPr>
      </p:sp>
      <p:sp>
        <p:nvSpPr>
          <p:cNvPr id="3" name="Shape 1"/>
          <p:cNvSpPr/>
          <p:nvPr/>
        </p:nvSpPr>
        <p:spPr>
          <a:xfrm>
            <a:off x="0" y="0"/>
            <a:ext cx="73152" cy="822960"/>
          </a:xfrm>
          <a:prstGeom prst="rect">
            <a:avLst/>
          </a:prstGeom>
          <a:solidFill>
            <a:srgbClr val="FF6B35"/>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09 — ONNX &amp; TensorRT Deep Dive</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6B35"/>
                </a:solidFill>
                <a:latin typeface="Calibri" pitchFamily="34" charset="0"/>
                <a:ea typeface="Calibri" pitchFamily="34" charset="-122"/>
                <a:cs typeface="Calibri" pitchFamily="34" charset="-120"/>
              </a:rPr>
              <a:t>Βελτιστοποίηση για Production</a:t>
            </a:r>
            <a:endParaRPr lang="en-US" sz="1100" dirty="0"/>
          </a:p>
        </p:txBody>
      </p:sp>
      <p:sp>
        <p:nvSpPr>
          <p:cNvPr id="6" name="Shape 4"/>
          <p:cNvSpPr/>
          <p:nvPr/>
        </p:nvSpPr>
        <p:spPr>
          <a:xfrm>
            <a:off x="182880" y="914400"/>
            <a:ext cx="4206240" cy="4023360"/>
          </a:xfrm>
          <a:prstGeom prst="rect">
            <a:avLst/>
          </a:prstGeom>
          <a:solidFill>
            <a:srgbClr val="122544"/>
          </a:solidFill>
          <a:ln w="19050">
            <a:solidFill>
              <a:srgbClr val="00D4FF"/>
            </a:solidFill>
            <a:prstDash val="solid"/>
          </a:ln>
        </p:spPr>
      </p:sp>
      <p:sp>
        <p:nvSpPr>
          <p:cNvPr id="7" name="Text 5"/>
          <p:cNvSpPr/>
          <p:nvPr/>
        </p:nvSpPr>
        <p:spPr>
          <a:xfrm>
            <a:off x="274320" y="987552"/>
            <a:ext cx="4023360" cy="384048"/>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ONNX Runtime</a:t>
            </a:r>
            <a:endParaRPr lang="en-US" sz="1600" dirty="0"/>
          </a:p>
        </p:txBody>
      </p:sp>
      <p:sp>
        <p:nvSpPr>
          <p:cNvPr id="8" name="Shape 6"/>
          <p:cNvSpPr/>
          <p:nvPr/>
        </p:nvSpPr>
        <p:spPr>
          <a:xfrm>
            <a:off x="320040" y="1508760"/>
            <a:ext cx="182880" cy="182880"/>
          </a:xfrm>
          <a:prstGeom prst="ellipse">
            <a:avLst/>
          </a:prstGeom>
          <a:solidFill>
            <a:srgbClr val="00D4FF"/>
          </a:solidFill>
          <a:ln/>
        </p:spPr>
      </p:sp>
      <p:sp>
        <p:nvSpPr>
          <p:cNvPr id="9" name="Text 7"/>
          <p:cNvSpPr/>
          <p:nvPr/>
        </p:nvSpPr>
        <p:spPr>
          <a:xfrm>
            <a:off x="594360" y="1481328"/>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Open standard για AI model interchange</a:t>
            </a:r>
            <a:endParaRPr lang="en-US" sz="1000" dirty="0"/>
          </a:p>
        </p:txBody>
      </p:sp>
      <p:sp>
        <p:nvSpPr>
          <p:cNvPr id="10" name="Shape 8"/>
          <p:cNvSpPr/>
          <p:nvPr/>
        </p:nvSpPr>
        <p:spPr>
          <a:xfrm>
            <a:off x="320040" y="2029968"/>
            <a:ext cx="182880" cy="182880"/>
          </a:xfrm>
          <a:prstGeom prst="ellipse">
            <a:avLst/>
          </a:prstGeom>
          <a:solidFill>
            <a:srgbClr val="00D4FF"/>
          </a:solidFill>
          <a:ln/>
        </p:spPr>
      </p:sp>
      <p:sp>
        <p:nvSpPr>
          <p:cNvPr id="11" name="Text 9"/>
          <p:cNvSpPr/>
          <p:nvPr/>
        </p:nvSpPr>
        <p:spPr>
          <a:xfrm>
            <a:off x="594360" y="2002536"/>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Εκτελείται σε CPUExecutionProvider</a:t>
            </a:r>
            <a:endParaRPr lang="en-US" sz="1000" dirty="0"/>
          </a:p>
          <a:p>
            <a:pPr indent="0" marL="0">
              <a:buNone/>
            </a:pPr>
            <a:r>
              <a:rPr lang="en-US" sz="1000" dirty="0">
                <a:solidFill>
                  <a:srgbClr val="AABBCC"/>
                </a:solidFill>
                <a:latin typeface="Calibri" pitchFamily="34" charset="0"/>
                <a:ea typeface="Calibri" pitchFamily="34" charset="-122"/>
                <a:cs typeface="Calibri" pitchFamily="34" charset="-120"/>
              </a:rPr>
              <a:t>ή CUDAExecutionProvider</a:t>
            </a:r>
            <a:endParaRPr lang="en-US" sz="1000" dirty="0"/>
          </a:p>
        </p:txBody>
      </p:sp>
      <p:sp>
        <p:nvSpPr>
          <p:cNvPr id="12" name="Shape 10"/>
          <p:cNvSpPr/>
          <p:nvPr/>
        </p:nvSpPr>
        <p:spPr>
          <a:xfrm>
            <a:off x="320040" y="2551176"/>
            <a:ext cx="182880" cy="182880"/>
          </a:xfrm>
          <a:prstGeom prst="ellipse">
            <a:avLst/>
          </a:prstGeom>
          <a:solidFill>
            <a:srgbClr val="00D4FF"/>
          </a:solidFill>
          <a:ln/>
        </p:spPr>
      </p:sp>
      <p:sp>
        <p:nvSpPr>
          <p:cNvPr id="13" name="Text 11"/>
          <p:cNvSpPr/>
          <p:nvPr/>
        </p:nvSpPr>
        <p:spPr>
          <a:xfrm>
            <a:off x="594360" y="2523744"/>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Dynamic shapes για ευέλικτα inputs</a:t>
            </a:r>
            <a:endParaRPr lang="en-US" sz="1000" dirty="0"/>
          </a:p>
        </p:txBody>
      </p:sp>
      <p:sp>
        <p:nvSpPr>
          <p:cNvPr id="14" name="Shape 12"/>
          <p:cNvSpPr/>
          <p:nvPr/>
        </p:nvSpPr>
        <p:spPr>
          <a:xfrm>
            <a:off x="320040" y="3072384"/>
            <a:ext cx="182880" cy="182880"/>
          </a:xfrm>
          <a:prstGeom prst="ellipse">
            <a:avLst/>
          </a:prstGeom>
          <a:solidFill>
            <a:srgbClr val="00D4FF"/>
          </a:solidFill>
          <a:ln/>
        </p:spPr>
      </p:sp>
      <p:sp>
        <p:nvSpPr>
          <p:cNvPr id="15" name="Text 13"/>
          <p:cNvSpPr/>
          <p:nvPr/>
        </p:nvSpPr>
        <p:spPr>
          <a:xfrm>
            <a:off x="594360" y="3044952"/>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Quantization (INT8) για ταχύτητα</a:t>
            </a:r>
            <a:endParaRPr lang="en-US" sz="1000" dirty="0"/>
          </a:p>
        </p:txBody>
      </p:sp>
      <p:sp>
        <p:nvSpPr>
          <p:cNvPr id="16" name="Shape 14"/>
          <p:cNvSpPr/>
          <p:nvPr/>
        </p:nvSpPr>
        <p:spPr>
          <a:xfrm>
            <a:off x="320040" y="3593592"/>
            <a:ext cx="182880" cy="182880"/>
          </a:xfrm>
          <a:prstGeom prst="ellipse">
            <a:avLst/>
          </a:prstGeom>
          <a:solidFill>
            <a:srgbClr val="00D4FF"/>
          </a:solidFill>
          <a:ln/>
        </p:spPr>
      </p:sp>
      <p:sp>
        <p:nvSpPr>
          <p:cNvPr id="17" name="Text 15"/>
          <p:cNvSpPr/>
          <p:nvPr/>
        </p:nvSpPr>
        <p:spPr>
          <a:xfrm>
            <a:off x="594360" y="3566160"/>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Profiling API για bottleneck analysis</a:t>
            </a:r>
            <a:endParaRPr lang="en-US" sz="1000" dirty="0"/>
          </a:p>
        </p:txBody>
      </p:sp>
      <p:sp>
        <p:nvSpPr>
          <p:cNvPr id="18" name="Shape 16"/>
          <p:cNvSpPr/>
          <p:nvPr/>
        </p:nvSpPr>
        <p:spPr>
          <a:xfrm>
            <a:off x="320040" y="4114800"/>
            <a:ext cx="182880" cy="182880"/>
          </a:xfrm>
          <a:prstGeom prst="ellipse">
            <a:avLst/>
          </a:prstGeom>
          <a:solidFill>
            <a:srgbClr val="00D4FF"/>
          </a:solidFill>
          <a:ln/>
        </p:spPr>
      </p:sp>
      <p:sp>
        <p:nvSpPr>
          <p:cNvPr id="19" name="Text 17"/>
          <p:cNvSpPr/>
          <p:nvPr/>
        </p:nvSpPr>
        <p:spPr>
          <a:xfrm>
            <a:off x="594360" y="4087368"/>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Χρησιμοποιείται ως intermediate format</a:t>
            </a:r>
            <a:endParaRPr lang="en-US" sz="1000" dirty="0"/>
          </a:p>
          <a:p>
            <a:pPr indent="0" marL="0">
              <a:buNone/>
            </a:pPr>
            <a:r>
              <a:rPr lang="en-US" sz="1000" dirty="0">
                <a:solidFill>
                  <a:srgbClr val="AABBCC"/>
                </a:solidFill>
                <a:latin typeface="Calibri" pitchFamily="34" charset="0"/>
                <a:ea typeface="Calibri" pitchFamily="34" charset="-122"/>
                <a:cs typeface="Calibri" pitchFamily="34" charset="-120"/>
              </a:rPr>
              <a:t>πριν TensorRT conversion</a:t>
            </a:r>
            <a:endParaRPr lang="en-US" sz="1000" dirty="0"/>
          </a:p>
        </p:txBody>
      </p:sp>
      <p:sp>
        <p:nvSpPr>
          <p:cNvPr id="20" name="Shape 18"/>
          <p:cNvSpPr/>
          <p:nvPr/>
        </p:nvSpPr>
        <p:spPr>
          <a:xfrm>
            <a:off x="4754880" y="914400"/>
            <a:ext cx="4206240" cy="4023360"/>
          </a:xfrm>
          <a:prstGeom prst="rect">
            <a:avLst/>
          </a:prstGeom>
          <a:solidFill>
            <a:srgbClr val="122544"/>
          </a:solidFill>
          <a:ln w="19050">
            <a:solidFill>
              <a:srgbClr val="FF6B35"/>
            </a:solidFill>
            <a:prstDash val="solid"/>
          </a:ln>
        </p:spPr>
      </p:sp>
      <p:sp>
        <p:nvSpPr>
          <p:cNvPr id="21" name="Text 19"/>
          <p:cNvSpPr/>
          <p:nvPr/>
        </p:nvSpPr>
        <p:spPr>
          <a:xfrm>
            <a:off x="4846320" y="987552"/>
            <a:ext cx="4023360" cy="384048"/>
          </a:xfrm>
          <a:prstGeom prst="rect">
            <a:avLst/>
          </a:prstGeom>
          <a:noFill/>
          <a:ln/>
        </p:spPr>
        <p:txBody>
          <a:bodyPr wrap="square" lIns="0" tIns="0" rIns="0" bIns="0" rtlCol="0" anchor="ctr"/>
          <a:lstStyle/>
          <a:p>
            <a:pPr indent="0" marL="0">
              <a:buNone/>
            </a:pPr>
            <a:r>
              <a:rPr lang="en-US" sz="1600" b="1" dirty="0">
                <a:solidFill>
                  <a:srgbClr val="FF6B35"/>
                </a:solidFill>
                <a:latin typeface="Calibri" pitchFamily="34" charset="0"/>
                <a:ea typeface="Calibri" pitchFamily="34" charset="-122"/>
                <a:cs typeface="Calibri" pitchFamily="34" charset="-120"/>
              </a:rPr>
              <a:t>TensorRT</a:t>
            </a:r>
            <a:endParaRPr lang="en-US" sz="1600" dirty="0"/>
          </a:p>
        </p:txBody>
      </p:sp>
      <p:sp>
        <p:nvSpPr>
          <p:cNvPr id="22" name="Shape 20"/>
          <p:cNvSpPr/>
          <p:nvPr/>
        </p:nvSpPr>
        <p:spPr>
          <a:xfrm>
            <a:off x="4892040" y="1508760"/>
            <a:ext cx="182880" cy="182880"/>
          </a:xfrm>
          <a:prstGeom prst="ellipse">
            <a:avLst/>
          </a:prstGeom>
          <a:solidFill>
            <a:srgbClr val="FF6B35"/>
          </a:solidFill>
          <a:ln/>
        </p:spPr>
      </p:sp>
      <p:sp>
        <p:nvSpPr>
          <p:cNvPr id="23" name="Text 21"/>
          <p:cNvSpPr/>
          <p:nvPr/>
        </p:nvSpPr>
        <p:spPr>
          <a:xfrm>
            <a:off x="5166360" y="1481328"/>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NVIDIA proprietary optimizer</a:t>
            </a:r>
            <a:endParaRPr lang="en-US" sz="1000" dirty="0"/>
          </a:p>
        </p:txBody>
      </p:sp>
      <p:sp>
        <p:nvSpPr>
          <p:cNvPr id="24" name="Shape 22"/>
          <p:cNvSpPr/>
          <p:nvPr/>
        </p:nvSpPr>
        <p:spPr>
          <a:xfrm>
            <a:off x="4892040" y="2029968"/>
            <a:ext cx="182880" cy="182880"/>
          </a:xfrm>
          <a:prstGeom prst="ellipse">
            <a:avLst/>
          </a:prstGeom>
          <a:solidFill>
            <a:srgbClr val="FF6B35"/>
          </a:solidFill>
          <a:ln/>
        </p:spPr>
      </p:sp>
      <p:sp>
        <p:nvSpPr>
          <p:cNvPr id="25" name="Text 23"/>
          <p:cNvSpPr/>
          <p:nvPr/>
        </p:nvSpPr>
        <p:spPr>
          <a:xfrm>
            <a:off x="5166360" y="2002536"/>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Layer fusion: μειώνει memory bandwidth</a:t>
            </a:r>
            <a:endParaRPr lang="en-US" sz="1000" dirty="0"/>
          </a:p>
        </p:txBody>
      </p:sp>
      <p:sp>
        <p:nvSpPr>
          <p:cNvPr id="26" name="Shape 24"/>
          <p:cNvSpPr/>
          <p:nvPr/>
        </p:nvSpPr>
        <p:spPr>
          <a:xfrm>
            <a:off x="4892040" y="2551176"/>
            <a:ext cx="182880" cy="182880"/>
          </a:xfrm>
          <a:prstGeom prst="ellipse">
            <a:avLst/>
          </a:prstGeom>
          <a:solidFill>
            <a:srgbClr val="FF6B35"/>
          </a:solidFill>
          <a:ln/>
        </p:spPr>
      </p:sp>
      <p:sp>
        <p:nvSpPr>
          <p:cNvPr id="27" name="Text 25"/>
          <p:cNvSpPr/>
          <p:nvPr/>
        </p:nvSpPr>
        <p:spPr>
          <a:xfrm>
            <a:off x="5166360" y="2523744"/>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FP16/INT8 precision modes</a:t>
            </a:r>
            <a:endParaRPr lang="en-US" sz="1000" dirty="0"/>
          </a:p>
        </p:txBody>
      </p:sp>
      <p:sp>
        <p:nvSpPr>
          <p:cNvPr id="28" name="Shape 26"/>
          <p:cNvSpPr/>
          <p:nvPr/>
        </p:nvSpPr>
        <p:spPr>
          <a:xfrm>
            <a:off x="4892040" y="3072384"/>
            <a:ext cx="182880" cy="182880"/>
          </a:xfrm>
          <a:prstGeom prst="ellipse">
            <a:avLst/>
          </a:prstGeom>
          <a:solidFill>
            <a:srgbClr val="FF6B35"/>
          </a:solidFill>
          <a:ln/>
        </p:spPr>
      </p:sp>
      <p:sp>
        <p:nvSpPr>
          <p:cNvPr id="29" name="Text 27"/>
          <p:cNvSpPr/>
          <p:nvPr/>
        </p:nvSpPr>
        <p:spPr>
          <a:xfrm>
            <a:off x="5166360" y="3044952"/>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Kernel auto-tuning για συγκεκριμένο GPU</a:t>
            </a:r>
            <a:endParaRPr lang="en-US" sz="1000" dirty="0"/>
          </a:p>
        </p:txBody>
      </p:sp>
      <p:sp>
        <p:nvSpPr>
          <p:cNvPr id="30" name="Shape 28"/>
          <p:cNvSpPr/>
          <p:nvPr/>
        </p:nvSpPr>
        <p:spPr>
          <a:xfrm>
            <a:off x="4892040" y="3593592"/>
            <a:ext cx="182880" cy="182880"/>
          </a:xfrm>
          <a:prstGeom prst="ellipse">
            <a:avLst/>
          </a:prstGeom>
          <a:solidFill>
            <a:srgbClr val="FF6B35"/>
          </a:solidFill>
          <a:ln/>
        </p:spPr>
      </p:sp>
      <p:sp>
        <p:nvSpPr>
          <p:cNvPr id="31" name="Text 29"/>
          <p:cNvSpPr/>
          <p:nvPr/>
        </p:nvSpPr>
        <p:spPr>
          <a:xfrm>
            <a:off x="5166360" y="3566160"/>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Μοναδικά hardware fingerprints</a:t>
            </a:r>
            <a:endParaRPr lang="en-US" sz="1000" dirty="0"/>
          </a:p>
          <a:p>
            <a:pPr indent="0" marL="0">
              <a:buNone/>
            </a:pPr>
            <a:r>
              <a:rPr lang="en-US" sz="1000" dirty="0">
                <a:solidFill>
                  <a:srgbClr val="AABBCC"/>
                </a:solidFill>
                <a:latin typeface="Calibri" pitchFamily="34" charset="0"/>
                <a:ea typeface="Calibri" pitchFamily="34" charset="-122"/>
                <a:cs typeface="Calibri" pitchFamily="34" charset="-120"/>
              </a:rPr>
              <a:t>για invalidation cache</a:t>
            </a:r>
            <a:endParaRPr lang="en-US" sz="1000" dirty="0"/>
          </a:p>
        </p:txBody>
      </p:sp>
      <p:sp>
        <p:nvSpPr>
          <p:cNvPr id="32" name="Shape 30"/>
          <p:cNvSpPr/>
          <p:nvPr/>
        </p:nvSpPr>
        <p:spPr>
          <a:xfrm>
            <a:off x="4892040" y="4114800"/>
            <a:ext cx="182880" cy="182880"/>
          </a:xfrm>
          <a:prstGeom prst="ellipse">
            <a:avLst/>
          </a:prstGeom>
          <a:solidFill>
            <a:srgbClr val="FF6B35"/>
          </a:solidFill>
          <a:ln/>
        </p:spPr>
      </p:sp>
      <p:sp>
        <p:nvSpPr>
          <p:cNvPr id="33" name="Text 31"/>
          <p:cNvSpPr/>
          <p:nvPr/>
        </p:nvSpPr>
        <p:spPr>
          <a:xfrm>
            <a:off x="5166360" y="4087368"/>
            <a:ext cx="3611880" cy="438912"/>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Το Models Manager Pro διαχειρίζεται</a:t>
            </a:r>
            <a:endParaRPr lang="en-US" sz="1000" dirty="0"/>
          </a:p>
          <a:p>
            <a:pPr indent="0" marL="0">
              <a:buNone/>
            </a:pPr>
            <a:r>
              <a:rPr lang="en-US" sz="1000" dirty="0">
                <a:solidFill>
                  <a:srgbClr val="AABBCC"/>
                </a:solidFill>
                <a:latin typeface="Calibri" pitchFamily="34" charset="0"/>
                <a:ea typeface="Calibri" pitchFamily="34" charset="-122"/>
                <a:cs typeface="Calibri" pitchFamily="34" charset="-120"/>
              </a:rPr>
              <a:t>αυτόματα τα .engine αρχεία</a:t>
            </a:r>
            <a:endParaRPr lang="en-US" sz="1000" dirty="0"/>
          </a:p>
        </p:txBody>
      </p:sp>
      <p:graphicFrame>
        <p:nvGraphicFramePr>
          <p:cNvPr id="34" name="Chart 0" descr=""/>
          <p:cNvGraphicFramePr/>
          <p:nvPr/>
        </p:nvGraphicFramePr>
        <p:xfrm>
          <a:off x="182880" y="4873752"/>
          <a:ext cx="8778240" cy="25717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7B2FBE"/>
            </a:solidFill>
            <a:prstDash val="solid"/>
          </a:ln>
        </p:spPr>
      </p:sp>
      <p:sp>
        <p:nvSpPr>
          <p:cNvPr id="3" name="Shape 1"/>
          <p:cNvSpPr/>
          <p:nvPr/>
        </p:nvSpPr>
        <p:spPr>
          <a:xfrm>
            <a:off x="0" y="0"/>
            <a:ext cx="73152" cy="822960"/>
          </a:xfrm>
          <a:prstGeom prst="rect">
            <a:avLst/>
          </a:prstGeom>
          <a:solidFill>
            <a:srgbClr val="7B2FBE"/>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10 — NCNN: Mobile &amp; Edge Deployment</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7B2FBE"/>
                </a:solidFill>
                <a:latin typeface="Calibri" pitchFamily="34" charset="0"/>
                <a:ea typeface="Calibri" pitchFamily="34" charset="-122"/>
                <a:cs typeface="Calibri" pitchFamily="34" charset="-120"/>
              </a:rPr>
              <a:t>Zero-dependency Neural Networks</a:t>
            </a:r>
            <a:endParaRPr lang="en-US" sz="1100" dirty="0"/>
          </a:p>
        </p:txBody>
      </p:sp>
      <p:sp>
        <p:nvSpPr>
          <p:cNvPr id="6" name="Shape 4"/>
          <p:cNvSpPr/>
          <p:nvPr/>
        </p:nvSpPr>
        <p:spPr>
          <a:xfrm>
            <a:off x="457200" y="960120"/>
            <a:ext cx="1920240" cy="1005840"/>
          </a:xfrm>
          <a:prstGeom prst="rect">
            <a:avLst/>
          </a:prstGeom>
          <a:solidFill>
            <a:srgbClr val="0D1F3C"/>
          </a:solidFill>
          <a:ln w="25400">
            <a:solidFill>
              <a:srgbClr val="7B2FBE"/>
            </a:solidFill>
            <a:prstDash val="solid"/>
          </a:ln>
        </p:spPr>
      </p:sp>
      <p:sp>
        <p:nvSpPr>
          <p:cNvPr id="7" name="Text 5"/>
          <p:cNvSpPr/>
          <p:nvPr/>
        </p:nvSpPr>
        <p:spPr>
          <a:xfrm>
            <a:off x="457200" y="996696"/>
            <a:ext cx="1920240" cy="548640"/>
          </a:xfrm>
          <a:prstGeom prst="rect">
            <a:avLst/>
          </a:prstGeom>
          <a:noFill/>
          <a:ln/>
        </p:spPr>
        <p:txBody>
          <a:bodyPr wrap="square" lIns="0" tIns="0" rIns="0" bIns="0" rtlCol="0" anchor="ctr"/>
          <a:lstStyle/>
          <a:p>
            <a:pPr algn="ctr" indent="0" marL="0">
              <a:buNone/>
            </a:pPr>
            <a:r>
              <a:rPr lang="en-US" sz="3200" b="1" dirty="0">
                <a:solidFill>
                  <a:srgbClr val="7B2FBE"/>
                </a:solidFill>
                <a:latin typeface="Calibri" pitchFamily="34" charset="0"/>
                <a:ea typeface="Calibri" pitchFamily="34" charset="-122"/>
                <a:cs typeface="Calibri" pitchFamily="34" charset="-120"/>
              </a:rPr>
              <a:t>0</a:t>
            </a:r>
            <a:endParaRPr lang="en-US" sz="3200" dirty="0"/>
          </a:p>
        </p:txBody>
      </p:sp>
      <p:sp>
        <p:nvSpPr>
          <p:cNvPr id="8" name="Text 6"/>
          <p:cNvSpPr/>
          <p:nvPr/>
        </p:nvSpPr>
        <p:spPr>
          <a:xfrm>
            <a:off x="457200" y="1554480"/>
            <a:ext cx="1920240" cy="347472"/>
          </a:xfrm>
          <a:prstGeom prst="rect">
            <a:avLst/>
          </a:prstGeom>
          <a:noFill/>
          <a:ln/>
        </p:spPr>
        <p:txBody>
          <a:bodyPr wrap="square" lIns="0" tIns="0" rIns="0" bIns="0"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Dependencies</a:t>
            </a:r>
            <a:endParaRPr lang="en-US" sz="950" dirty="0"/>
          </a:p>
        </p:txBody>
      </p:sp>
      <p:sp>
        <p:nvSpPr>
          <p:cNvPr id="9" name="Shape 7"/>
          <p:cNvSpPr/>
          <p:nvPr/>
        </p:nvSpPr>
        <p:spPr>
          <a:xfrm>
            <a:off x="2560320" y="960120"/>
            <a:ext cx="1920240" cy="1005840"/>
          </a:xfrm>
          <a:prstGeom prst="rect">
            <a:avLst/>
          </a:prstGeom>
          <a:solidFill>
            <a:srgbClr val="0D1F3C"/>
          </a:solidFill>
          <a:ln w="25400">
            <a:solidFill>
              <a:srgbClr val="00FF9D"/>
            </a:solidFill>
            <a:prstDash val="solid"/>
          </a:ln>
        </p:spPr>
      </p:sp>
      <p:sp>
        <p:nvSpPr>
          <p:cNvPr id="10" name="Text 8"/>
          <p:cNvSpPr/>
          <p:nvPr/>
        </p:nvSpPr>
        <p:spPr>
          <a:xfrm>
            <a:off x="2560320" y="996696"/>
            <a:ext cx="1920240" cy="548640"/>
          </a:xfrm>
          <a:prstGeom prst="rect">
            <a:avLst/>
          </a:prstGeom>
          <a:noFill/>
          <a:ln/>
        </p:spPr>
        <p:txBody>
          <a:bodyPr wrap="square" lIns="0" tIns="0" rIns="0" bIns="0" rtlCol="0" anchor="ctr"/>
          <a:lstStyle/>
          <a:p>
            <a:pPr algn="ctr" indent="0" marL="0">
              <a:buNone/>
            </a:pPr>
            <a:r>
              <a:rPr lang="en-US" sz="3200" b="1" dirty="0">
                <a:solidFill>
                  <a:srgbClr val="00FF9D"/>
                </a:solidFill>
                <a:latin typeface="Calibri" pitchFamily="34" charset="0"/>
                <a:ea typeface="Calibri" pitchFamily="34" charset="-122"/>
                <a:cs typeface="Calibri" pitchFamily="34" charset="-120"/>
              </a:rPr>
              <a:t>&lt;5MB</a:t>
            </a:r>
            <a:endParaRPr lang="en-US" sz="3200" dirty="0"/>
          </a:p>
        </p:txBody>
      </p:sp>
      <p:sp>
        <p:nvSpPr>
          <p:cNvPr id="11" name="Text 9"/>
          <p:cNvSpPr/>
          <p:nvPr/>
        </p:nvSpPr>
        <p:spPr>
          <a:xfrm>
            <a:off x="2560320" y="1554480"/>
            <a:ext cx="1920240" cy="347472"/>
          </a:xfrm>
          <a:prstGeom prst="rect">
            <a:avLst/>
          </a:prstGeom>
          <a:noFill/>
          <a:ln/>
        </p:spPr>
        <p:txBody>
          <a:bodyPr wrap="square" lIns="0" tIns="0" rIns="0" bIns="0"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Model Size</a:t>
            </a:r>
            <a:endParaRPr lang="en-US" sz="950" dirty="0"/>
          </a:p>
        </p:txBody>
      </p:sp>
      <p:sp>
        <p:nvSpPr>
          <p:cNvPr id="12" name="Shape 10"/>
          <p:cNvSpPr/>
          <p:nvPr/>
        </p:nvSpPr>
        <p:spPr>
          <a:xfrm>
            <a:off x="4663440" y="960120"/>
            <a:ext cx="1920240" cy="1005840"/>
          </a:xfrm>
          <a:prstGeom prst="rect">
            <a:avLst/>
          </a:prstGeom>
          <a:solidFill>
            <a:srgbClr val="0D1F3C"/>
          </a:solidFill>
          <a:ln w="25400">
            <a:solidFill>
              <a:srgbClr val="00D4FF"/>
            </a:solidFill>
            <a:prstDash val="solid"/>
          </a:ln>
        </p:spPr>
      </p:sp>
      <p:sp>
        <p:nvSpPr>
          <p:cNvPr id="13" name="Text 11"/>
          <p:cNvSpPr/>
          <p:nvPr/>
        </p:nvSpPr>
        <p:spPr>
          <a:xfrm>
            <a:off x="4663440" y="996696"/>
            <a:ext cx="1920240" cy="548640"/>
          </a:xfrm>
          <a:prstGeom prst="rect">
            <a:avLst/>
          </a:prstGeom>
          <a:noFill/>
          <a:ln/>
        </p:spPr>
        <p:txBody>
          <a:bodyPr wrap="square" lIns="0" tIns="0" rIns="0" bIns="0" rtlCol="0" anchor="ctr"/>
          <a:lstStyle/>
          <a:p>
            <a:pPr algn="ctr" indent="0" marL="0">
              <a:buNone/>
            </a:pPr>
            <a:r>
              <a:rPr lang="en-US" sz="3200" b="1" dirty="0">
                <a:solidFill>
                  <a:srgbClr val="00D4FF"/>
                </a:solidFill>
                <a:latin typeface="Calibri" pitchFamily="34" charset="0"/>
                <a:ea typeface="Calibri" pitchFamily="34" charset="-122"/>
                <a:cs typeface="Calibri" pitchFamily="34" charset="-120"/>
              </a:rPr>
              <a:t>Arm</a:t>
            </a:r>
            <a:endParaRPr lang="en-US" sz="3200" dirty="0"/>
          </a:p>
        </p:txBody>
      </p:sp>
      <p:sp>
        <p:nvSpPr>
          <p:cNvPr id="14" name="Text 12"/>
          <p:cNvSpPr/>
          <p:nvPr/>
        </p:nvSpPr>
        <p:spPr>
          <a:xfrm>
            <a:off x="4663440" y="1554480"/>
            <a:ext cx="1920240" cy="347472"/>
          </a:xfrm>
          <a:prstGeom prst="rect">
            <a:avLst/>
          </a:prstGeom>
          <a:noFill/>
          <a:ln/>
        </p:spPr>
        <p:txBody>
          <a:bodyPr wrap="square" lIns="0" tIns="0" rIns="0" bIns="0"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CPU Optimized</a:t>
            </a:r>
            <a:endParaRPr lang="en-US" sz="950" dirty="0"/>
          </a:p>
        </p:txBody>
      </p:sp>
      <p:sp>
        <p:nvSpPr>
          <p:cNvPr id="15" name="Shape 13"/>
          <p:cNvSpPr/>
          <p:nvPr/>
        </p:nvSpPr>
        <p:spPr>
          <a:xfrm>
            <a:off x="6766560" y="960120"/>
            <a:ext cx="1920240" cy="1005840"/>
          </a:xfrm>
          <a:prstGeom prst="rect">
            <a:avLst/>
          </a:prstGeom>
          <a:solidFill>
            <a:srgbClr val="0D1F3C"/>
          </a:solidFill>
          <a:ln w="25400">
            <a:solidFill>
              <a:srgbClr val="FF6B35"/>
            </a:solidFill>
            <a:prstDash val="solid"/>
          </a:ln>
        </p:spPr>
      </p:sp>
      <p:sp>
        <p:nvSpPr>
          <p:cNvPr id="16" name="Text 14"/>
          <p:cNvSpPr/>
          <p:nvPr/>
        </p:nvSpPr>
        <p:spPr>
          <a:xfrm>
            <a:off x="6766560" y="996696"/>
            <a:ext cx="1920240" cy="548640"/>
          </a:xfrm>
          <a:prstGeom prst="rect">
            <a:avLst/>
          </a:prstGeom>
          <a:noFill/>
          <a:ln/>
        </p:spPr>
        <p:txBody>
          <a:bodyPr wrap="square" lIns="0" tIns="0" rIns="0" bIns="0" rtlCol="0" anchor="ctr"/>
          <a:lstStyle/>
          <a:p>
            <a:pPr algn="ctr" indent="0" marL="0">
              <a:buNone/>
            </a:pPr>
            <a:r>
              <a:rPr lang="en-US" sz="3200" b="1" dirty="0">
                <a:solidFill>
                  <a:srgbClr val="FF6B35"/>
                </a:solidFill>
                <a:latin typeface="Calibri" pitchFamily="34" charset="0"/>
                <a:ea typeface="Calibri" pitchFamily="34" charset="-122"/>
                <a:cs typeface="Calibri" pitchFamily="34" charset="-120"/>
              </a:rPr>
              <a:t>~2ms</a:t>
            </a:r>
            <a:endParaRPr lang="en-US" sz="3200" dirty="0"/>
          </a:p>
        </p:txBody>
      </p:sp>
      <p:sp>
        <p:nvSpPr>
          <p:cNvPr id="17" name="Text 15"/>
          <p:cNvSpPr/>
          <p:nvPr/>
        </p:nvSpPr>
        <p:spPr>
          <a:xfrm>
            <a:off x="6766560" y="1554480"/>
            <a:ext cx="1920240" cy="347472"/>
          </a:xfrm>
          <a:prstGeom prst="rect">
            <a:avLst/>
          </a:prstGeom>
          <a:noFill/>
          <a:ln/>
        </p:spPr>
        <p:txBody>
          <a:bodyPr wrap="square" lIns="0" tIns="0" rIns="0" bIns="0"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Latency</a:t>
            </a:r>
            <a:endParaRPr lang="en-US" sz="950" dirty="0"/>
          </a:p>
        </p:txBody>
      </p:sp>
      <p:sp>
        <p:nvSpPr>
          <p:cNvPr id="18" name="Text 16"/>
          <p:cNvSpPr/>
          <p:nvPr/>
        </p:nvSpPr>
        <p:spPr>
          <a:xfrm>
            <a:off x="274320" y="2148840"/>
            <a:ext cx="8595360" cy="347472"/>
          </a:xfrm>
          <a:prstGeom prst="rect">
            <a:avLst/>
          </a:prstGeom>
          <a:noFill/>
          <a:ln/>
        </p:spPr>
        <p:txBody>
          <a:bodyPr wrap="square" lIns="0" tIns="0" rIns="0" bIns="0" rtlCol="0" anchor="ctr"/>
          <a:lstStyle/>
          <a:p>
            <a:pPr indent="0" marL="0">
              <a:buNone/>
            </a:pPr>
            <a:r>
              <a:rPr lang="en-US" sz="1500" b="1" dirty="0">
                <a:solidFill>
                  <a:srgbClr val="7B2FBE"/>
                </a:solidFill>
                <a:latin typeface="Calibri" pitchFamily="34" charset="0"/>
                <a:ea typeface="Calibri" pitchFamily="34" charset="-122"/>
                <a:cs typeface="Calibri" pitchFamily="34" charset="-120"/>
              </a:rPr>
              <a:t>Τι είναι το NCNN;</a:t>
            </a:r>
            <a:endParaRPr lang="en-US" sz="1500" dirty="0"/>
          </a:p>
        </p:txBody>
      </p:sp>
      <p:sp>
        <p:nvSpPr>
          <p:cNvPr id="19" name="Text 17"/>
          <p:cNvSpPr/>
          <p:nvPr/>
        </p:nvSpPr>
        <p:spPr>
          <a:xfrm>
            <a:off x="274320" y="2560320"/>
            <a:ext cx="8595360" cy="640080"/>
          </a:xfrm>
          <a:prstGeom prst="rect">
            <a:avLst/>
          </a:prstGeom>
          <a:noFill/>
          <a:ln/>
        </p:spPr>
        <p:txBody>
          <a:bodyPr wrap="square" lIns="0" tIns="0" rIns="0" bIns="0" rtlCol="0" anchor="ctr"/>
          <a:lstStyle/>
          <a:p>
            <a:pPr indent="0" marL="0">
              <a:buNone/>
            </a:pPr>
            <a:r>
              <a:rPr lang="en-US" sz="1150" dirty="0">
                <a:solidFill>
                  <a:srgbClr val="AABBCC"/>
                </a:solidFill>
                <a:latin typeface="Calibri" pitchFamily="34" charset="0"/>
                <a:ea typeface="Calibri" pitchFamily="34" charset="-122"/>
                <a:cs typeface="Calibri" pitchFamily="34" charset="-120"/>
              </a:rPr>
              <a:t>Το NCNN (Nihao Convolutional Neural Networks) αναπτύχθηκε από την Tencent για mobile deployment. Είναι πλήρως optimized για ARM αρχιτεκτονική και δεν απαιτεί καμία εξωτερική βιβλιοθήκη. Το Models Manager Pro εξάγει αυτόματα το μοντέλο σε .ncnn format.</a:t>
            </a:r>
            <a:endParaRPr lang="en-US" sz="1150" dirty="0"/>
          </a:p>
        </p:txBody>
      </p:sp>
      <p:sp>
        <p:nvSpPr>
          <p:cNvPr id="20" name="Shape 18"/>
          <p:cNvSpPr/>
          <p:nvPr/>
        </p:nvSpPr>
        <p:spPr>
          <a:xfrm>
            <a:off x="182880" y="3337560"/>
            <a:ext cx="2834640" cy="109728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21" name="Shape 19"/>
          <p:cNvSpPr/>
          <p:nvPr/>
        </p:nvSpPr>
        <p:spPr>
          <a:xfrm>
            <a:off x="182880" y="3337560"/>
            <a:ext cx="2834640" cy="64008"/>
          </a:xfrm>
          <a:prstGeom prst="rect">
            <a:avLst/>
          </a:prstGeom>
          <a:solidFill>
            <a:srgbClr val="7B2FBE"/>
          </a:solidFill>
          <a:ln/>
        </p:spPr>
      </p:sp>
      <p:sp>
        <p:nvSpPr>
          <p:cNvPr id="22" name="Text 20"/>
          <p:cNvSpPr/>
          <p:nvPr/>
        </p:nvSpPr>
        <p:spPr>
          <a:xfrm>
            <a:off x="320040" y="3429000"/>
            <a:ext cx="260604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Android Deploy</a:t>
            </a:r>
            <a:endParaRPr lang="en-US" sz="1300" dirty="0"/>
          </a:p>
        </p:txBody>
      </p:sp>
      <p:sp>
        <p:nvSpPr>
          <p:cNvPr id="23" name="Text 21"/>
          <p:cNvSpPr/>
          <p:nvPr/>
        </p:nvSpPr>
        <p:spPr>
          <a:xfrm>
            <a:off x="320040" y="381304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Άμεση ενσωμάτωση σε Android apps χωρίς</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καμία εξάρτηση</a:t>
            </a:r>
            <a:endParaRPr lang="en-US" sz="1050" dirty="0"/>
          </a:p>
        </p:txBody>
      </p:sp>
      <p:sp>
        <p:nvSpPr>
          <p:cNvPr id="24" name="Shape 22"/>
          <p:cNvSpPr/>
          <p:nvPr/>
        </p:nvSpPr>
        <p:spPr>
          <a:xfrm>
            <a:off x="3154680" y="3337560"/>
            <a:ext cx="2834640" cy="109728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25" name="Shape 23"/>
          <p:cNvSpPr/>
          <p:nvPr/>
        </p:nvSpPr>
        <p:spPr>
          <a:xfrm>
            <a:off x="3154680" y="3337560"/>
            <a:ext cx="2834640" cy="64008"/>
          </a:xfrm>
          <a:prstGeom prst="rect">
            <a:avLst/>
          </a:prstGeom>
          <a:solidFill>
            <a:srgbClr val="00FF9D"/>
          </a:solidFill>
          <a:ln/>
        </p:spPr>
      </p:sp>
      <p:sp>
        <p:nvSpPr>
          <p:cNvPr id="26" name="Text 24"/>
          <p:cNvSpPr/>
          <p:nvPr/>
        </p:nvSpPr>
        <p:spPr>
          <a:xfrm>
            <a:off x="3291840" y="3429000"/>
            <a:ext cx="260604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iOS Support</a:t>
            </a:r>
            <a:endParaRPr lang="en-US" sz="1300" dirty="0"/>
          </a:p>
        </p:txBody>
      </p:sp>
      <p:sp>
        <p:nvSpPr>
          <p:cNvPr id="27" name="Text 25"/>
          <p:cNvSpPr/>
          <p:nvPr/>
        </p:nvSpPr>
        <p:spPr>
          <a:xfrm>
            <a:off x="3291840" y="381304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Υποστήριξη Core ML wrappers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για Apple Silicon</a:t>
            </a:r>
            <a:endParaRPr lang="en-US" sz="1050" dirty="0"/>
          </a:p>
        </p:txBody>
      </p:sp>
      <p:sp>
        <p:nvSpPr>
          <p:cNvPr id="28" name="Shape 26"/>
          <p:cNvSpPr/>
          <p:nvPr/>
        </p:nvSpPr>
        <p:spPr>
          <a:xfrm>
            <a:off x="6126480" y="3337560"/>
            <a:ext cx="2834640" cy="109728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29" name="Shape 27"/>
          <p:cNvSpPr/>
          <p:nvPr/>
        </p:nvSpPr>
        <p:spPr>
          <a:xfrm>
            <a:off x="6126480" y="3337560"/>
            <a:ext cx="2834640" cy="64008"/>
          </a:xfrm>
          <a:prstGeom prst="rect">
            <a:avLst/>
          </a:prstGeom>
          <a:solidFill>
            <a:srgbClr val="00D4FF"/>
          </a:solidFill>
          <a:ln/>
        </p:spPr>
      </p:sp>
      <p:sp>
        <p:nvSpPr>
          <p:cNvPr id="30" name="Text 28"/>
          <p:cNvSpPr/>
          <p:nvPr/>
        </p:nvSpPr>
        <p:spPr>
          <a:xfrm>
            <a:off x="6263640" y="3429000"/>
            <a:ext cx="260604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Vulkan GPU</a:t>
            </a:r>
            <a:endParaRPr lang="en-US" sz="1300" dirty="0"/>
          </a:p>
        </p:txBody>
      </p:sp>
      <p:sp>
        <p:nvSpPr>
          <p:cNvPr id="31" name="Text 29"/>
          <p:cNvSpPr/>
          <p:nvPr/>
        </p:nvSpPr>
        <p:spPr>
          <a:xfrm>
            <a:off x="6263640" y="381304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Προαιρετική επιτάχυνση μέσω</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Vulkan API (Android GPU)</a:t>
            </a:r>
            <a:endParaRPr lang="en-US" sz="1050" dirty="0"/>
          </a:p>
        </p:txBody>
      </p:sp>
      <p:sp>
        <p:nvSpPr>
          <p:cNvPr id="32" name="Shape 30"/>
          <p:cNvSpPr/>
          <p:nvPr/>
        </p:nvSpPr>
        <p:spPr>
          <a:xfrm>
            <a:off x="182880" y="4526280"/>
            <a:ext cx="2834640" cy="109728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33" name="Shape 31"/>
          <p:cNvSpPr/>
          <p:nvPr/>
        </p:nvSpPr>
        <p:spPr>
          <a:xfrm>
            <a:off x="182880" y="4526280"/>
            <a:ext cx="2834640" cy="64008"/>
          </a:xfrm>
          <a:prstGeom prst="rect">
            <a:avLst/>
          </a:prstGeom>
          <a:solidFill>
            <a:srgbClr val="FF6B35"/>
          </a:solidFill>
          <a:ln/>
        </p:spPr>
      </p:sp>
      <p:sp>
        <p:nvSpPr>
          <p:cNvPr id="34" name="Text 32"/>
          <p:cNvSpPr/>
          <p:nvPr/>
        </p:nvSpPr>
        <p:spPr>
          <a:xfrm>
            <a:off x="320040" y="4617720"/>
            <a:ext cx="260604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Quantization</a:t>
            </a:r>
            <a:endParaRPr lang="en-US" sz="1300" dirty="0"/>
          </a:p>
        </p:txBody>
      </p:sp>
      <p:sp>
        <p:nvSpPr>
          <p:cNvPr id="35" name="Text 33"/>
          <p:cNvSpPr/>
          <p:nvPr/>
        </p:nvSpPr>
        <p:spPr>
          <a:xfrm>
            <a:off x="320040" y="500176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INT8 quantization για</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ελαχιστοποίηση μνήμης</a:t>
            </a:r>
            <a:endParaRPr lang="en-US" sz="1050" dirty="0"/>
          </a:p>
        </p:txBody>
      </p:sp>
      <p:sp>
        <p:nvSpPr>
          <p:cNvPr id="36" name="Shape 34"/>
          <p:cNvSpPr/>
          <p:nvPr/>
        </p:nvSpPr>
        <p:spPr>
          <a:xfrm>
            <a:off x="3154680" y="4526280"/>
            <a:ext cx="2834640" cy="109728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37" name="Shape 35"/>
          <p:cNvSpPr/>
          <p:nvPr/>
        </p:nvSpPr>
        <p:spPr>
          <a:xfrm>
            <a:off x="3154680" y="4526280"/>
            <a:ext cx="2834640" cy="64008"/>
          </a:xfrm>
          <a:prstGeom prst="rect">
            <a:avLst/>
          </a:prstGeom>
          <a:solidFill>
            <a:srgbClr val="FF2D78"/>
          </a:solidFill>
          <a:ln/>
        </p:spPr>
      </p:sp>
      <p:sp>
        <p:nvSpPr>
          <p:cNvPr id="38" name="Text 36"/>
          <p:cNvSpPr/>
          <p:nvPr/>
        </p:nvSpPr>
        <p:spPr>
          <a:xfrm>
            <a:off x="3291840" y="4617720"/>
            <a:ext cx="260604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Multi-thread</a:t>
            </a:r>
            <a:endParaRPr lang="en-US" sz="1300" dirty="0"/>
          </a:p>
        </p:txBody>
      </p:sp>
      <p:sp>
        <p:nvSpPr>
          <p:cNvPr id="39" name="Text 37"/>
          <p:cNvSpPr/>
          <p:nvPr/>
        </p:nvSpPr>
        <p:spPr>
          <a:xfrm>
            <a:off x="3291840" y="500176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Βελτιστοποιημένο για</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pthread parallelism</a:t>
            </a:r>
            <a:endParaRPr lang="en-US" sz="1050" dirty="0"/>
          </a:p>
        </p:txBody>
      </p:sp>
      <p:sp>
        <p:nvSpPr>
          <p:cNvPr id="40" name="Shape 38"/>
          <p:cNvSpPr/>
          <p:nvPr/>
        </p:nvSpPr>
        <p:spPr>
          <a:xfrm>
            <a:off x="6126480" y="4526280"/>
            <a:ext cx="2834640" cy="1097280"/>
          </a:xfrm>
          <a:prstGeom prst="rect">
            <a:avLst/>
          </a:prstGeom>
          <a:solidFill>
            <a:srgbClr val="0D1F3C"/>
          </a:solidFill>
          <a:ln w="19050">
            <a:solidFill>
              <a:srgbClr val="FFD700"/>
            </a:solidFill>
            <a:prstDash val="solid"/>
          </a:ln>
          <a:effectLst>
            <a:outerShdw sx="100000" sy="100000" kx="0" ky="0" algn="bl" rotWithShape="0" blurRad="127000" dist="38100" dir="8100000">
              <a:srgbClr val="000000">
                <a:alpha val="40000"/>
              </a:srgbClr>
            </a:outerShdw>
          </a:effectLst>
        </p:spPr>
      </p:sp>
      <p:sp>
        <p:nvSpPr>
          <p:cNvPr id="41" name="Shape 39"/>
          <p:cNvSpPr/>
          <p:nvPr/>
        </p:nvSpPr>
        <p:spPr>
          <a:xfrm>
            <a:off x="6126480" y="4526280"/>
            <a:ext cx="2834640" cy="64008"/>
          </a:xfrm>
          <a:prstGeom prst="rect">
            <a:avLst/>
          </a:prstGeom>
          <a:solidFill>
            <a:srgbClr val="FFD700"/>
          </a:solidFill>
          <a:ln/>
        </p:spPr>
      </p:sp>
      <p:sp>
        <p:nvSpPr>
          <p:cNvPr id="42" name="Text 40"/>
          <p:cNvSpPr/>
          <p:nvPr/>
        </p:nvSpPr>
        <p:spPr>
          <a:xfrm>
            <a:off x="6263640" y="4617720"/>
            <a:ext cx="2606040" cy="320040"/>
          </a:xfrm>
          <a:prstGeom prst="rect">
            <a:avLst/>
          </a:prstGeom>
          <a:noFill/>
          <a:ln/>
        </p:spPr>
        <p:txBody>
          <a:bodyPr wrap="square" lIns="0" tIns="0" rIns="0" bIns="0"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Embedded</a:t>
            </a:r>
            <a:endParaRPr lang="en-US" sz="1300" dirty="0"/>
          </a:p>
        </p:txBody>
      </p:sp>
      <p:sp>
        <p:nvSpPr>
          <p:cNvPr id="43" name="Text 41"/>
          <p:cNvSpPr/>
          <p:nvPr/>
        </p:nvSpPr>
        <p:spPr>
          <a:xfrm>
            <a:off x="6263640" y="500176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Raspberry Pi, Jetson Nano</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και microcontrollers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FF9D"/>
            </a:solidFill>
            <a:prstDash val="solid"/>
          </a:ln>
        </p:spPr>
      </p:sp>
      <p:sp>
        <p:nvSpPr>
          <p:cNvPr id="3" name="Shape 1"/>
          <p:cNvSpPr/>
          <p:nvPr/>
        </p:nvSpPr>
        <p:spPr>
          <a:xfrm>
            <a:off x="0" y="0"/>
            <a:ext cx="73152" cy="822960"/>
          </a:xfrm>
          <a:prstGeom prst="rect">
            <a:avLst/>
          </a:prstGeom>
          <a:solidFill>
            <a:srgbClr val="00FF9D"/>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11 — Live Detection &amp; Camera Tools</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FF9D"/>
                </a:solidFill>
                <a:latin typeface="Calibri" pitchFamily="34" charset="0"/>
                <a:ea typeface="Calibri" pitchFamily="34" charset="-122"/>
                <a:cs typeface="Calibri" pitchFamily="34" charset="-120"/>
              </a:rPr>
              <a:t>Real-time Ανίχνευση Αντικειμένων</a:t>
            </a:r>
            <a:endParaRPr lang="en-US" sz="1100" dirty="0"/>
          </a:p>
        </p:txBody>
      </p:sp>
      <p:sp>
        <p:nvSpPr>
          <p:cNvPr id="6" name="Shape 4"/>
          <p:cNvSpPr/>
          <p:nvPr/>
        </p:nvSpPr>
        <p:spPr>
          <a:xfrm>
            <a:off x="182880" y="914400"/>
            <a:ext cx="4206240" cy="4023360"/>
          </a:xfrm>
          <a:prstGeom prst="rect">
            <a:avLst/>
          </a:prstGeom>
          <a:solidFill>
            <a:srgbClr val="122544"/>
          </a:solidFill>
          <a:ln w="19050">
            <a:solidFill>
              <a:srgbClr val="00FF9D"/>
            </a:solidFill>
            <a:prstDash val="solid"/>
          </a:ln>
        </p:spPr>
      </p:sp>
      <p:sp>
        <p:nvSpPr>
          <p:cNvPr id="7" name="Text 5"/>
          <p:cNvSpPr/>
          <p:nvPr/>
        </p:nvSpPr>
        <p:spPr>
          <a:xfrm>
            <a:off x="274320" y="987552"/>
            <a:ext cx="4023360" cy="365760"/>
          </a:xfrm>
          <a:prstGeom prst="rect">
            <a:avLst/>
          </a:prstGeom>
          <a:noFill/>
          <a:ln/>
        </p:spPr>
        <p:txBody>
          <a:bodyPr wrap="square" lIns="0" tIns="0" rIns="0" bIns="0" rtlCol="0" anchor="ctr"/>
          <a:lstStyle/>
          <a:p>
            <a:pPr indent="0" marL="0">
              <a:buNone/>
            </a:pPr>
            <a:r>
              <a:rPr lang="en-US" sz="1500" b="1" dirty="0">
                <a:solidFill>
                  <a:srgbClr val="00FF9D"/>
                </a:solidFill>
                <a:latin typeface="Calibri" pitchFamily="34" charset="0"/>
                <a:ea typeface="Calibri" pitchFamily="34" charset="-122"/>
                <a:cs typeface="Calibri" pitchFamily="34" charset="-120"/>
              </a:rPr>
              <a:t>Camera Pipeline</a:t>
            </a:r>
            <a:endParaRPr lang="en-US" sz="1500" dirty="0"/>
          </a:p>
        </p:txBody>
      </p:sp>
      <p:sp>
        <p:nvSpPr>
          <p:cNvPr id="8" name="Shape 6"/>
          <p:cNvSpPr/>
          <p:nvPr/>
        </p:nvSpPr>
        <p:spPr>
          <a:xfrm>
            <a:off x="320040" y="1463040"/>
            <a:ext cx="3931920" cy="548640"/>
          </a:xfrm>
          <a:prstGeom prst="rect">
            <a:avLst/>
          </a:prstGeom>
          <a:solidFill>
            <a:srgbClr val="0D1F3C"/>
          </a:solidFill>
          <a:ln w="12700">
            <a:solidFill>
              <a:srgbClr val="00D4FF"/>
            </a:solidFill>
            <a:prstDash val="solid"/>
          </a:ln>
        </p:spPr>
      </p:sp>
      <p:sp>
        <p:nvSpPr>
          <p:cNvPr id="9" name="Shape 7"/>
          <p:cNvSpPr/>
          <p:nvPr/>
        </p:nvSpPr>
        <p:spPr>
          <a:xfrm>
            <a:off x="347472" y="1627632"/>
            <a:ext cx="228600" cy="228600"/>
          </a:xfrm>
          <a:prstGeom prst="ellipse">
            <a:avLst/>
          </a:prstGeom>
          <a:solidFill>
            <a:srgbClr val="00D4FF"/>
          </a:solidFill>
          <a:ln/>
        </p:spPr>
      </p:sp>
      <p:sp>
        <p:nvSpPr>
          <p:cNvPr id="10" name="Text 8"/>
          <p:cNvSpPr/>
          <p:nvPr/>
        </p:nvSpPr>
        <p:spPr>
          <a:xfrm>
            <a:off x="667512" y="1481328"/>
            <a:ext cx="2011680" cy="237744"/>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Camera Open</a:t>
            </a:r>
            <a:endParaRPr lang="en-US" sz="1000" dirty="0"/>
          </a:p>
        </p:txBody>
      </p:sp>
      <p:sp>
        <p:nvSpPr>
          <p:cNvPr id="11" name="Text 9"/>
          <p:cNvSpPr/>
          <p:nvPr/>
        </p:nvSpPr>
        <p:spPr>
          <a:xfrm>
            <a:off x="667512" y="1737360"/>
            <a:ext cx="3474720" cy="24688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VideoCapture init με DirectShow</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(Windows) ή MSMF backend</a:t>
            </a:r>
            <a:endParaRPr lang="en-US" sz="900" dirty="0"/>
          </a:p>
        </p:txBody>
      </p:sp>
      <p:sp>
        <p:nvSpPr>
          <p:cNvPr id="12" name="Shape 10"/>
          <p:cNvSpPr/>
          <p:nvPr/>
        </p:nvSpPr>
        <p:spPr>
          <a:xfrm>
            <a:off x="438912" y="2011680"/>
            <a:ext cx="0" cy="109728"/>
          </a:xfrm>
          <a:prstGeom prst="line">
            <a:avLst/>
          </a:prstGeom>
          <a:noFill/>
          <a:ln w="19050">
            <a:solidFill>
              <a:srgbClr val="00D4FF"/>
            </a:solidFill>
            <a:prstDash val="solid"/>
          </a:ln>
        </p:spPr>
      </p:sp>
      <p:sp>
        <p:nvSpPr>
          <p:cNvPr id="13" name="Shape 11"/>
          <p:cNvSpPr/>
          <p:nvPr/>
        </p:nvSpPr>
        <p:spPr>
          <a:xfrm>
            <a:off x="320040" y="2121408"/>
            <a:ext cx="3931920" cy="548640"/>
          </a:xfrm>
          <a:prstGeom prst="rect">
            <a:avLst/>
          </a:prstGeom>
          <a:solidFill>
            <a:srgbClr val="0D1F3C"/>
          </a:solidFill>
          <a:ln w="12700">
            <a:solidFill>
              <a:srgbClr val="00FF9D"/>
            </a:solidFill>
            <a:prstDash val="solid"/>
          </a:ln>
        </p:spPr>
      </p:sp>
      <p:sp>
        <p:nvSpPr>
          <p:cNvPr id="14" name="Shape 12"/>
          <p:cNvSpPr/>
          <p:nvPr/>
        </p:nvSpPr>
        <p:spPr>
          <a:xfrm>
            <a:off x="347472" y="2286000"/>
            <a:ext cx="228600" cy="228600"/>
          </a:xfrm>
          <a:prstGeom prst="ellipse">
            <a:avLst/>
          </a:prstGeom>
          <a:solidFill>
            <a:srgbClr val="00FF9D"/>
          </a:solidFill>
          <a:ln/>
        </p:spPr>
      </p:sp>
      <p:sp>
        <p:nvSpPr>
          <p:cNvPr id="15" name="Text 13"/>
          <p:cNvSpPr/>
          <p:nvPr/>
        </p:nvSpPr>
        <p:spPr>
          <a:xfrm>
            <a:off x="667512" y="2139696"/>
            <a:ext cx="2011680" cy="237744"/>
          </a:xfrm>
          <a:prstGeom prst="rect">
            <a:avLst/>
          </a:prstGeom>
          <a:noFill/>
          <a:ln/>
        </p:spPr>
        <p:txBody>
          <a:bodyPr wrap="square" lIns="0" tIns="0" rIns="0" bIns="0" rtlCol="0" anchor="ctr"/>
          <a:lstStyle/>
          <a:p>
            <a:pPr indent="0" marL="0">
              <a:buNone/>
            </a:pPr>
            <a:r>
              <a:rPr lang="en-US" sz="1000" b="1" dirty="0">
                <a:solidFill>
                  <a:srgbClr val="00FF9D"/>
                </a:solidFill>
                <a:latin typeface="Calibri" pitchFamily="34" charset="0"/>
                <a:ea typeface="Calibri" pitchFamily="34" charset="-122"/>
                <a:cs typeface="Calibri" pitchFamily="34" charset="-120"/>
              </a:rPr>
              <a:t>Smart Buffer</a:t>
            </a:r>
            <a:endParaRPr lang="en-US" sz="1000" dirty="0"/>
          </a:p>
        </p:txBody>
      </p:sp>
      <p:sp>
        <p:nvSpPr>
          <p:cNvPr id="16" name="Text 14"/>
          <p:cNvSpPr/>
          <p:nvPr/>
        </p:nvSpPr>
        <p:spPr>
          <a:xfrm>
            <a:off x="667512" y="2395728"/>
            <a:ext cx="3474720" cy="24688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Thread-safe buffer για αποφυγή</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synchronization conflicts</a:t>
            </a:r>
            <a:endParaRPr lang="en-US" sz="900" dirty="0"/>
          </a:p>
        </p:txBody>
      </p:sp>
      <p:sp>
        <p:nvSpPr>
          <p:cNvPr id="17" name="Shape 15"/>
          <p:cNvSpPr/>
          <p:nvPr/>
        </p:nvSpPr>
        <p:spPr>
          <a:xfrm>
            <a:off x="438912" y="2670048"/>
            <a:ext cx="0" cy="109728"/>
          </a:xfrm>
          <a:prstGeom prst="line">
            <a:avLst/>
          </a:prstGeom>
          <a:noFill/>
          <a:ln w="19050">
            <a:solidFill>
              <a:srgbClr val="00FF9D"/>
            </a:solidFill>
            <a:prstDash val="solid"/>
          </a:ln>
        </p:spPr>
      </p:sp>
      <p:sp>
        <p:nvSpPr>
          <p:cNvPr id="18" name="Shape 16"/>
          <p:cNvSpPr/>
          <p:nvPr/>
        </p:nvSpPr>
        <p:spPr>
          <a:xfrm>
            <a:off x="320040" y="2779776"/>
            <a:ext cx="3931920" cy="548640"/>
          </a:xfrm>
          <a:prstGeom prst="rect">
            <a:avLst/>
          </a:prstGeom>
          <a:solidFill>
            <a:srgbClr val="0D1F3C"/>
          </a:solidFill>
          <a:ln w="12700">
            <a:solidFill>
              <a:srgbClr val="FF6B35"/>
            </a:solidFill>
            <a:prstDash val="solid"/>
          </a:ln>
        </p:spPr>
      </p:sp>
      <p:sp>
        <p:nvSpPr>
          <p:cNvPr id="19" name="Shape 17"/>
          <p:cNvSpPr/>
          <p:nvPr/>
        </p:nvSpPr>
        <p:spPr>
          <a:xfrm>
            <a:off x="347472" y="2944368"/>
            <a:ext cx="228600" cy="228600"/>
          </a:xfrm>
          <a:prstGeom prst="ellipse">
            <a:avLst/>
          </a:prstGeom>
          <a:solidFill>
            <a:srgbClr val="FF6B35"/>
          </a:solidFill>
          <a:ln/>
        </p:spPr>
      </p:sp>
      <p:sp>
        <p:nvSpPr>
          <p:cNvPr id="20" name="Text 18"/>
          <p:cNvSpPr/>
          <p:nvPr/>
        </p:nvSpPr>
        <p:spPr>
          <a:xfrm>
            <a:off x="667512" y="2798064"/>
            <a:ext cx="2011680" cy="237744"/>
          </a:xfrm>
          <a:prstGeom prst="rect">
            <a:avLst/>
          </a:prstGeom>
          <a:noFill/>
          <a:ln/>
        </p:spPr>
        <p:txBody>
          <a:bodyPr wrap="square" lIns="0" tIns="0" rIns="0" bIns="0" rtlCol="0" anchor="ctr"/>
          <a:lstStyle/>
          <a:p>
            <a:pPr indent="0" marL="0">
              <a:buNone/>
            </a:pPr>
            <a:r>
              <a:rPr lang="en-US" sz="1000" b="1" dirty="0">
                <a:solidFill>
                  <a:srgbClr val="FF6B35"/>
                </a:solidFill>
                <a:latin typeface="Calibri" pitchFamily="34" charset="0"/>
                <a:ea typeface="Calibri" pitchFamily="34" charset="-122"/>
                <a:cs typeface="Calibri" pitchFamily="34" charset="-120"/>
              </a:rPr>
              <a:t>Frame Grab</a:t>
            </a:r>
            <a:endParaRPr lang="en-US" sz="1000" dirty="0"/>
          </a:p>
        </p:txBody>
      </p:sp>
      <p:sp>
        <p:nvSpPr>
          <p:cNvPr id="21" name="Text 19"/>
          <p:cNvSpPr/>
          <p:nvPr/>
        </p:nvSpPr>
        <p:spPr>
          <a:xfrm>
            <a:off x="667512" y="3054096"/>
            <a:ext cx="3474720" cy="24688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Background thread λαμβάνει</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frames συνεχώς</a:t>
            </a:r>
            <a:endParaRPr lang="en-US" sz="900" dirty="0"/>
          </a:p>
        </p:txBody>
      </p:sp>
      <p:sp>
        <p:nvSpPr>
          <p:cNvPr id="22" name="Shape 20"/>
          <p:cNvSpPr/>
          <p:nvPr/>
        </p:nvSpPr>
        <p:spPr>
          <a:xfrm>
            <a:off x="438912" y="3328416"/>
            <a:ext cx="0" cy="109728"/>
          </a:xfrm>
          <a:prstGeom prst="line">
            <a:avLst/>
          </a:prstGeom>
          <a:noFill/>
          <a:ln w="19050">
            <a:solidFill>
              <a:srgbClr val="FF6B35"/>
            </a:solidFill>
            <a:prstDash val="solid"/>
          </a:ln>
        </p:spPr>
      </p:sp>
      <p:sp>
        <p:nvSpPr>
          <p:cNvPr id="23" name="Shape 21"/>
          <p:cNvSpPr/>
          <p:nvPr/>
        </p:nvSpPr>
        <p:spPr>
          <a:xfrm>
            <a:off x="320040" y="3438144"/>
            <a:ext cx="3931920" cy="548640"/>
          </a:xfrm>
          <a:prstGeom prst="rect">
            <a:avLst/>
          </a:prstGeom>
          <a:solidFill>
            <a:srgbClr val="0D1F3C"/>
          </a:solidFill>
          <a:ln w="12700">
            <a:solidFill>
              <a:srgbClr val="7B2FBE"/>
            </a:solidFill>
            <a:prstDash val="solid"/>
          </a:ln>
        </p:spPr>
      </p:sp>
      <p:sp>
        <p:nvSpPr>
          <p:cNvPr id="24" name="Shape 22"/>
          <p:cNvSpPr/>
          <p:nvPr/>
        </p:nvSpPr>
        <p:spPr>
          <a:xfrm>
            <a:off x="347472" y="3602736"/>
            <a:ext cx="228600" cy="228600"/>
          </a:xfrm>
          <a:prstGeom prst="ellipse">
            <a:avLst/>
          </a:prstGeom>
          <a:solidFill>
            <a:srgbClr val="7B2FBE"/>
          </a:solidFill>
          <a:ln/>
        </p:spPr>
      </p:sp>
      <p:sp>
        <p:nvSpPr>
          <p:cNvPr id="25" name="Text 23"/>
          <p:cNvSpPr/>
          <p:nvPr/>
        </p:nvSpPr>
        <p:spPr>
          <a:xfrm>
            <a:off x="667512" y="3456432"/>
            <a:ext cx="2011680" cy="237744"/>
          </a:xfrm>
          <a:prstGeom prst="rect">
            <a:avLst/>
          </a:prstGeom>
          <a:noFill/>
          <a:ln/>
        </p:spPr>
        <p:txBody>
          <a:bodyPr wrap="square" lIns="0" tIns="0" rIns="0" bIns="0" rtlCol="0" anchor="ctr"/>
          <a:lstStyle/>
          <a:p>
            <a:pPr indent="0" marL="0">
              <a:buNone/>
            </a:pPr>
            <a:r>
              <a:rPr lang="en-US" sz="1000" b="1" dirty="0">
                <a:solidFill>
                  <a:srgbClr val="7B2FBE"/>
                </a:solidFill>
                <a:latin typeface="Calibri" pitchFamily="34" charset="0"/>
                <a:ea typeface="Calibri" pitchFamily="34" charset="-122"/>
                <a:cs typeface="Calibri" pitchFamily="34" charset="-120"/>
              </a:rPr>
              <a:t>YOLO Inference</a:t>
            </a:r>
            <a:endParaRPr lang="en-US" sz="1000" dirty="0"/>
          </a:p>
        </p:txBody>
      </p:sp>
      <p:sp>
        <p:nvSpPr>
          <p:cNvPr id="26" name="Text 24"/>
          <p:cNvSpPr/>
          <p:nvPr/>
        </p:nvSpPr>
        <p:spPr>
          <a:xfrm>
            <a:off x="667512" y="3712464"/>
            <a:ext cx="3474720" cy="24688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Model εκτελείται σε main thread</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με optimized preprocessing</a:t>
            </a:r>
            <a:endParaRPr lang="en-US" sz="900" dirty="0"/>
          </a:p>
        </p:txBody>
      </p:sp>
      <p:sp>
        <p:nvSpPr>
          <p:cNvPr id="27" name="Shape 25"/>
          <p:cNvSpPr/>
          <p:nvPr/>
        </p:nvSpPr>
        <p:spPr>
          <a:xfrm>
            <a:off x="438912" y="3986784"/>
            <a:ext cx="0" cy="109728"/>
          </a:xfrm>
          <a:prstGeom prst="line">
            <a:avLst/>
          </a:prstGeom>
          <a:noFill/>
          <a:ln w="19050">
            <a:solidFill>
              <a:srgbClr val="7B2FBE"/>
            </a:solidFill>
            <a:prstDash val="solid"/>
          </a:ln>
        </p:spPr>
      </p:sp>
      <p:sp>
        <p:nvSpPr>
          <p:cNvPr id="28" name="Shape 26"/>
          <p:cNvSpPr/>
          <p:nvPr/>
        </p:nvSpPr>
        <p:spPr>
          <a:xfrm>
            <a:off x="320040" y="4096512"/>
            <a:ext cx="3931920" cy="548640"/>
          </a:xfrm>
          <a:prstGeom prst="rect">
            <a:avLst/>
          </a:prstGeom>
          <a:solidFill>
            <a:srgbClr val="0D1F3C"/>
          </a:solidFill>
          <a:ln w="12700">
            <a:solidFill>
              <a:srgbClr val="FF2D78"/>
            </a:solidFill>
            <a:prstDash val="solid"/>
          </a:ln>
        </p:spPr>
      </p:sp>
      <p:sp>
        <p:nvSpPr>
          <p:cNvPr id="29" name="Shape 27"/>
          <p:cNvSpPr/>
          <p:nvPr/>
        </p:nvSpPr>
        <p:spPr>
          <a:xfrm>
            <a:off x="347472" y="4261104"/>
            <a:ext cx="228600" cy="228600"/>
          </a:xfrm>
          <a:prstGeom prst="ellipse">
            <a:avLst/>
          </a:prstGeom>
          <a:solidFill>
            <a:srgbClr val="FF2D78"/>
          </a:solidFill>
          <a:ln/>
        </p:spPr>
      </p:sp>
      <p:sp>
        <p:nvSpPr>
          <p:cNvPr id="30" name="Text 28"/>
          <p:cNvSpPr/>
          <p:nvPr/>
        </p:nvSpPr>
        <p:spPr>
          <a:xfrm>
            <a:off x="667512" y="4114800"/>
            <a:ext cx="2011680" cy="237744"/>
          </a:xfrm>
          <a:prstGeom prst="rect">
            <a:avLst/>
          </a:prstGeom>
          <a:noFill/>
          <a:ln/>
        </p:spPr>
        <p:txBody>
          <a:bodyPr wrap="square" lIns="0" tIns="0" rIns="0" bIns="0" rtlCol="0" anchor="ctr"/>
          <a:lstStyle/>
          <a:p>
            <a:pPr indent="0" marL="0">
              <a:buNone/>
            </a:pPr>
            <a:r>
              <a:rPr lang="en-US" sz="1000" b="1" dirty="0">
                <a:solidFill>
                  <a:srgbClr val="FF2D78"/>
                </a:solidFill>
                <a:latin typeface="Calibri" pitchFamily="34" charset="0"/>
                <a:ea typeface="Calibri" pitchFamily="34" charset="-122"/>
                <a:cs typeface="Calibri" pitchFamily="34" charset="-120"/>
              </a:rPr>
              <a:t>Render + FPS</a:t>
            </a:r>
            <a:endParaRPr lang="en-US" sz="1000" dirty="0"/>
          </a:p>
        </p:txBody>
      </p:sp>
      <p:sp>
        <p:nvSpPr>
          <p:cNvPr id="31" name="Text 29"/>
          <p:cNvSpPr/>
          <p:nvPr/>
        </p:nvSpPr>
        <p:spPr>
          <a:xfrm>
            <a:off x="667512" y="4370832"/>
            <a:ext cx="3474720" cy="246888"/>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bboxes overlay + live FPS</a:t>
            </a:r>
            <a:endParaRPr lang="en-US" sz="900" dirty="0"/>
          </a:p>
          <a:p>
            <a:pPr indent="0" marL="0">
              <a:buNone/>
            </a:pPr>
            <a:r>
              <a:rPr lang="en-US" sz="900" dirty="0">
                <a:solidFill>
                  <a:srgbClr val="8899BB"/>
                </a:solidFill>
                <a:latin typeface="Calibri" pitchFamily="34" charset="0"/>
                <a:ea typeface="Calibri" pitchFamily="34" charset="-122"/>
                <a:cs typeface="Calibri" pitchFamily="34" charset="-120"/>
              </a:rPr>
              <a:t>counter στο GUI</a:t>
            </a:r>
            <a:endParaRPr lang="en-US" sz="900" dirty="0"/>
          </a:p>
        </p:txBody>
      </p:sp>
      <p:sp>
        <p:nvSpPr>
          <p:cNvPr id="32" name="Text 30"/>
          <p:cNvSpPr/>
          <p:nvPr/>
        </p:nvSpPr>
        <p:spPr>
          <a:xfrm>
            <a:off x="4754880" y="914400"/>
            <a:ext cx="4206240" cy="365760"/>
          </a:xfrm>
          <a:prstGeom prst="rect">
            <a:avLst/>
          </a:prstGeom>
          <a:noFill/>
          <a:ln/>
        </p:spPr>
        <p:txBody>
          <a:bodyPr wrap="square" lIns="0" tIns="0" rIns="0" bIns="0" rtlCol="0" anchor="ctr"/>
          <a:lstStyle/>
          <a:p>
            <a:pPr indent="0" marL="0">
              <a:buNone/>
            </a:pPr>
            <a:r>
              <a:rPr lang="en-US" sz="1500" b="1" dirty="0">
                <a:solidFill>
                  <a:srgbClr val="00FF9D"/>
                </a:solidFill>
                <a:latin typeface="Calibri" pitchFamily="34" charset="0"/>
                <a:ea typeface="Calibri" pitchFamily="34" charset="-122"/>
                <a:cs typeface="Calibri" pitchFamily="34" charset="-120"/>
              </a:rPr>
              <a:t>Χαρακτηριστικά Κάμερας</a:t>
            </a:r>
            <a:endParaRPr lang="en-US" sz="1500" dirty="0"/>
          </a:p>
        </p:txBody>
      </p:sp>
      <p:sp>
        <p:nvSpPr>
          <p:cNvPr id="33" name="Shape 31"/>
          <p:cNvSpPr/>
          <p:nvPr/>
        </p:nvSpPr>
        <p:spPr>
          <a:xfrm>
            <a:off x="4754880" y="1417320"/>
            <a:ext cx="2011680" cy="105156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34" name="Shape 32"/>
          <p:cNvSpPr/>
          <p:nvPr/>
        </p:nvSpPr>
        <p:spPr>
          <a:xfrm>
            <a:off x="4754880" y="1417320"/>
            <a:ext cx="2011680" cy="64008"/>
          </a:xfrm>
          <a:prstGeom prst="rect">
            <a:avLst/>
          </a:prstGeom>
          <a:solidFill>
            <a:srgbClr val="00D4FF"/>
          </a:solidFill>
          <a:ln/>
        </p:spPr>
      </p:sp>
      <p:sp>
        <p:nvSpPr>
          <p:cNvPr id="35" name="Text 33"/>
          <p:cNvSpPr/>
          <p:nvPr/>
        </p:nvSpPr>
        <p:spPr>
          <a:xfrm>
            <a:off x="4892040" y="1508760"/>
            <a:ext cx="178308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4K Support</a:t>
            </a:r>
            <a:endParaRPr lang="en-US" sz="1300" dirty="0"/>
          </a:p>
        </p:txBody>
      </p:sp>
      <p:sp>
        <p:nvSpPr>
          <p:cNvPr id="36" name="Text 34"/>
          <p:cNvSpPr/>
          <p:nvPr/>
        </p:nvSpPr>
        <p:spPr>
          <a:xfrm>
            <a:off x="4892040" y="1892808"/>
            <a:ext cx="1737360" cy="4846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+18 αισθητήρας υποστηρίζει</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aνάλυση έως 4K @ 30fps</a:t>
            </a:r>
            <a:endParaRPr lang="en-US" sz="1050" dirty="0"/>
          </a:p>
        </p:txBody>
      </p:sp>
      <p:sp>
        <p:nvSpPr>
          <p:cNvPr id="37" name="Shape 35"/>
          <p:cNvSpPr/>
          <p:nvPr/>
        </p:nvSpPr>
        <p:spPr>
          <a:xfrm>
            <a:off x="6903720" y="1417320"/>
            <a:ext cx="2011680" cy="105156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38" name="Shape 36"/>
          <p:cNvSpPr/>
          <p:nvPr/>
        </p:nvSpPr>
        <p:spPr>
          <a:xfrm>
            <a:off x="6903720" y="1417320"/>
            <a:ext cx="2011680" cy="64008"/>
          </a:xfrm>
          <a:prstGeom prst="rect">
            <a:avLst/>
          </a:prstGeom>
          <a:solidFill>
            <a:srgbClr val="00FF9D"/>
          </a:solidFill>
          <a:ln/>
        </p:spPr>
      </p:sp>
      <p:sp>
        <p:nvSpPr>
          <p:cNvPr id="39" name="Text 37"/>
          <p:cNvSpPr/>
          <p:nvPr/>
        </p:nvSpPr>
        <p:spPr>
          <a:xfrm>
            <a:off x="7040880" y="1508760"/>
            <a:ext cx="178308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Auto Resolution</a:t>
            </a:r>
            <a:endParaRPr lang="en-US" sz="1300" dirty="0"/>
          </a:p>
        </p:txBody>
      </p:sp>
      <p:sp>
        <p:nvSpPr>
          <p:cNvPr id="40" name="Text 38"/>
          <p:cNvSpPr/>
          <p:nvPr/>
        </p:nvSpPr>
        <p:spPr>
          <a:xfrm>
            <a:off x="7040880" y="1892808"/>
            <a:ext cx="1737360" cy="4846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Αυτόματη επιλογή βέλτιστης</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ανάλυσης κάμερας</a:t>
            </a:r>
            <a:endParaRPr lang="en-US" sz="1050" dirty="0"/>
          </a:p>
        </p:txBody>
      </p:sp>
      <p:sp>
        <p:nvSpPr>
          <p:cNvPr id="41" name="Shape 39"/>
          <p:cNvSpPr/>
          <p:nvPr/>
        </p:nvSpPr>
        <p:spPr>
          <a:xfrm>
            <a:off x="4754880" y="2606040"/>
            <a:ext cx="2011680" cy="105156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42" name="Shape 40"/>
          <p:cNvSpPr/>
          <p:nvPr/>
        </p:nvSpPr>
        <p:spPr>
          <a:xfrm>
            <a:off x="4754880" y="2606040"/>
            <a:ext cx="2011680" cy="64008"/>
          </a:xfrm>
          <a:prstGeom prst="rect">
            <a:avLst/>
          </a:prstGeom>
          <a:solidFill>
            <a:srgbClr val="FF6B35"/>
          </a:solidFill>
          <a:ln/>
        </p:spPr>
      </p:sp>
      <p:sp>
        <p:nvSpPr>
          <p:cNvPr id="43" name="Text 41"/>
          <p:cNvSpPr/>
          <p:nvPr/>
        </p:nvSpPr>
        <p:spPr>
          <a:xfrm>
            <a:off x="4892040" y="2697480"/>
            <a:ext cx="178308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Confidence Filter</a:t>
            </a:r>
            <a:endParaRPr lang="en-US" sz="1300" dirty="0"/>
          </a:p>
        </p:txBody>
      </p:sp>
      <p:sp>
        <p:nvSpPr>
          <p:cNvPr id="44" name="Text 42"/>
          <p:cNvSpPr/>
          <p:nvPr/>
        </p:nvSpPr>
        <p:spPr>
          <a:xfrm>
            <a:off x="4892040" y="3081528"/>
            <a:ext cx="1737360" cy="4846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Ρυθμιζόμενο threshold</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(0.1–0.95) real-time</a:t>
            </a:r>
            <a:endParaRPr lang="en-US" sz="1050" dirty="0"/>
          </a:p>
        </p:txBody>
      </p:sp>
      <p:sp>
        <p:nvSpPr>
          <p:cNvPr id="45" name="Shape 43"/>
          <p:cNvSpPr/>
          <p:nvPr/>
        </p:nvSpPr>
        <p:spPr>
          <a:xfrm>
            <a:off x="6903720" y="2606040"/>
            <a:ext cx="2011680" cy="105156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46" name="Shape 44"/>
          <p:cNvSpPr/>
          <p:nvPr/>
        </p:nvSpPr>
        <p:spPr>
          <a:xfrm>
            <a:off x="6903720" y="2606040"/>
            <a:ext cx="2011680" cy="64008"/>
          </a:xfrm>
          <a:prstGeom prst="rect">
            <a:avLst/>
          </a:prstGeom>
          <a:solidFill>
            <a:srgbClr val="7B2FBE"/>
          </a:solidFill>
          <a:ln/>
        </p:spPr>
      </p:sp>
      <p:sp>
        <p:nvSpPr>
          <p:cNvPr id="47" name="Text 45"/>
          <p:cNvSpPr/>
          <p:nvPr/>
        </p:nvSpPr>
        <p:spPr>
          <a:xfrm>
            <a:off x="7040880" y="2697480"/>
            <a:ext cx="178308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Multi-Camera</a:t>
            </a:r>
            <a:endParaRPr lang="en-US" sz="1300" dirty="0"/>
          </a:p>
        </p:txBody>
      </p:sp>
      <p:sp>
        <p:nvSpPr>
          <p:cNvPr id="48" name="Text 46"/>
          <p:cNvSpPr/>
          <p:nvPr/>
        </p:nvSpPr>
        <p:spPr>
          <a:xfrm>
            <a:off x="7040880" y="3081528"/>
            <a:ext cx="1737360" cy="4846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Υποστήριξη πολλαπλών</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καμερών (index 0,1,2...)</a:t>
            </a:r>
            <a:endParaRPr lang="en-US" sz="1050" dirty="0"/>
          </a:p>
        </p:txBody>
      </p:sp>
      <p:sp>
        <p:nvSpPr>
          <p:cNvPr id="49" name="Shape 47"/>
          <p:cNvSpPr/>
          <p:nvPr/>
        </p:nvSpPr>
        <p:spPr>
          <a:xfrm>
            <a:off x="4754880" y="3794760"/>
            <a:ext cx="2011680" cy="105156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50" name="Shape 48"/>
          <p:cNvSpPr/>
          <p:nvPr/>
        </p:nvSpPr>
        <p:spPr>
          <a:xfrm>
            <a:off x="4754880" y="3794760"/>
            <a:ext cx="2011680" cy="64008"/>
          </a:xfrm>
          <a:prstGeom prst="rect">
            <a:avLst/>
          </a:prstGeom>
          <a:solidFill>
            <a:srgbClr val="FF2D78"/>
          </a:solidFill>
          <a:ln/>
        </p:spPr>
      </p:sp>
      <p:sp>
        <p:nvSpPr>
          <p:cNvPr id="51" name="Text 49"/>
          <p:cNvSpPr/>
          <p:nvPr/>
        </p:nvSpPr>
        <p:spPr>
          <a:xfrm>
            <a:off x="4892040" y="3886200"/>
            <a:ext cx="178308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Video File</a:t>
            </a:r>
            <a:endParaRPr lang="en-US" sz="1300" dirty="0"/>
          </a:p>
        </p:txBody>
      </p:sp>
      <p:sp>
        <p:nvSpPr>
          <p:cNvPr id="52" name="Text 50"/>
          <p:cNvSpPr/>
          <p:nvPr/>
        </p:nvSpPr>
        <p:spPr>
          <a:xfrm>
            <a:off x="4892040" y="4270248"/>
            <a:ext cx="1737360" cy="4846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Inference σε αρχεία .mp4,</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.avi, .mkv και άλλα</a:t>
            </a:r>
            <a:endParaRPr lang="en-US" sz="1050" dirty="0"/>
          </a:p>
        </p:txBody>
      </p:sp>
      <p:sp>
        <p:nvSpPr>
          <p:cNvPr id="53" name="Shape 51"/>
          <p:cNvSpPr/>
          <p:nvPr/>
        </p:nvSpPr>
        <p:spPr>
          <a:xfrm>
            <a:off x="6903720" y="3794760"/>
            <a:ext cx="2011680" cy="1051560"/>
          </a:xfrm>
          <a:prstGeom prst="rect">
            <a:avLst/>
          </a:prstGeom>
          <a:solidFill>
            <a:srgbClr val="0D1F3C"/>
          </a:solidFill>
          <a:ln w="19050">
            <a:solidFill>
              <a:srgbClr val="FFD700"/>
            </a:solidFill>
            <a:prstDash val="solid"/>
          </a:ln>
          <a:effectLst>
            <a:outerShdw sx="100000" sy="100000" kx="0" ky="0" algn="bl" rotWithShape="0" blurRad="127000" dist="38100" dir="8100000">
              <a:srgbClr val="000000">
                <a:alpha val="40000"/>
              </a:srgbClr>
            </a:outerShdw>
          </a:effectLst>
        </p:spPr>
      </p:sp>
      <p:sp>
        <p:nvSpPr>
          <p:cNvPr id="54" name="Shape 52"/>
          <p:cNvSpPr/>
          <p:nvPr/>
        </p:nvSpPr>
        <p:spPr>
          <a:xfrm>
            <a:off x="6903720" y="3794760"/>
            <a:ext cx="2011680" cy="64008"/>
          </a:xfrm>
          <a:prstGeom prst="rect">
            <a:avLst/>
          </a:prstGeom>
          <a:solidFill>
            <a:srgbClr val="FFD700"/>
          </a:solidFill>
          <a:ln/>
        </p:spPr>
      </p:sp>
      <p:sp>
        <p:nvSpPr>
          <p:cNvPr id="55" name="Text 53"/>
          <p:cNvSpPr/>
          <p:nvPr/>
        </p:nvSpPr>
        <p:spPr>
          <a:xfrm>
            <a:off x="7040880" y="3886200"/>
            <a:ext cx="1783080" cy="320040"/>
          </a:xfrm>
          <a:prstGeom prst="rect">
            <a:avLst/>
          </a:prstGeom>
          <a:noFill/>
          <a:ln/>
        </p:spPr>
        <p:txBody>
          <a:bodyPr wrap="square" lIns="0" tIns="0" rIns="0" bIns="0"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Record Output</a:t>
            </a:r>
            <a:endParaRPr lang="en-US" sz="1300" dirty="0"/>
          </a:p>
        </p:txBody>
      </p:sp>
      <p:sp>
        <p:nvSpPr>
          <p:cNvPr id="56" name="Text 54"/>
          <p:cNvSpPr/>
          <p:nvPr/>
        </p:nvSpPr>
        <p:spPr>
          <a:xfrm>
            <a:off x="7040880" y="4270248"/>
            <a:ext cx="1737360" cy="48463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Αποθήκευση annotated</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video με bboxes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6B35"/>
            </a:solidFill>
            <a:prstDash val="solid"/>
          </a:ln>
        </p:spPr>
      </p:sp>
      <p:sp>
        <p:nvSpPr>
          <p:cNvPr id="3" name="Shape 1"/>
          <p:cNvSpPr/>
          <p:nvPr/>
        </p:nvSpPr>
        <p:spPr>
          <a:xfrm>
            <a:off x="0" y="0"/>
            <a:ext cx="73152" cy="822960"/>
          </a:xfrm>
          <a:prstGeom prst="rect">
            <a:avLst/>
          </a:prstGeom>
          <a:solidFill>
            <a:srgbClr val="FF6B35"/>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13 — Στόχος 60 FPS &amp; Performance</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6B35"/>
                </a:solidFill>
                <a:latin typeface="Calibri" pitchFamily="34" charset="0"/>
                <a:ea typeface="Calibri" pitchFamily="34" charset="-122"/>
                <a:cs typeface="Calibri" pitchFamily="34" charset="-120"/>
              </a:rPr>
              <a:t>Βελτιστοποίηση Live Inference</a:t>
            </a:r>
            <a:endParaRPr lang="en-US" sz="1100" dirty="0"/>
          </a:p>
        </p:txBody>
      </p:sp>
      <p:sp>
        <p:nvSpPr>
          <p:cNvPr id="6" name="Shape 4"/>
          <p:cNvSpPr/>
          <p:nvPr/>
        </p:nvSpPr>
        <p:spPr>
          <a:xfrm>
            <a:off x="3474720" y="822960"/>
            <a:ext cx="2194560" cy="2194560"/>
          </a:xfrm>
          <a:prstGeom prst="ellipse">
            <a:avLst/>
          </a:prstGeom>
          <a:solidFill>
            <a:srgbClr val="FF6B35">
              <a:alpha val="15000"/>
            </a:srgbClr>
          </a:solidFill>
          <a:ln w="38100">
            <a:solidFill>
              <a:srgbClr val="FF6B35"/>
            </a:solidFill>
            <a:prstDash val="solid"/>
          </a:ln>
        </p:spPr>
      </p:sp>
      <p:sp>
        <p:nvSpPr>
          <p:cNvPr id="7" name="Text 5"/>
          <p:cNvSpPr/>
          <p:nvPr/>
        </p:nvSpPr>
        <p:spPr>
          <a:xfrm>
            <a:off x="3474720" y="868680"/>
            <a:ext cx="2194560" cy="1554480"/>
          </a:xfrm>
          <a:prstGeom prst="rect">
            <a:avLst/>
          </a:prstGeom>
          <a:noFill/>
          <a:ln/>
        </p:spPr>
        <p:txBody>
          <a:bodyPr wrap="square" lIns="0" tIns="0" rIns="0" bIns="0" rtlCol="0" anchor="ctr"/>
          <a:lstStyle/>
          <a:p>
            <a:pPr algn="ctr" indent="0" marL="0">
              <a:buNone/>
            </a:pPr>
            <a:r>
              <a:rPr lang="en-US" sz="8000" b="1" dirty="0">
                <a:solidFill>
                  <a:srgbClr val="FF6B35"/>
                </a:solidFill>
                <a:latin typeface="Calibri" pitchFamily="34" charset="0"/>
                <a:ea typeface="Calibri" pitchFamily="34" charset="-122"/>
                <a:cs typeface="Calibri" pitchFamily="34" charset="-120"/>
              </a:rPr>
              <a:t>60</a:t>
            </a:r>
            <a:endParaRPr lang="en-US" sz="8000" dirty="0"/>
          </a:p>
        </p:txBody>
      </p:sp>
      <p:sp>
        <p:nvSpPr>
          <p:cNvPr id="8" name="Text 6"/>
          <p:cNvSpPr/>
          <p:nvPr/>
        </p:nvSpPr>
        <p:spPr>
          <a:xfrm>
            <a:off x="3474720" y="2423160"/>
            <a:ext cx="2194560" cy="41148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FPS TARGET</a:t>
            </a:r>
            <a:endParaRPr lang="en-US" sz="1200" dirty="0"/>
          </a:p>
        </p:txBody>
      </p:sp>
      <p:sp>
        <p:nvSpPr>
          <p:cNvPr id="9" name="Shape 7"/>
          <p:cNvSpPr/>
          <p:nvPr/>
        </p:nvSpPr>
        <p:spPr>
          <a:xfrm>
            <a:off x="182880" y="1005840"/>
            <a:ext cx="3017520" cy="118872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10" name="Shape 8"/>
          <p:cNvSpPr/>
          <p:nvPr/>
        </p:nvSpPr>
        <p:spPr>
          <a:xfrm>
            <a:off x="182880" y="1005840"/>
            <a:ext cx="3017520" cy="64008"/>
          </a:xfrm>
          <a:prstGeom prst="rect">
            <a:avLst/>
          </a:prstGeom>
          <a:solidFill>
            <a:srgbClr val="00D4FF"/>
          </a:solidFill>
          <a:ln/>
        </p:spPr>
      </p:sp>
      <p:sp>
        <p:nvSpPr>
          <p:cNvPr id="11" name="Text 9"/>
          <p:cNvSpPr/>
          <p:nvPr/>
        </p:nvSpPr>
        <p:spPr>
          <a:xfrm>
            <a:off x="320040" y="1097280"/>
            <a:ext cx="278892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OpenCV</a:t>
            </a:r>
            <a:endParaRPr lang="en-US" sz="1300" dirty="0"/>
          </a:p>
          <a:p>
            <a:pPr indent="0" marL="0">
              <a:buNone/>
            </a:pPr>
            <a:r>
              <a:rPr lang="en-US" sz="1300" b="1" dirty="0">
                <a:solidFill>
                  <a:srgbClr val="00D4FF"/>
                </a:solidFill>
                <a:latin typeface="Calibri" pitchFamily="34" charset="0"/>
                <a:ea typeface="Calibri" pitchFamily="34" charset="-122"/>
                <a:cs typeface="Calibri" pitchFamily="34" charset="-120"/>
              </a:rPr>
              <a:t>DSHOW/MSMF</a:t>
            </a:r>
            <a:endParaRPr lang="en-US" sz="1300" dirty="0"/>
          </a:p>
        </p:txBody>
      </p:sp>
      <p:sp>
        <p:nvSpPr>
          <p:cNvPr id="12" name="Text 10"/>
          <p:cNvSpPr/>
          <p:nvPr/>
        </p:nvSpPr>
        <p:spPr>
          <a:xfrm>
            <a:off x="320040" y="1481328"/>
            <a:ext cx="274320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Βελτιστοποιημένο</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backend για Windows</a:t>
            </a:r>
            <a:endParaRPr lang="en-US" sz="1050" dirty="0"/>
          </a:p>
        </p:txBody>
      </p:sp>
      <p:sp>
        <p:nvSpPr>
          <p:cNvPr id="13" name="Shape 11"/>
          <p:cNvSpPr/>
          <p:nvPr/>
        </p:nvSpPr>
        <p:spPr>
          <a:xfrm>
            <a:off x="182880" y="2423160"/>
            <a:ext cx="3017520" cy="118872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14" name="Shape 12"/>
          <p:cNvSpPr/>
          <p:nvPr/>
        </p:nvSpPr>
        <p:spPr>
          <a:xfrm>
            <a:off x="182880" y="2423160"/>
            <a:ext cx="3017520" cy="64008"/>
          </a:xfrm>
          <a:prstGeom prst="rect">
            <a:avLst/>
          </a:prstGeom>
          <a:solidFill>
            <a:srgbClr val="00FF9D"/>
          </a:solidFill>
          <a:ln/>
        </p:spPr>
      </p:sp>
      <p:sp>
        <p:nvSpPr>
          <p:cNvPr id="15" name="Text 13"/>
          <p:cNvSpPr/>
          <p:nvPr/>
        </p:nvSpPr>
        <p:spPr>
          <a:xfrm>
            <a:off x="320040" y="2514600"/>
            <a:ext cx="278892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Smart</a:t>
            </a:r>
            <a:endParaRPr lang="en-US" sz="1300" dirty="0"/>
          </a:p>
          <a:p>
            <a:pPr indent="0" marL="0">
              <a:buNone/>
            </a:pPr>
            <a:r>
              <a:rPr lang="en-US" sz="1300" b="1" dirty="0">
                <a:solidFill>
                  <a:srgbClr val="00FF9D"/>
                </a:solidFill>
                <a:latin typeface="Calibri" pitchFamily="34" charset="0"/>
                <a:ea typeface="Calibri" pitchFamily="34" charset="-122"/>
                <a:cs typeface="Calibri" pitchFamily="34" charset="-120"/>
              </a:rPr>
              <a:t>Buffering</a:t>
            </a:r>
            <a:endParaRPr lang="en-US" sz="1300" dirty="0"/>
          </a:p>
        </p:txBody>
      </p:sp>
      <p:sp>
        <p:nvSpPr>
          <p:cNvPr id="16" name="Text 14"/>
          <p:cNvSpPr/>
          <p:nvPr/>
        </p:nvSpPr>
        <p:spPr>
          <a:xfrm>
            <a:off x="320040" y="2898648"/>
            <a:ext cx="274320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Non-blocking frame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queue system</a:t>
            </a:r>
            <a:endParaRPr lang="en-US" sz="1050" dirty="0"/>
          </a:p>
        </p:txBody>
      </p:sp>
      <p:sp>
        <p:nvSpPr>
          <p:cNvPr id="17" name="Shape 15"/>
          <p:cNvSpPr/>
          <p:nvPr/>
        </p:nvSpPr>
        <p:spPr>
          <a:xfrm>
            <a:off x="7132320" y="1005840"/>
            <a:ext cx="3017520" cy="118872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18" name="Shape 16"/>
          <p:cNvSpPr/>
          <p:nvPr/>
        </p:nvSpPr>
        <p:spPr>
          <a:xfrm>
            <a:off x="7132320" y="1005840"/>
            <a:ext cx="3017520" cy="64008"/>
          </a:xfrm>
          <a:prstGeom prst="rect">
            <a:avLst/>
          </a:prstGeom>
          <a:solidFill>
            <a:srgbClr val="7B2FBE"/>
          </a:solidFill>
          <a:ln/>
        </p:spPr>
      </p:sp>
      <p:sp>
        <p:nvSpPr>
          <p:cNvPr id="19" name="Text 17"/>
          <p:cNvSpPr/>
          <p:nvPr/>
        </p:nvSpPr>
        <p:spPr>
          <a:xfrm>
            <a:off x="7269480" y="1097280"/>
            <a:ext cx="278892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Thread</a:t>
            </a:r>
            <a:endParaRPr lang="en-US" sz="1300" dirty="0"/>
          </a:p>
          <a:p>
            <a:pPr indent="0" marL="0">
              <a:buNone/>
            </a:pPr>
            <a:r>
              <a:rPr lang="en-US" sz="1300" b="1" dirty="0">
                <a:solidFill>
                  <a:srgbClr val="7B2FBE"/>
                </a:solidFill>
                <a:latin typeface="Calibri" pitchFamily="34" charset="0"/>
                <a:ea typeface="Calibri" pitchFamily="34" charset="-122"/>
                <a:cs typeface="Calibri" pitchFamily="34" charset="-120"/>
              </a:rPr>
              <a:t>Separation</a:t>
            </a:r>
            <a:endParaRPr lang="en-US" sz="1300" dirty="0"/>
          </a:p>
        </p:txBody>
      </p:sp>
      <p:sp>
        <p:nvSpPr>
          <p:cNvPr id="20" name="Text 18"/>
          <p:cNvSpPr/>
          <p:nvPr/>
        </p:nvSpPr>
        <p:spPr>
          <a:xfrm>
            <a:off x="7269480" y="1481328"/>
            <a:ext cx="274320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Capture &amp; inference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σε ξεχωριστά threads</a:t>
            </a:r>
            <a:endParaRPr lang="en-US" sz="1050" dirty="0"/>
          </a:p>
        </p:txBody>
      </p:sp>
      <p:sp>
        <p:nvSpPr>
          <p:cNvPr id="21" name="Shape 19"/>
          <p:cNvSpPr/>
          <p:nvPr/>
        </p:nvSpPr>
        <p:spPr>
          <a:xfrm>
            <a:off x="7132320" y="2423160"/>
            <a:ext cx="3017520" cy="118872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22" name="Shape 20"/>
          <p:cNvSpPr/>
          <p:nvPr/>
        </p:nvSpPr>
        <p:spPr>
          <a:xfrm>
            <a:off x="7132320" y="2423160"/>
            <a:ext cx="3017520" cy="64008"/>
          </a:xfrm>
          <a:prstGeom prst="rect">
            <a:avLst/>
          </a:prstGeom>
          <a:solidFill>
            <a:srgbClr val="FF2D78"/>
          </a:solidFill>
          <a:ln/>
        </p:spPr>
      </p:sp>
      <p:sp>
        <p:nvSpPr>
          <p:cNvPr id="23" name="Text 21"/>
          <p:cNvSpPr/>
          <p:nvPr/>
        </p:nvSpPr>
        <p:spPr>
          <a:xfrm>
            <a:off x="7269480" y="2514600"/>
            <a:ext cx="278892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FP16</a:t>
            </a:r>
            <a:endParaRPr lang="en-US" sz="1300" dirty="0"/>
          </a:p>
          <a:p>
            <a:pPr indent="0" marL="0">
              <a:buNone/>
            </a:pPr>
            <a:r>
              <a:rPr lang="en-US" sz="1300" b="1" dirty="0">
                <a:solidFill>
                  <a:srgbClr val="FF2D78"/>
                </a:solidFill>
                <a:latin typeface="Calibri" pitchFamily="34" charset="0"/>
                <a:ea typeface="Calibri" pitchFamily="34" charset="-122"/>
                <a:cs typeface="Calibri" pitchFamily="34" charset="-120"/>
              </a:rPr>
              <a:t>Inference</a:t>
            </a:r>
            <a:endParaRPr lang="en-US" sz="1300" dirty="0"/>
          </a:p>
        </p:txBody>
      </p:sp>
      <p:sp>
        <p:nvSpPr>
          <p:cNvPr id="24" name="Text 22"/>
          <p:cNvSpPr/>
          <p:nvPr/>
        </p:nvSpPr>
        <p:spPr>
          <a:xfrm>
            <a:off x="7269480" y="2898648"/>
            <a:ext cx="274320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Half precision για</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2x speed gain</a:t>
            </a:r>
            <a:endParaRPr lang="en-US" sz="1050" dirty="0"/>
          </a:p>
        </p:txBody>
      </p:sp>
      <p:sp>
        <p:nvSpPr>
          <p:cNvPr id="25" name="Text 23"/>
          <p:cNvSpPr/>
          <p:nvPr/>
        </p:nvSpPr>
        <p:spPr>
          <a:xfrm>
            <a:off x="274320" y="3794760"/>
            <a:ext cx="859536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FPS Σύγκριση κατά Backend &amp; Precision</a:t>
            </a:r>
            <a:endParaRPr lang="en-US" sz="1300" dirty="0"/>
          </a:p>
        </p:txBody>
      </p:sp>
      <p:graphicFrame>
        <p:nvGraphicFramePr>
          <p:cNvPr id="26" name="Chart 0" descr=""/>
          <p:cNvGraphicFramePr/>
          <p:nvPr/>
        </p:nvGraphicFramePr>
        <p:xfrm>
          <a:off x="274320" y="4160520"/>
          <a:ext cx="8595360" cy="8229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2D78"/>
            </a:solidFill>
            <a:prstDash val="solid"/>
          </a:ln>
        </p:spPr>
      </p:sp>
      <p:sp>
        <p:nvSpPr>
          <p:cNvPr id="3" name="Shape 1"/>
          <p:cNvSpPr/>
          <p:nvPr/>
        </p:nvSpPr>
        <p:spPr>
          <a:xfrm>
            <a:off x="0" y="0"/>
            <a:ext cx="73152" cy="822960"/>
          </a:xfrm>
          <a:prstGeom prst="rect">
            <a:avLst/>
          </a:prstGeom>
          <a:solidFill>
            <a:srgbClr val="FF2D78"/>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14 — TensorRT Cache Management</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2D78"/>
                </a:solidFill>
                <a:latin typeface="Calibri" pitchFamily="34" charset="0"/>
                <a:ea typeface="Calibri" pitchFamily="34" charset="-122"/>
                <a:cs typeface="Calibri" pitchFamily="34" charset="-120"/>
              </a:rPr>
              <a:t>Έξυπνη Διαχείριση Engine Files</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400" b="1" dirty="0">
                <a:solidFill>
                  <a:srgbClr val="FF2D78"/>
                </a:solidFill>
                <a:latin typeface="Calibri" pitchFamily="34" charset="0"/>
                <a:ea typeface="Calibri" pitchFamily="34" charset="-122"/>
                <a:cs typeface="Calibri" pitchFamily="34" charset="-120"/>
              </a:rPr>
              <a:t>Το πρόβλημα:</a:t>
            </a:r>
            <a:endParaRPr lang="en-US" sz="1400" dirty="0"/>
          </a:p>
        </p:txBody>
      </p:sp>
      <p:sp>
        <p:nvSpPr>
          <p:cNvPr id="7" name="Text 5"/>
          <p:cNvSpPr/>
          <p:nvPr/>
        </p:nvSpPr>
        <p:spPr>
          <a:xfrm>
            <a:off x="274320" y="1280160"/>
            <a:ext cx="8595360" cy="594360"/>
          </a:xfrm>
          <a:prstGeom prst="rect">
            <a:avLst/>
          </a:prstGeom>
          <a:noFill/>
          <a:ln/>
        </p:spPr>
        <p:txBody>
          <a:bodyPr wrap="square" lIns="0" tIns="0" rIns="0" bIns="0" rtlCol="0" anchor="ctr"/>
          <a:lstStyle/>
          <a:p>
            <a:pPr indent="0" marL="0">
              <a:buNone/>
            </a:pPr>
            <a:r>
              <a:rPr lang="en-US" sz="1150" dirty="0">
                <a:solidFill>
                  <a:srgbClr val="AABBCC"/>
                </a:solidFill>
                <a:latin typeface="Calibri" pitchFamily="34" charset="0"/>
                <a:ea typeface="Calibri" pitchFamily="34" charset="-122"/>
                <a:cs typeface="Calibri" pitchFamily="34" charset="-120"/>
              </a:rPr>
              <a:t>Τα TensorRT .engine αρχεία δεν είναι portable — δημιουργούνται ειδικά για το hardware στο οποίο παράχθηκαν. Αν μεταφέρετε ένα .engine αρχείο σε άλλο PC ή αλλάξετε GPU, απαιτείται εκ νέου μεταγλώττιση.</a:t>
            </a:r>
            <a:endParaRPr lang="en-US" sz="1150" dirty="0"/>
          </a:p>
        </p:txBody>
      </p:sp>
      <p:sp>
        <p:nvSpPr>
          <p:cNvPr id="8" name="Text 6"/>
          <p:cNvSpPr/>
          <p:nvPr/>
        </p:nvSpPr>
        <p:spPr>
          <a:xfrm>
            <a:off x="274320" y="2011680"/>
            <a:ext cx="8595360" cy="320040"/>
          </a:xfrm>
          <a:prstGeom prst="rect">
            <a:avLst/>
          </a:prstGeom>
          <a:noFill/>
          <a:ln/>
        </p:spPr>
        <p:txBody>
          <a:bodyPr wrap="square" lIns="0" tIns="0" rIns="0" bIns="0" rtlCol="0" anchor="ctr"/>
          <a:lstStyle/>
          <a:p>
            <a:pPr indent="0" marL="0">
              <a:buNone/>
            </a:pPr>
            <a:r>
              <a:rPr lang="en-US" sz="1400" b="1" dirty="0">
                <a:solidFill>
                  <a:srgbClr val="FF2D78"/>
                </a:solidFill>
                <a:latin typeface="Calibri" pitchFamily="34" charset="0"/>
                <a:ea typeface="Calibri" pitchFamily="34" charset="-122"/>
                <a:cs typeface="Calibri" pitchFamily="34" charset="-120"/>
              </a:rPr>
              <a:t>Η Λύση του Models Manager Pro:</a:t>
            </a:r>
            <a:endParaRPr lang="en-US" sz="1400" dirty="0"/>
          </a:p>
        </p:txBody>
      </p:sp>
      <p:sp>
        <p:nvSpPr>
          <p:cNvPr id="9" name="Shape 7"/>
          <p:cNvSpPr/>
          <p:nvPr/>
        </p:nvSpPr>
        <p:spPr>
          <a:xfrm>
            <a:off x="182880" y="2468880"/>
            <a:ext cx="4114800" cy="118872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10" name="Shape 8"/>
          <p:cNvSpPr/>
          <p:nvPr/>
        </p:nvSpPr>
        <p:spPr>
          <a:xfrm>
            <a:off x="182880" y="2468880"/>
            <a:ext cx="4114800" cy="64008"/>
          </a:xfrm>
          <a:prstGeom prst="rect">
            <a:avLst/>
          </a:prstGeom>
          <a:solidFill>
            <a:srgbClr val="00D4FF"/>
          </a:solidFill>
          <a:ln/>
        </p:spPr>
      </p:sp>
      <p:sp>
        <p:nvSpPr>
          <p:cNvPr id="11" name="Text 9"/>
          <p:cNvSpPr/>
          <p:nvPr/>
        </p:nvSpPr>
        <p:spPr>
          <a:xfrm>
            <a:off x="320040" y="2560320"/>
            <a:ext cx="388620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Hardware</a:t>
            </a:r>
            <a:endParaRPr lang="en-US" sz="1300" dirty="0"/>
          </a:p>
          <a:p>
            <a:pPr indent="0" marL="0">
              <a:buNone/>
            </a:pPr>
            <a:r>
              <a:rPr lang="en-US" sz="1300" b="1" dirty="0">
                <a:solidFill>
                  <a:srgbClr val="00D4FF"/>
                </a:solidFill>
                <a:latin typeface="Calibri" pitchFamily="34" charset="0"/>
                <a:ea typeface="Calibri" pitchFamily="34" charset="-122"/>
                <a:cs typeface="Calibri" pitchFamily="34" charset="-120"/>
              </a:rPr>
              <a:t>Fingerprint</a:t>
            </a:r>
            <a:endParaRPr lang="en-US" sz="1300" dirty="0"/>
          </a:p>
        </p:txBody>
      </p:sp>
      <p:sp>
        <p:nvSpPr>
          <p:cNvPr id="12" name="Text 10"/>
          <p:cNvSpPr/>
          <p:nvPr/>
        </p:nvSpPr>
        <p:spPr>
          <a:xfrm>
            <a:off x="320040" y="2944368"/>
            <a:ext cx="384048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Μοναδικό αποτύπωμα GPU</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(CUDA device name + compute capability)</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αποθηκεύεται με κάθε .engine αρχείο</a:t>
            </a:r>
            <a:endParaRPr lang="en-US" sz="1050" dirty="0"/>
          </a:p>
        </p:txBody>
      </p:sp>
      <p:sp>
        <p:nvSpPr>
          <p:cNvPr id="13" name="Shape 11"/>
          <p:cNvSpPr/>
          <p:nvPr/>
        </p:nvSpPr>
        <p:spPr>
          <a:xfrm>
            <a:off x="4526280" y="2468880"/>
            <a:ext cx="4114800" cy="118872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14" name="Shape 12"/>
          <p:cNvSpPr/>
          <p:nvPr/>
        </p:nvSpPr>
        <p:spPr>
          <a:xfrm>
            <a:off x="4526280" y="2468880"/>
            <a:ext cx="4114800" cy="64008"/>
          </a:xfrm>
          <a:prstGeom prst="rect">
            <a:avLst/>
          </a:prstGeom>
          <a:solidFill>
            <a:srgbClr val="FF6B35"/>
          </a:solidFill>
          <a:ln/>
        </p:spPr>
      </p:sp>
      <p:sp>
        <p:nvSpPr>
          <p:cNvPr id="15" name="Text 13"/>
          <p:cNvSpPr/>
          <p:nvPr/>
        </p:nvSpPr>
        <p:spPr>
          <a:xfrm>
            <a:off x="4663440" y="2560320"/>
            <a:ext cx="388620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Auto Invalidation</a:t>
            </a:r>
            <a:endParaRPr lang="en-US" sz="1300" dirty="0"/>
          </a:p>
        </p:txBody>
      </p:sp>
      <p:sp>
        <p:nvSpPr>
          <p:cNvPr id="16" name="Text 14"/>
          <p:cNvSpPr/>
          <p:nvPr/>
        </p:nvSpPr>
        <p:spPr>
          <a:xfrm>
            <a:off x="4663440" y="2944368"/>
            <a:ext cx="384048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Αυτόματη ανίχνευση αλλαγής hardware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και διαγραφή stale cache entries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πριν την επόμενη χρήση</a:t>
            </a:r>
            <a:endParaRPr lang="en-US" sz="1050" dirty="0"/>
          </a:p>
        </p:txBody>
      </p:sp>
      <p:sp>
        <p:nvSpPr>
          <p:cNvPr id="17" name="Shape 15"/>
          <p:cNvSpPr/>
          <p:nvPr/>
        </p:nvSpPr>
        <p:spPr>
          <a:xfrm>
            <a:off x="182880" y="3794760"/>
            <a:ext cx="4114800" cy="118872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18" name="Shape 16"/>
          <p:cNvSpPr/>
          <p:nvPr/>
        </p:nvSpPr>
        <p:spPr>
          <a:xfrm>
            <a:off x="182880" y="3794760"/>
            <a:ext cx="4114800" cy="64008"/>
          </a:xfrm>
          <a:prstGeom prst="rect">
            <a:avLst/>
          </a:prstGeom>
          <a:solidFill>
            <a:srgbClr val="7B2FBE"/>
          </a:solidFill>
          <a:ln/>
        </p:spPr>
      </p:sp>
      <p:sp>
        <p:nvSpPr>
          <p:cNvPr id="19" name="Text 17"/>
          <p:cNvSpPr/>
          <p:nvPr/>
        </p:nvSpPr>
        <p:spPr>
          <a:xfrm>
            <a:off x="320040" y="3886200"/>
            <a:ext cx="388620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Cache Registry</a:t>
            </a:r>
            <a:endParaRPr lang="en-US" sz="1300" dirty="0"/>
          </a:p>
        </p:txBody>
      </p:sp>
      <p:sp>
        <p:nvSpPr>
          <p:cNvPr id="20" name="Text 18"/>
          <p:cNvSpPr/>
          <p:nvPr/>
        </p:nvSpPr>
        <p:spPr>
          <a:xfrm>
            <a:off x="320040" y="4270248"/>
            <a:ext cx="384048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JSON registry με metadata</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για κάθε cached model</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(path, hash, hardware, timestamp)</a:t>
            </a:r>
            <a:endParaRPr lang="en-US" sz="1050" dirty="0"/>
          </a:p>
        </p:txBody>
      </p:sp>
      <p:sp>
        <p:nvSpPr>
          <p:cNvPr id="21" name="Shape 19"/>
          <p:cNvSpPr/>
          <p:nvPr/>
        </p:nvSpPr>
        <p:spPr>
          <a:xfrm>
            <a:off x="4526280" y="3794760"/>
            <a:ext cx="4114800" cy="118872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22" name="Shape 20"/>
          <p:cNvSpPr/>
          <p:nvPr/>
        </p:nvSpPr>
        <p:spPr>
          <a:xfrm>
            <a:off x="4526280" y="3794760"/>
            <a:ext cx="4114800" cy="64008"/>
          </a:xfrm>
          <a:prstGeom prst="rect">
            <a:avLst/>
          </a:prstGeom>
          <a:solidFill>
            <a:srgbClr val="FF2D78"/>
          </a:solidFill>
          <a:ln/>
        </p:spPr>
      </p:sp>
      <p:sp>
        <p:nvSpPr>
          <p:cNvPr id="23" name="Text 21"/>
          <p:cNvSpPr/>
          <p:nvPr/>
        </p:nvSpPr>
        <p:spPr>
          <a:xfrm>
            <a:off x="4663440" y="3886200"/>
            <a:ext cx="388620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Rebuild Trigger</a:t>
            </a:r>
            <a:endParaRPr lang="en-US" sz="1300" dirty="0"/>
          </a:p>
        </p:txBody>
      </p:sp>
      <p:sp>
        <p:nvSpPr>
          <p:cNvPr id="24" name="Text 22"/>
          <p:cNvSpPr/>
          <p:nvPr/>
        </p:nvSpPr>
        <p:spPr>
          <a:xfrm>
            <a:off x="4663440" y="4270248"/>
            <a:ext cx="384048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Αυτόματο trigger για rebuild</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όταν ο fingerprint δεν ταιριάζει</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 χωρίς manual intervention</a:t>
            </a:r>
            <a:endParaRPr lang="en-US" sz="1050" dirty="0"/>
          </a:p>
        </p:txBody>
      </p:sp>
      <p:sp>
        <p:nvSpPr>
          <p:cNvPr id="25" name="Text 23"/>
          <p:cNvSpPr/>
          <p:nvPr/>
        </p:nvSpPr>
        <p:spPr>
          <a:xfrm>
            <a:off x="274320" y="4754880"/>
            <a:ext cx="3200400" cy="256032"/>
          </a:xfrm>
          <a:prstGeom prst="rect">
            <a:avLst/>
          </a:prstGeom>
          <a:noFill/>
          <a:ln/>
        </p:spPr>
        <p:txBody>
          <a:bodyPr wrap="square" lIns="0" tIns="0" rIns="0" bIns="0" rtlCol="0" anchor="ctr"/>
          <a:lstStyle/>
          <a:p>
            <a:pPr indent="0" marL="0">
              <a:buNone/>
            </a:pPr>
            <a:r>
              <a:rPr lang="en-US" sz="1000" b="1" dirty="0">
                <a:solidFill>
                  <a:srgbClr val="FF2D78"/>
                </a:solidFill>
                <a:latin typeface="Calibri" pitchFamily="34" charset="0"/>
                <a:ea typeface="Calibri" pitchFamily="34" charset="-122"/>
                <a:cs typeface="Calibri" pitchFamily="34" charset="-120"/>
              </a:rPr>
              <a:t>Cache Validation Flow:</a:t>
            </a:r>
            <a:endParaRPr lang="en-US" sz="1000" dirty="0"/>
          </a:p>
        </p:txBody>
      </p:sp>
      <p:sp>
        <p:nvSpPr>
          <p:cNvPr id="26" name="Shape 24"/>
          <p:cNvSpPr/>
          <p:nvPr/>
        </p:nvSpPr>
        <p:spPr>
          <a:xfrm>
            <a:off x="182880" y="4663440"/>
            <a:ext cx="8778240" cy="347472"/>
          </a:xfrm>
          <a:prstGeom prst="rect">
            <a:avLst/>
          </a:prstGeom>
          <a:solidFill>
            <a:srgbClr val="122544"/>
          </a:solidFill>
          <a:ln w="12700">
            <a:solidFill>
              <a:srgbClr val="FF2D78"/>
            </a:solidFill>
            <a:prstDash val="solid"/>
          </a:ln>
        </p:spPr>
      </p:sp>
      <p:sp>
        <p:nvSpPr>
          <p:cNvPr id="27" name="Text 25"/>
          <p:cNvSpPr/>
          <p:nvPr/>
        </p:nvSpPr>
        <p:spPr>
          <a:xfrm>
            <a:off x="274320" y="4736592"/>
            <a:ext cx="8595360" cy="256032"/>
          </a:xfrm>
          <a:prstGeom prst="rect">
            <a:avLst/>
          </a:prstGeom>
          <a:noFill/>
          <a:ln/>
        </p:spPr>
        <p:txBody>
          <a:bodyPr wrap="square" lIns="0" tIns="0" rIns="0" bIns="0" rtlCol="0" anchor="ctr"/>
          <a:lstStyle/>
          <a:p>
            <a:pPr indent="0" marL="0">
              <a:buNone/>
            </a:pPr>
            <a:r>
              <a:rPr lang="en-US" sz="950" dirty="0">
                <a:solidFill>
                  <a:srgbClr val="FF2D78"/>
                </a:solidFill>
                <a:latin typeface="Consolas" pitchFamily="34" charset="0"/>
                <a:ea typeface="Consolas" pitchFamily="34" charset="-122"/>
                <a:cs typeface="Consolas" pitchFamily="34" charset="-120"/>
              </a:rPr>
              <a:t>Load Engine → Compute Current Fingerprint → Compare with Cached Fingerprint → Match: Use Cache | Mismatch: Delete + Rebuild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D4FF"/>
            </a:solidFill>
            <a:prstDash val="solid"/>
          </a:ln>
        </p:spPr>
      </p:sp>
      <p:sp>
        <p:nvSpPr>
          <p:cNvPr id="3" name="Shape 1"/>
          <p:cNvSpPr/>
          <p:nvPr/>
        </p:nvSpPr>
        <p:spPr>
          <a:xfrm>
            <a:off x="0" y="0"/>
            <a:ext cx="73152" cy="822960"/>
          </a:xfrm>
          <a:prstGeom prst="rect">
            <a:avLst/>
          </a:prstGeom>
          <a:solidFill>
            <a:srgbClr val="00D4FF"/>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15–16 — Διαχείριση Dataset</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D4FF"/>
                </a:solidFill>
                <a:latin typeface="Calibri" pitchFamily="34" charset="0"/>
                <a:ea typeface="Calibri" pitchFamily="34" charset="-122"/>
                <a:cs typeface="Calibri" pitchFamily="34" charset="-120"/>
              </a:rPr>
              <a:t>COCO8 · COCO128 · Custom Datasets</a:t>
            </a:r>
            <a:endParaRPr lang="en-US" sz="1100" dirty="0"/>
          </a:p>
        </p:txBody>
      </p:sp>
      <p:sp>
        <p:nvSpPr>
          <p:cNvPr id="6" name="Text 4"/>
          <p:cNvSpPr/>
          <p:nvPr/>
        </p:nvSpPr>
        <p:spPr>
          <a:xfrm>
            <a:off x="274320" y="914400"/>
            <a:ext cx="8595360" cy="347472"/>
          </a:xfrm>
          <a:prstGeom prst="rect">
            <a:avLst/>
          </a:prstGeom>
          <a:noFill/>
          <a:ln/>
        </p:spPr>
        <p:txBody>
          <a:bodyPr wrap="square" lIns="0" tIns="0" rIns="0" bIns="0" rtlCol="0" anchor="ctr"/>
          <a:lstStyle/>
          <a:p>
            <a:pPr indent="0" marL="0">
              <a:buNone/>
            </a:pPr>
            <a:r>
              <a:rPr lang="en-US" sz="1500" b="1" dirty="0">
                <a:solidFill>
                  <a:srgbClr val="00D4FF"/>
                </a:solidFill>
                <a:latin typeface="Calibri" pitchFamily="34" charset="0"/>
                <a:ea typeface="Calibri" pitchFamily="34" charset="-122"/>
                <a:cs typeface="Calibri" pitchFamily="34" charset="-120"/>
              </a:rPr>
              <a:t>Υποστηριζόμενα Σύνολα Δεδομένων</a:t>
            </a:r>
            <a:endParaRPr lang="en-US" sz="1500" dirty="0"/>
          </a:p>
        </p:txBody>
      </p:sp>
      <p:sp>
        <p:nvSpPr>
          <p:cNvPr id="7" name="Shape 5"/>
          <p:cNvSpPr/>
          <p:nvPr/>
        </p:nvSpPr>
        <p:spPr>
          <a:xfrm>
            <a:off x="182880" y="1417320"/>
            <a:ext cx="2834640" cy="2377440"/>
          </a:xfrm>
          <a:prstGeom prst="rect">
            <a:avLst/>
          </a:prstGeom>
          <a:solidFill>
            <a:srgbClr val="0D1F3C"/>
          </a:solidFill>
          <a:ln w="25400">
            <a:solidFill>
              <a:srgbClr val="00FF9D"/>
            </a:solidFill>
            <a:prstDash val="solid"/>
          </a:ln>
        </p:spPr>
      </p:sp>
      <p:sp>
        <p:nvSpPr>
          <p:cNvPr id="8" name="Shape 6"/>
          <p:cNvSpPr/>
          <p:nvPr/>
        </p:nvSpPr>
        <p:spPr>
          <a:xfrm>
            <a:off x="182880" y="1417320"/>
            <a:ext cx="2834640" cy="475488"/>
          </a:xfrm>
          <a:prstGeom prst="rect">
            <a:avLst/>
          </a:prstGeom>
          <a:solidFill>
            <a:srgbClr val="00FF9D">
              <a:alpha val="80000"/>
            </a:srgbClr>
          </a:solidFill>
          <a:ln/>
        </p:spPr>
      </p:sp>
      <p:sp>
        <p:nvSpPr>
          <p:cNvPr id="9" name="Text 7"/>
          <p:cNvSpPr/>
          <p:nvPr/>
        </p:nvSpPr>
        <p:spPr>
          <a:xfrm>
            <a:off x="274320" y="1472184"/>
            <a:ext cx="26517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COCO8</a:t>
            </a:r>
            <a:endParaRPr lang="en-US" sz="1800" dirty="0"/>
          </a:p>
        </p:txBody>
      </p:sp>
      <p:sp>
        <p:nvSpPr>
          <p:cNvPr id="10" name="Text 8"/>
          <p:cNvSpPr/>
          <p:nvPr/>
        </p:nvSpPr>
        <p:spPr>
          <a:xfrm>
            <a:off x="292608" y="1984248"/>
            <a:ext cx="2633472" cy="713232"/>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8 εικόνες (COCO subset)</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Ιδανικό για quick testing</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και debugging pipeline</a:t>
            </a:r>
            <a:endParaRPr lang="en-US" sz="1100" dirty="0"/>
          </a:p>
        </p:txBody>
      </p:sp>
      <p:sp>
        <p:nvSpPr>
          <p:cNvPr id="11" name="Shape 9"/>
          <p:cNvSpPr/>
          <p:nvPr/>
        </p:nvSpPr>
        <p:spPr>
          <a:xfrm>
            <a:off x="274320" y="2788920"/>
            <a:ext cx="2651760" cy="0"/>
          </a:xfrm>
          <a:prstGeom prst="line">
            <a:avLst/>
          </a:prstGeom>
          <a:noFill/>
          <a:ln w="6350">
            <a:solidFill>
              <a:srgbClr val="00FF9D"/>
            </a:solidFill>
            <a:prstDash val="solid"/>
          </a:ln>
        </p:spPr>
      </p:sp>
      <p:sp>
        <p:nvSpPr>
          <p:cNvPr id="12" name="Text 10"/>
          <p:cNvSpPr/>
          <p:nvPr/>
        </p:nvSpPr>
        <p:spPr>
          <a:xfrm>
            <a:off x="274320" y="2898648"/>
            <a:ext cx="2651760" cy="320040"/>
          </a:xfrm>
          <a:prstGeom prst="rect">
            <a:avLst/>
          </a:prstGeom>
          <a:noFill/>
          <a:ln/>
        </p:spPr>
        <p:txBody>
          <a:bodyPr wrap="square" lIns="0" tIns="0" rIns="0" bIns="0" rtlCol="0" anchor="ctr"/>
          <a:lstStyle/>
          <a:p>
            <a:pPr indent="0" marL="0">
              <a:buNone/>
            </a:pPr>
            <a:r>
              <a:rPr lang="en-US" sz="1000" dirty="0">
                <a:solidFill>
                  <a:srgbClr val="00FF9D"/>
                </a:solidFill>
                <a:latin typeface="Consolas" pitchFamily="34" charset="0"/>
                <a:ea typeface="Consolas" pitchFamily="34" charset="-122"/>
                <a:cs typeface="Consolas" pitchFamily="34" charset="-120"/>
              </a:rPr>
              <a:t>Classes: 80  |  Images: 8  |  Size: ~3MB</a:t>
            </a:r>
            <a:endParaRPr lang="en-US" sz="1000" dirty="0"/>
          </a:p>
        </p:txBody>
      </p:sp>
      <p:sp>
        <p:nvSpPr>
          <p:cNvPr id="13" name="Shape 11"/>
          <p:cNvSpPr/>
          <p:nvPr/>
        </p:nvSpPr>
        <p:spPr>
          <a:xfrm>
            <a:off x="3154680" y="1417320"/>
            <a:ext cx="2834640" cy="2377440"/>
          </a:xfrm>
          <a:prstGeom prst="rect">
            <a:avLst/>
          </a:prstGeom>
          <a:solidFill>
            <a:srgbClr val="0D1F3C"/>
          </a:solidFill>
          <a:ln w="25400">
            <a:solidFill>
              <a:srgbClr val="00D4FF"/>
            </a:solidFill>
            <a:prstDash val="solid"/>
          </a:ln>
        </p:spPr>
      </p:sp>
      <p:sp>
        <p:nvSpPr>
          <p:cNvPr id="14" name="Shape 12"/>
          <p:cNvSpPr/>
          <p:nvPr/>
        </p:nvSpPr>
        <p:spPr>
          <a:xfrm>
            <a:off x="3154680" y="1417320"/>
            <a:ext cx="2834640" cy="475488"/>
          </a:xfrm>
          <a:prstGeom prst="rect">
            <a:avLst/>
          </a:prstGeom>
          <a:solidFill>
            <a:srgbClr val="00D4FF">
              <a:alpha val="80000"/>
            </a:srgbClr>
          </a:solidFill>
          <a:ln/>
        </p:spPr>
      </p:sp>
      <p:sp>
        <p:nvSpPr>
          <p:cNvPr id="15" name="Text 13"/>
          <p:cNvSpPr/>
          <p:nvPr/>
        </p:nvSpPr>
        <p:spPr>
          <a:xfrm>
            <a:off x="3246120" y="1472184"/>
            <a:ext cx="26517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COCO128</a:t>
            </a:r>
            <a:endParaRPr lang="en-US" sz="1800" dirty="0"/>
          </a:p>
        </p:txBody>
      </p:sp>
      <p:sp>
        <p:nvSpPr>
          <p:cNvPr id="16" name="Text 14"/>
          <p:cNvSpPr/>
          <p:nvPr/>
        </p:nvSpPr>
        <p:spPr>
          <a:xfrm>
            <a:off x="3264408" y="1984248"/>
            <a:ext cx="2633472" cy="713232"/>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128 εικόνες (COCO subset)</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Ιδανικό για proof-of-concept</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και hyperparameter tuning</a:t>
            </a:r>
            <a:endParaRPr lang="en-US" sz="1100" dirty="0"/>
          </a:p>
        </p:txBody>
      </p:sp>
      <p:sp>
        <p:nvSpPr>
          <p:cNvPr id="17" name="Shape 15"/>
          <p:cNvSpPr/>
          <p:nvPr/>
        </p:nvSpPr>
        <p:spPr>
          <a:xfrm>
            <a:off x="3246120" y="2788920"/>
            <a:ext cx="2651760" cy="0"/>
          </a:xfrm>
          <a:prstGeom prst="line">
            <a:avLst/>
          </a:prstGeom>
          <a:noFill/>
          <a:ln w="6350">
            <a:solidFill>
              <a:srgbClr val="00D4FF"/>
            </a:solidFill>
            <a:prstDash val="solid"/>
          </a:ln>
        </p:spPr>
      </p:sp>
      <p:sp>
        <p:nvSpPr>
          <p:cNvPr id="18" name="Text 16"/>
          <p:cNvSpPr/>
          <p:nvPr/>
        </p:nvSpPr>
        <p:spPr>
          <a:xfrm>
            <a:off x="3246120" y="2898648"/>
            <a:ext cx="2651760" cy="320040"/>
          </a:xfrm>
          <a:prstGeom prst="rect">
            <a:avLst/>
          </a:prstGeom>
          <a:noFill/>
          <a:ln/>
        </p:spPr>
        <p:txBody>
          <a:bodyPr wrap="square" lIns="0" tIns="0" rIns="0" bIns="0" rtlCol="0" anchor="ctr"/>
          <a:lstStyle/>
          <a:p>
            <a:pPr indent="0" marL="0">
              <a:buNone/>
            </a:pPr>
            <a:r>
              <a:rPr lang="en-US" sz="1000" dirty="0">
                <a:solidFill>
                  <a:srgbClr val="00D4FF"/>
                </a:solidFill>
                <a:latin typeface="Consolas" pitchFamily="34" charset="0"/>
                <a:ea typeface="Consolas" pitchFamily="34" charset="-122"/>
                <a:cs typeface="Consolas" pitchFamily="34" charset="-120"/>
              </a:rPr>
              <a:t>Classes: 80  |  Images: 128  |  Size: ~45MB</a:t>
            </a:r>
            <a:endParaRPr lang="en-US" sz="1000" dirty="0"/>
          </a:p>
        </p:txBody>
      </p:sp>
      <p:sp>
        <p:nvSpPr>
          <p:cNvPr id="19" name="Shape 17"/>
          <p:cNvSpPr/>
          <p:nvPr/>
        </p:nvSpPr>
        <p:spPr>
          <a:xfrm>
            <a:off x="6126480" y="1417320"/>
            <a:ext cx="2834640" cy="2377440"/>
          </a:xfrm>
          <a:prstGeom prst="rect">
            <a:avLst/>
          </a:prstGeom>
          <a:solidFill>
            <a:srgbClr val="0D1F3C"/>
          </a:solidFill>
          <a:ln w="25400">
            <a:solidFill>
              <a:srgbClr val="7B2FBE"/>
            </a:solidFill>
            <a:prstDash val="solid"/>
          </a:ln>
        </p:spPr>
      </p:sp>
      <p:sp>
        <p:nvSpPr>
          <p:cNvPr id="20" name="Shape 18"/>
          <p:cNvSpPr/>
          <p:nvPr/>
        </p:nvSpPr>
        <p:spPr>
          <a:xfrm>
            <a:off x="6126480" y="1417320"/>
            <a:ext cx="2834640" cy="475488"/>
          </a:xfrm>
          <a:prstGeom prst="rect">
            <a:avLst/>
          </a:prstGeom>
          <a:solidFill>
            <a:srgbClr val="7B2FBE">
              <a:alpha val="80000"/>
            </a:srgbClr>
          </a:solidFill>
          <a:ln/>
        </p:spPr>
      </p:sp>
      <p:sp>
        <p:nvSpPr>
          <p:cNvPr id="21" name="Text 19"/>
          <p:cNvSpPr/>
          <p:nvPr/>
        </p:nvSpPr>
        <p:spPr>
          <a:xfrm>
            <a:off x="6217920" y="1472184"/>
            <a:ext cx="26517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Custom</a:t>
            </a: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Dataset</a:t>
            </a:r>
            <a:endParaRPr lang="en-US" sz="1800" dirty="0"/>
          </a:p>
        </p:txBody>
      </p:sp>
      <p:sp>
        <p:nvSpPr>
          <p:cNvPr id="22" name="Text 20"/>
          <p:cNvSpPr/>
          <p:nvPr/>
        </p:nvSpPr>
        <p:spPr>
          <a:xfrm>
            <a:off x="6236208" y="1984248"/>
            <a:ext cx="2633472" cy="713232"/>
          </a:xfrm>
          <a:prstGeom prst="rect">
            <a:avLst/>
          </a:prstGeom>
          <a:noFill/>
          <a:ln/>
        </p:spPr>
        <p:txBody>
          <a:bodyPr wrap="square" lIns="0" tIns="0" rIns="0" bIns="0" rtlCol="0" anchor="ctr"/>
          <a:lstStyle/>
          <a:p>
            <a:pPr indent="0" marL="0">
              <a:buNone/>
            </a:pPr>
            <a:r>
              <a:rPr lang="en-US" sz="1100" dirty="0">
                <a:solidFill>
                  <a:srgbClr val="AABBCC"/>
                </a:solidFill>
                <a:latin typeface="Calibri" pitchFamily="34" charset="0"/>
                <a:ea typeface="Calibri" pitchFamily="34" charset="-122"/>
                <a:cs typeface="Calibri" pitchFamily="34" charset="-120"/>
              </a:rPr>
              <a:t>Δικό σας dataset</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YOLO format (.yaml config)</a:t>
            </a:r>
            <a:endParaRPr lang="en-US" sz="1100" dirty="0"/>
          </a:p>
          <a:p>
            <a:pPr indent="0" marL="0">
              <a:buNone/>
            </a:pPr>
            <a:r>
              <a:rPr lang="en-US" sz="1100" dirty="0">
                <a:solidFill>
                  <a:srgbClr val="AABBCC"/>
                </a:solidFill>
                <a:latin typeface="Calibri" pitchFamily="34" charset="0"/>
                <a:ea typeface="Calibri" pitchFamily="34" charset="-122"/>
                <a:cs typeface="Calibri" pitchFamily="34" charset="-120"/>
              </a:rPr>
              <a:t>Πλήρης υποστήριξη custom paths</a:t>
            </a:r>
            <a:endParaRPr lang="en-US" sz="1100" dirty="0"/>
          </a:p>
        </p:txBody>
      </p:sp>
      <p:sp>
        <p:nvSpPr>
          <p:cNvPr id="23" name="Shape 21"/>
          <p:cNvSpPr/>
          <p:nvPr/>
        </p:nvSpPr>
        <p:spPr>
          <a:xfrm>
            <a:off x="6217920" y="2788920"/>
            <a:ext cx="2651760" cy="0"/>
          </a:xfrm>
          <a:prstGeom prst="line">
            <a:avLst/>
          </a:prstGeom>
          <a:noFill/>
          <a:ln w="6350">
            <a:solidFill>
              <a:srgbClr val="7B2FBE"/>
            </a:solidFill>
            <a:prstDash val="solid"/>
          </a:ln>
        </p:spPr>
      </p:sp>
      <p:sp>
        <p:nvSpPr>
          <p:cNvPr id="24" name="Text 22"/>
          <p:cNvSpPr/>
          <p:nvPr/>
        </p:nvSpPr>
        <p:spPr>
          <a:xfrm>
            <a:off x="6217920" y="2898648"/>
            <a:ext cx="2651760" cy="320040"/>
          </a:xfrm>
          <a:prstGeom prst="rect">
            <a:avLst/>
          </a:prstGeom>
          <a:noFill/>
          <a:ln/>
        </p:spPr>
        <p:txBody>
          <a:bodyPr wrap="square" lIns="0" tIns="0" rIns="0" bIns="0" rtlCol="0" anchor="ctr"/>
          <a:lstStyle/>
          <a:p>
            <a:pPr indent="0" marL="0">
              <a:buNone/>
            </a:pPr>
            <a:r>
              <a:rPr lang="en-US" sz="1000" dirty="0">
                <a:solidFill>
                  <a:srgbClr val="7B2FBE"/>
                </a:solidFill>
                <a:latin typeface="Consolas" pitchFamily="34" charset="0"/>
                <a:ea typeface="Consolas" pitchFamily="34" charset="-122"/>
                <a:cs typeface="Consolas" pitchFamily="34" charset="-120"/>
              </a:rPr>
              <a:t>Classes: Any  |  Images: Unlimited  |  Size: Any</a:t>
            </a:r>
            <a:endParaRPr lang="en-US" sz="1000" dirty="0"/>
          </a:p>
        </p:txBody>
      </p:sp>
      <p:sp>
        <p:nvSpPr>
          <p:cNvPr id="25" name="Text 23"/>
          <p:cNvSpPr/>
          <p:nvPr/>
        </p:nvSpPr>
        <p:spPr>
          <a:xfrm>
            <a:off x="274320" y="3950208"/>
            <a:ext cx="4114800" cy="347472"/>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YOLO Dataset Format (.yaml)</a:t>
            </a:r>
            <a:endParaRPr lang="en-US" sz="1300" dirty="0"/>
          </a:p>
        </p:txBody>
      </p:sp>
      <p:sp>
        <p:nvSpPr>
          <p:cNvPr id="26" name="Shape 24"/>
          <p:cNvSpPr/>
          <p:nvPr/>
        </p:nvSpPr>
        <p:spPr>
          <a:xfrm>
            <a:off x="182880" y="4343400"/>
            <a:ext cx="4206240" cy="658368"/>
          </a:xfrm>
          <a:prstGeom prst="rect">
            <a:avLst/>
          </a:prstGeom>
          <a:solidFill>
            <a:srgbClr val="001020"/>
          </a:solidFill>
          <a:ln w="12700">
            <a:solidFill>
              <a:srgbClr val="00D4FF"/>
            </a:solidFill>
            <a:prstDash val="solid"/>
          </a:ln>
        </p:spPr>
      </p:sp>
      <p:sp>
        <p:nvSpPr>
          <p:cNvPr id="27" name="Text 25"/>
          <p:cNvSpPr/>
          <p:nvPr/>
        </p:nvSpPr>
        <p:spPr>
          <a:xfrm>
            <a:off x="320040" y="4407408"/>
            <a:ext cx="3931920" cy="548640"/>
          </a:xfrm>
          <a:prstGeom prst="rect">
            <a:avLst/>
          </a:prstGeom>
          <a:noFill/>
          <a:ln/>
        </p:spPr>
        <p:txBody>
          <a:bodyPr wrap="square" lIns="0" tIns="0" rIns="0" bIns="0" rtlCol="0" anchor="ctr"/>
          <a:lstStyle/>
          <a:p>
            <a:pPr indent="0" marL="0">
              <a:buNone/>
            </a:pPr>
            <a:r>
              <a:rPr lang="en-US" sz="950" dirty="0">
                <a:solidFill>
                  <a:srgbClr val="00FF9D"/>
                </a:solidFill>
                <a:latin typeface="Consolas" pitchFamily="34" charset="0"/>
                <a:ea typeface="Consolas" pitchFamily="34" charset="-122"/>
                <a:cs typeface="Consolas" pitchFamily="34" charset="-120"/>
              </a:rPr>
              <a:t>path: /datasets/my_dataset</a:t>
            </a:r>
            <a:endParaRPr lang="en-US" sz="950" dirty="0"/>
          </a:p>
          <a:p>
            <a:pPr indent="0" marL="0">
              <a:buNone/>
            </a:pPr>
            <a:r>
              <a:rPr lang="en-US" sz="950" dirty="0">
                <a:solidFill>
                  <a:srgbClr val="00FF9D"/>
                </a:solidFill>
                <a:latin typeface="Consolas" pitchFamily="34" charset="0"/>
                <a:ea typeface="Consolas" pitchFamily="34" charset="-122"/>
                <a:cs typeface="Consolas" pitchFamily="34" charset="-120"/>
              </a:rPr>
              <a:t>train: images/train</a:t>
            </a:r>
            <a:endParaRPr lang="en-US" sz="950" dirty="0"/>
          </a:p>
          <a:p>
            <a:pPr indent="0" marL="0">
              <a:buNone/>
            </a:pPr>
            <a:r>
              <a:rPr lang="en-US" sz="950" dirty="0">
                <a:solidFill>
                  <a:srgbClr val="00FF9D"/>
                </a:solidFill>
                <a:latin typeface="Consolas" pitchFamily="34" charset="0"/>
                <a:ea typeface="Consolas" pitchFamily="34" charset="-122"/>
                <a:cs typeface="Consolas" pitchFamily="34" charset="-120"/>
              </a:rPr>
              <a:t>val:   images/val</a:t>
            </a:r>
            <a:endParaRPr lang="en-US" sz="950" dirty="0"/>
          </a:p>
          <a:p>
            <a:pPr indent="0" marL="0">
              <a:buNone/>
            </a:pPr>
            <a:r>
              <a:rPr lang="en-US" sz="950" dirty="0">
                <a:solidFill>
                  <a:srgbClr val="00FF9D"/>
                </a:solidFill>
                <a:latin typeface="Consolas" pitchFamily="34" charset="0"/>
                <a:ea typeface="Consolas" pitchFamily="34" charset="-122"/>
                <a:cs typeface="Consolas" pitchFamily="34" charset="-120"/>
              </a:rPr>
              <a:t>names: {0: 'cat', 1: 'dog'}</a:t>
            </a:r>
            <a:endParaRPr lang="en-US" sz="950" dirty="0"/>
          </a:p>
        </p:txBody>
      </p:sp>
      <p:sp>
        <p:nvSpPr>
          <p:cNvPr id="28" name="Text 26"/>
          <p:cNvSpPr/>
          <p:nvPr/>
        </p:nvSpPr>
        <p:spPr>
          <a:xfrm>
            <a:off x="4754880" y="3950208"/>
            <a:ext cx="4114800" cy="347472"/>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YOLO Annotation Format (.txt)</a:t>
            </a:r>
            <a:endParaRPr lang="en-US" sz="1300" dirty="0"/>
          </a:p>
        </p:txBody>
      </p:sp>
      <p:sp>
        <p:nvSpPr>
          <p:cNvPr id="29" name="Shape 27"/>
          <p:cNvSpPr/>
          <p:nvPr/>
        </p:nvSpPr>
        <p:spPr>
          <a:xfrm>
            <a:off x="4754880" y="4343400"/>
            <a:ext cx="4206240" cy="658368"/>
          </a:xfrm>
          <a:prstGeom prst="rect">
            <a:avLst/>
          </a:prstGeom>
          <a:solidFill>
            <a:srgbClr val="001020"/>
          </a:solidFill>
          <a:ln w="12700">
            <a:solidFill>
              <a:srgbClr val="7B2FBE"/>
            </a:solidFill>
            <a:prstDash val="solid"/>
          </a:ln>
        </p:spPr>
      </p:sp>
      <p:sp>
        <p:nvSpPr>
          <p:cNvPr id="30" name="Text 28"/>
          <p:cNvSpPr/>
          <p:nvPr/>
        </p:nvSpPr>
        <p:spPr>
          <a:xfrm>
            <a:off x="4892040" y="4407408"/>
            <a:ext cx="3931920" cy="548640"/>
          </a:xfrm>
          <a:prstGeom prst="rect">
            <a:avLst/>
          </a:prstGeom>
          <a:noFill/>
          <a:ln/>
        </p:spPr>
        <p:txBody>
          <a:bodyPr wrap="square" lIns="0" tIns="0" rIns="0" bIns="0" rtlCol="0" anchor="ctr"/>
          <a:lstStyle/>
          <a:p>
            <a:pPr indent="0" marL="0">
              <a:buNone/>
            </a:pPr>
            <a:r>
              <a:rPr lang="en-US" sz="950" dirty="0">
                <a:solidFill>
                  <a:srgbClr val="00D4FF"/>
                </a:solidFill>
                <a:latin typeface="Consolas" pitchFamily="34" charset="0"/>
                <a:ea typeface="Consolas" pitchFamily="34" charset="-122"/>
                <a:cs typeface="Consolas" pitchFamily="34" charset="-120"/>
              </a:rPr>
              <a:t># class_id  cx  cy  width  height (normalized)</a:t>
            </a:r>
            <a:endParaRPr lang="en-US" sz="950" dirty="0"/>
          </a:p>
          <a:p>
            <a:pPr indent="0" marL="0">
              <a:buNone/>
            </a:pPr>
            <a:r>
              <a:rPr lang="en-US" sz="950" dirty="0">
                <a:solidFill>
                  <a:srgbClr val="00D4FF"/>
                </a:solidFill>
                <a:latin typeface="Consolas" pitchFamily="34" charset="0"/>
                <a:ea typeface="Consolas" pitchFamily="34" charset="-122"/>
                <a:cs typeface="Consolas" pitchFamily="34" charset="-120"/>
              </a:rPr>
              <a:t>0  0.5  0.5  0.3  0.4</a:t>
            </a:r>
            <a:endParaRPr lang="en-US" sz="950" dirty="0"/>
          </a:p>
          <a:p>
            <a:pPr indent="0" marL="0">
              <a:buNone/>
            </a:pPr>
            <a:r>
              <a:rPr lang="en-US" sz="950" dirty="0">
                <a:solidFill>
                  <a:srgbClr val="00D4FF"/>
                </a:solidFill>
                <a:latin typeface="Consolas" pitchFamily="34" charset="0"/>
                <a:ea typeface="Consolas" pitchFamily="34" charset="-122"/>
                <a:cs typeface="Consolas" pitchFamily="34" charset="-120"/>
              </a:rPr>
              <a:t>1  0.2  0.7  0.15  0.2</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7B2FBE"/>
            </a:solidFill>
            <a:prstDash val="solid"/>
          </a:ln>
        </p:spPr>
      </p:sp>
      <p:sp>
        <p:nvSpPr>
          <p:cNvPr id="3" name="Shape 1"/>
          <p:cNvSpPr/>
          <p:nvPr/>
        </p:nvSpPr>
        <p:spPr>
          <a:xfrm>
            <a:off x="0" y="0"/>
            <a:ext cx="73152" cy="822960"/>
          </a:xfrm>
          <a:prstGeom prst="rect">
            <a:avLst/>
          </a:prstGeom>
          <a:solidFill>
            <a:srgbClr val="7B2FBE"/>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17 — Smart Optimizer Selection</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7B2FBE"/>
                </a:solidFill>
                <a:latin typeface="Calibri" pitchFamily="34" charset="0"/>
                <a:ea typeface="Calibri" pitchFamily="34" charset="-122"/>
                <a:cs typeface="Calibri" pitchFamily="34" charset="-120"/>
              </a:rPr>
              <a:t>SGD · Adam · AdamW · Auto</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200" i="1" dirty="0">
                <a:solidFill>
                  <a:srgbClr val="AABBCC"/>
                </a:solidFill>
                <a:latin typeface="Calibri" pitchFamily="34" charset="0"/>
                <a:ea typeface="Calibri" pitchFamily="34" charset="-122"/>
                <a:cs typeface="Calibri" pitchFamily="34" charset="-120"/>
              </a:rPr>
              <a:t>Αυτόματη επιλογή βέλτιστου optimizer βάσει τύπου μοντέλου και dataset:</a:t>
            </a:r>
            <a:endParaRPr lang="en-US" sz="1200" dirty="0"/>
          </a:p>
        </p:txBody>
      </p:sp>
      <p:sp>
        <p:nvSpPr>
          <p:cNvPr id="7" name="Shape 5"/>
          <p:cNvSpPr/>
          <p:nvPr/>
        </p:nvSpPr>
        <p:spPr>
          <a:xfrm>
            <a:off x="182880" y="1371600"/>
            <a:ext cx="2084832" cy="3611880"/>
          </a:xfrm>
          <a:prstGeom prst="rect">
            <a:avLst/>
          </a:prstGeom>
          <a:solidFill>
            <a:srgbClr val="0D1F3C"/>
          </a:solidFill>
          <a:ln w="25400">
            <a:solidFill>
              <a:srgbClr val="00D4FF"/>
            </a:solidFill>
            <a:prstDash val="solid"/>
          </a:ln>
        </p:spPr>
      </p:sp>
      <p:sp>
        <p:nvSpPr>
          <p:cNvPr id="8" name="Shape 6"/>
          <p:cNvSpPr/>
          <p:nvPr/>
        </p:nvSpPr>
        <p:spPr>
          <a:xfrm>
            <a:off x="182880" y="1371600"/>
            <a:ext cx="2084832" cy="502920"/>
          </a:xfrm>
          <a:prstGeom prst="rect">
            <a:avLst/>
          </a:prstGeom>
          <a:solidFill>
            <a:srgbClr val="00D4FF">
              <a:alpha val="80000"/>
            </a:srgbClr>
          </a:solidFill>
          <a:ln/>
        </p:spPr>
      </p:sp>
      <p:sp>
        <p:nvSpPr>
          <p:cNvPr id="9" name="Text 7"/>
          <p:cNvSpPr/>
          <p:nvPr/>
        </p:nvSpPr>
        <p:spPr>
          <a:xfrm>
            <a:off x="256032" y="1408176"/>
            <a:ext cx="1938528" cy="40233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SGD</a:t>
            </a:r>
            <a:endParaRPr lang="en-US" sz="1800" dirty="0"/>
          </a:p>
        </p:txBody>
      </p:sp>
      <p:sp>
        <p:nvSpPr>
          <p:cNvPr id="10" name="Text 8"/>
          <p:cNvSpPr/>
          <p:nvPr/>
        </p:nvSpPr>
        <p:spPr>
          <a:xfrm>
            <a:off x="256032" y="1929384"/>
            <a:ext cx="1938528" cy="274320"/>
          </a:xfrm>
          <a:prstGeom prst="rect">
            <a:avLst/>
          </a:prstGeom>
          <a:noFill/>
          <a:ln/>
        </p:spPr>
        <p:txBody>
          <a:bodyPr wrap="square" lIns="0" tIns="0" rIns="0" bIns="0" rtlCol="0" anchor="ctr"/>
          <a:lstStyle/>
          <a:p>
            <a:pPr indent="0" marL="0">
              <a:buNone/>
            </a:pPr>
            <a:r>
              <a:rPr lang="en-US" sz="850" i="1" dirty="0">
                <a:solidFill>
                  <a:srgbClr val="00D4FF"/>
                </a:solidFill>
                <a:latin typeface="Calibri" pitchFamily="34" charset="0"/>
                <a:ea typeface="Calibri" pitchFamily="34" charset="-122"/>
                <a:cs typeface="Calibri" pitchFamily="34" charset="-120"/>
              </a:rPr>
              <a:t>Stochastic Gradient Descent</a:t>
            </a:r>
            <a:endParaRPr lang="en-US" sz="850" dirty="0"/>
          </a:p>
        </p:txBody>
      </p:sp>
      <p:sp>
        <p:nvSpPr>
          <p:cNvPr id="11" name="Shape 9"/>
          <p:cNvSpPr/>
          <p:nvPr/>
        </p:nvSpPr>
        <p:spPr>
          <a:xfrm>
            <a:off x="256032" y="2240280"/>
            <a:ext cx="1938528" cy="320040"/>
          </a:xfrm>
          <a:prstGeom prst="rect">
            <a:avLst/>
          </a:prstGeom>
          <a:solidFill>
            <a:srgbClr val="001020"/>
          </a:solidFill>
          <a:ln w="12700">
            <a:solidFill>
              <a:srgbClr val="00D4FF"/>
            </a:solidFill>
            <a:prstDash val="solid"/>
          </a:ln>
        </p:spPr>
      </p:sp>
      <p:sp>
        <p:nvSpPr>
          <p:cNvPr id="12" name="Text 10"/>
          <p:cNvSpPr/>
          <p:nvPr/>
        </p:nvSpPr>
        <p:spPr>
          <a:xfrm>
            <a:off x="274320" y="2267712"/>
            <a:ext cx="1920240" cy="274320"/>
          </a:xfrm>
          <a:prstGeom prst="rect">
            <a:avLst/>
          </a:prstGeom>
          <a:noFill/>
          <a:ln/>
        </p:spPr>
        <p:txBody>
          <a:bodyPr wrap="square" lIns="0" tIns="0" rIns="0" bIns="0" rtlCol="0" anchor="ctr"/>
          <a:lstStyle/>
          <a:p>
            <a:pPr indent="0" marL="0">
              <a:buNone/>
            </a:pPr>
            <a:r>
              <a:rPr lang="en-US" sz="850" dirty="0">
                <a:solidFill>
                  <a:srgbClr val="00D4FF"/>
                </a:solidFill>
                <a:latin typeface="Consolas" pitchFamily="34" charset="0"/>
                <a:ea typeface="Consolas" pitchFamily="34" charset="-122"/>
                <a:cs typeface="Consolas" pitchFamily="34" charset="-120"/>
              </a:rPr>
              <a:t>w = w - lr × ∇L</a:t>
            </a:r>
            <a:endParaRPr lang="en-US" sz="850" dirty="0"/>
          </a:p>
        </p:txBody>
      </p:sp>
      <p:sp>
        <p:nvSpPr>
          <p:cNvPr id="13" name="Text 11"/>
          <p:cNvSpPr/>
          <p:nvPr/>
        </p:nvSpPr>
        <p:spPr>
          <a:xfrm>
            <a:off x="256032" y="2651760"/>
            <a:ext cx="1938528" cy="228600"/>
          </a:xfrm>
          <a:prstGeom prst="rect">
            <a:avLst/>
          </a:prstGeom>
          <a:noFill/>
          <a:ln/>
        </p:spPr>
        <p:txBody>
          <a:bodyPr wrap="square" lIns="0" tIns="0" rIns="0" bIns="0" rtlCol="0" anchor="ctr"/>
          <a:lstStyle/>
          <a:p>
            <a:pPr indent="0" marL="0">
              <a:buNone/>
            </a:pPr>
            <a:r>
              <a:rPr lang="en-US" sz="900" b="1" dirty="0">
                <a:solidFill>
                  <a:srgbClr val="00FF9D"/>
                </a:solidFill>
                <a:latin typeface="Calibri" pitchFamily="34" charset="0"/>
                <a:ea typeface="Calibri" pitchFamily="34" charset="-122"/>
                <a:cs typeface="Calibri" pitchFamily="34" charset="-120"/>
              </a:rPr>
              <a:t>✓ Πλεονεκτήματα</a:t>
            </a:r>
            <a:endParaRPr lang="en-US" sz="900" dirty="0"/>
          </a:p>
        </p:txBody>
      </p:sp>
      <p:sp>
        <p:nvSpPr>
          <p:cNvPr id="14" name="Text 12"/>
          <p:cNvSpPr/>
          <p:nvPr/>
        </p:nvSpPr>
        <p:spPr>
          <a:xfrm>
            <a:off x="256032" y="2907792"/>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Καλύτερη γενίκευση</a:t>
            </a:r>
            <a:endParaRPr lang="en-US" sz="850" dirty="0"/>
          </a:p>
        </p:txBody>
      </p:sp>
      <p:sp>
        <p:nvSpPr>
          <p:cNvPr id="15" name="Text 13"/>
          <p:cNvSpPr/>
          <p:nvPr/>
        </p:nvSpPr>
        <p:spPr>
          <a:xfrm>
            <a:off x="256032" y="3200400"/>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Απλός &amp; προβλέψιμος</a:t>
            </a:r>
            <a:endParaRPr lang="en-US" sz="850" dirty="0"/>
          </a:p>
        </p:txBody>
      </p:sp>
      <p:sp>
        <p:nvSpPr>
          <p:cNvPr id="16" name="Text 14"/>
          <p:cNvSpPr/>
          <p:nvPr/>
        </p:nvSpPr>
        <p:spPr>
          <a:xfrm>
            <a:off x="256032" y="3493008"/>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Καλός για fine-tuning</a:t>
            </a:r>
            <a:endParaRPr lang="en-US" sz="850" dirty="0"/>
          </a:p>
        </p:txBody>
      </p:sp>
      <p:sp>
        <p:nvSpPr>
          <p:cNvPr id="17" name="Text 15"/>
          <p:cNvSpPr/>
          <p:nvPr/>
        </p:nvSpPr>
        <p:spPr>
          <a:xfrm>
            <a:off x="256032" y="3822192"/>
            <a:ext cx="1938528" cy="228600"/>
          </a:xfrm>
          <a:prstGeom prst="rect">
            <a:avLst/>
          </a:prstGeom>
          <a:noFill/>
          <a:ln/>
        </p:spPr>
        <p:txBody>
          <a:bodyPr wrap="square" lIns="0" tIns="0" rIns="0" bIns="0" rtlCol="0" anchor="ctr"/>
          <a:lstStyle/>
          <a:p>
            <a:pPr indent="0" marL="0">
              <a:buNone/>
            </a:pPr>
            <a:r>
              <a:rPr lang="en-US" sz="900" b="1" dirty="0">
                <a:solidFill>
                  <a:srgbClr val="FF2D78"/>
                </a:solidFill>
                <a:latin typeface="Calibri" pitchFamily="34" charset="0"/>
                <a:ea typeface="Calibri" pitchFamily="34" charset="-122"/>
                <a:cs typeface="Calibri" pitchFamily="34" charset="-120"/>
              </a:rPr>
              <a:t>✗ Μειονεκτήματα</a:t>
            </a:r>
            <a:endParaRPr lang="en-US" sz="900" dirty="0"/>
          </a:p>
        </p:txBody>
      </p:sp>
      <p:sp>
        <p:nvSpPr>
          <p:cNvPr id="18" name="Text 16"/>
          <p:cNvSpPr/>
          <p:nvPr/>
        </p:nvSpPr>
        <p:spPr>
          <a:xfrm>
            <a:off x="256032" y="4078224"/>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Αργότερη σύγκλιση</a:t>
            </a:r>
            <a:endParaRPr lang="en-US" sz="850" dirty="0"/>
          </a:p>
        </p:txBody>
      </p:sp>
      <p:sp>
        <p:nvSpPr>
          <p:cNvPr id="19" name="Text 17"/>
          <p:cNvSpPr/>
          <p:nvPr/>
        </p:nvSpPr>
        <p:spPr>
          <a:xfrm>
            <a:off x="256032" y="4334256"/>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Ευαίσθητος στο lr</a:t>
            </a:r>
            <a:endParaRPr lang="en-US" sz="850" dirty="0"/>
          </a:p>
        </p:txBody>
      </p:sp>
      <p:sp>
        <p:nvSpPr>
          <p:cNvPr id="20" name="Shape 18"/>
          <p:cNvSpPr/>
          <p:nvPr/>
        </p:nvSpPr>
        <p:spPr>
          <a:xfrm>
            <a:off x="256032" y="4617720"/>
            <a:ext cx="1938528" cy="274320"/>
          </a:xfrm>
          <a:prstGeom prst="rect">
            <a:avLst/>
          </a:prstGeom>
          <a:solidFill>
            <a:srgbClr val="00D4FF">
              <a:alpha val="60000"/>
            </a:srgbClr>
          </a:solidFill>
          <a:ln w="12700">
            <a:solidFill>
              <a:srgbClr val="00D4FF"/>
            </a:solidFill>
            <a:prstDash val="solid"/>
          </a:ln>
        </p:spPr>
      </p:sp>
      <p:sp>
        <p:nvSpPr>
          <p:cNvPr id="21" name="Text 19"/>
          <p:cNvSpPr/>
          <p:nvPr/>
        </p:nvSpPr>
        <p:spPr>
          <a:xfrm>
            <a:off x="256032" y="4617720"/>
            <a:ext cx="1938528"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Best for: YOLO detection tasks</a:t>
            </a:r>
            <a:endParaRPr lang="en-US" sz="800" dirty="0"/>
          </a:p>
        </p:txBody>
      </p:sp>
      <p:sp>
        <p:nvSpPr>
          <p:cNvPr id="22" name="Shape 20"/>
          <p:cNvSpPr/>
          <p:nvPr/>
        </p:nvSpPr>
        <p:spPr>
          <a:xfrm>
            <a:off x="2404872" y="1371600"/>
            <a:ext cx="2084832" cy="3611880"/>
          </a:xfrm>
          <a:prstGeom prst="rect">
            <a:avLst/>
          </a:prstGeom>
          <a:solidFill>
            <a:srgbClr val="0D1F3C"/>
          </a:solidFill>
          <a:ln w="25400">
            <a:solidFill>
              <a:srgbClr val="7B2FBE"/>
            </a:solidFill>
            <a:prstDash val="solid"/>
          </a:ln>
        </p:spPr>
      </p:sp>
      <p:sp>
        <p:nvSpPr>
          <p:cNvPr id="23" name="Shape 21"/>
          <p:cNvSpPr/>
          <p:nvPr/>
        </p:nvSpPr>
        <p:spPr>
          <a:xfrm>
            <a:off x="2404872" y="1371600"/>
            <a:ext cx="2084832" cy="502920"/>
          </a:xfrm>
          <a:prstGeom prst="rect">
            <a:avLst/>
          </a:prstGeom>
          <a:solidFill>
            <a:srgbClr val="7B2FBE">
              <a:alpha val="80000"/>
            </a:srgbClr>
          </a:solidFill>
          <a:ln/>
        </p:spPr>
      </p:sp>
      <p:sp>
        <p:nvSpPr>
          <p:cNvPr id="24" name="Text 22"/>
          <p:cNvSpPr/>
          <p:nvPr/>
        </p:nvSpPr>
        <p:spPr>
          <a:xfrm>
            <a:off x="2478024" y="1408176"/>
            <a:ext cx="1938528" cy="40233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Adam</a:t>
            </a:r>
            <a:endParaRPr lang="en-US" sz="1800" dirty="0"/>
          </a:p>
        </p:txBody>
      </p:sp>
      <p:sp>
        <p:nvSpPr>
          <p:cNvPr id="25" name="Text 23"/>
          <p:cNvSpPr/>
          <p:nvPr/>
        </p:nvSpPr>
        <p:spPr>
          <a:xfrm>
            <a:off x="2478024" y="1929384"/>
            <a:ext cx="1938528" cy="274320"/>
          </a:xfrm>
          <a:prstGeom prst="rect">
            <a:avLst/>
          </a:prstGeom>
          <a:noFill/>
          <a:ln/>
        </p:spPr>
        <p:txBody>
          <a:bodyPr wrap="square" lIns="0" tIns="0" rIns="0" bIns="0" rtlCol="0" anchor="ctr"/>
          <a:lstStyle/>
          <a:p>
            <a:pPr indent="0" marL="0">
              <a:buNone/>
            </a:pPr>
            <a:r>
              <a:rPr lang="en-US" sz="850" i="1" dirty="0">
                <a:solidFill>
                  <a:srgbClr val="7B2FBE"/>
                </a:solidFill>
                <a:latin typeface="Calibri" pitchFamily="34" charset="0"/>
                <a:ea typeface="Calibri" pitchFamily="34" charset="-122"/>
                <a:cs typeface="Calibri" pitchFamily="34" charset="-120"/>
              </a:rPr>
              <a:t>Adaptive Moment Estimation</a:t>
            </a:r>
            <a:endParaRPr lang="en-US" sz="850" dirty="0"/>
          </a:p>
        </p:txBody>
      </p:sp>
      <p:sp>
        <p:nvSpPr>
          <p:cNvPr id="26" name="Shape 24"/>
          <p:cNvSpPr/>
          <p:nvPr/>
        </p:nvSpPr>
        <p:spPr>
          <a:xfrm>
            <a:off x="2478024" y="2240280"/>
            <a:ext cx="1938528" cy="320040"/>
          </a:xfrm>
          <a:prstGeom prst="rect">
            <a:avLst/>
          </a:prstGeom>
          <a:solidFill>
            <a:srgbClr val="001020"/>
          </a:solidFill>
          <a:ln w="12700">
            <a:solidFill>
              <a:srgbClr val="7B2FBE"/>
            </a:solidFill>
            <a:prstDash val="solid"/>
          </a:ln>
        </p:spPr>
      </p:sp>
      <p:sp>
        <p:nvSpPr>
          <p:cNvPr id="27" name="Text 25"/>
          <p:cNvSpPr/>
          <p:nvPr/>
        </p:nvSpPr>
        <p:spPr>
          <a:xfrm>
            <a:off x="2496312" y="2267712"/>
            <a:ext cx="1920240" cy="274320"/>
          </a:xfrm>
          <a:prstGeom prst="rect">
            <a:avLst/>
          </a:prstGeom>
          <a:noFill/>
          <a:ln/>
        </p:spPr>
        <p:txBody>
          <a:bodyPr wrap="square" lIns="0" tIns="0" rIns="0" bIns="0" rtlCol="0" anchor="ctr"/>
          <a:lstStyle/>
          <a:p>
            <a:pPr indent="0" marL="0">
              <a:buNone/>
            </a:pPr>
            <a:r>
              <a:rPr lang="en-US" sz="850" dirty="0">
                <a:solidFill>
                  <a:srgbClr val="7B2FBE"/>
                </a:solidFill>
                <a:latin typeface="Consolas" pitchFamily="34" charset="0"/>
                <a:ea typeface="Consolas" pitchFamily="34" charset="-122"/>
                <a:cs typeface="Consolas" pitchFamily="34" charset="-120"/>
              </a:rPr>
              <a:t>w = w - lr × m̂/(√v̂+ε)</a:t>
            </a:r>
            <a:endParaRPr lang="en-US" sz="850" dirty="0"/>
          </a:p>
        </p:txBody>
      </p:sp>
      <p:sp>
        <p:nvSpPr>
          <p:cNvPr id="28" name="Text 26"/>
          <p:cNvSpPr/>
          <p:nvPr/>
        </p:nvSpPr>
        <p:spPr>
          <a:xfrm>
            <a:off x="2478024" y="2651760"/>
            <a:ext cx="1938528" cy="228600"/>
          </a:xfrm>
          <a:prstGeom prst="rect">
            <a:avLst/>
          </a:prstGeom>
          <a:noFill/>
          <a:ln/>
        </p:spPr>
        <p:txBody>
          <a:bodyPr wrap="square" lIns="0" tIns="0" rIns="0" bIns="0" rtlCol="0" anchor="ctr"/>
          <a:lstStyle/>
          <a:p>
            <a:pPr indent="0" marL="0">
              <a:buNone/>
            </a:pPr>
            <a:r>
              <a:rPr lang="en-US" sz="900" b="1" dirty="0">
                <a:solidFill>
                  <a:srgbClr val="00FF9D"/>
                </a:solidFill>
                <a:latin typeface="Calibri" pitchFamily="34" charset="0"/>
                <a:ea typeface="Calibri" pitchFamily="34" charset="-122"/>
                <a:cs typeface="Calibri" pitchFamily="34" charset="-120"/>
              </a:rPr>
              <a:t>✓ Πλεονεκτήματα</a:t>
            </a:r>
            <a:endParaRPr lang="en-US" sz="900" dirty="0"/>
          </a:p>
        </p:txBody>
      </p:sp>
      <p:sp>
        <p:nvSpPr>
          <p:cNvPr id="29" name="Text 27"/>
          <p:cNvSpPr/>
          <p:nvPr/>
        </p:nvSpPr>
        <p:spPr>
          <a:xfrm>
            <a:off x="2478024" y="2907792"/>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Γρήγορη σύγκλιση</a:t>
            </a:r>
            <a:endParaRPr lang="en-US" sz="850" dirty="0"/>
          </a:p>
        </p:txBody>
      </p:sp>
      <p:sp>
        <p:nvSpPr>
          <p:cNvPr id="30" name="Text 28"/>
          <p:cNvSpPr/>
          <p:nvPr/>
        </p:nvSpPr>
        <p:spPr>
          <a:xfrm>
            <a:off x="2478024" y="3200400"/>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Adaptive learning rate</a:t>
            </a:r>
            <a:endParaRPr lang="en-US" sz="850" dirty="0"/>
          </a:p>
        </p:txBody>
      </p:sp>
      <p:sp>
        <p:nvSpPr>
          <p:cNvPr id="31" name="Text 29"/>
          <p:cNvSpPr/>
          <p:nvPr/>
        </p:nvSpPr>
        <p:spPr>
          <a:xfrm>
            <a:off x="2478024" y="3493008"/>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Ανθεκτικός σε noise</a:t>
            </a:r>
            <a:endParaRPr lang="en-US" sz="850" dirty="0"/>
          </a:p>
        </p:txBody>
      </p:sp>
      <p:sp>
        <p:nvSpPr>
          <p:cNvPr id="32" name="Text 30"/>
          <p:cNvSpPr/>
          <p:nvPr/>
        </p:nvSpPr>
        <p:spPr>
          <a:xfrm>
            <a:off x="2478024" y="3822192"/>
            <a:ext cx="1938528" cy="228600"/>
          </a:xfrm>
          <a:prstGeom prst="rect">
            <a:avLst/>
          </a:prstGeom>
          <a:noFill/>
          <a:ln/>
        </p:spPr>
        <p:txBody>
          <a:bodyPr wrap="square" lIns="0" tIns="0" rIns="0" bIns="0" rtlCol="0" anchor="ctr"/>
          <a:lstStyle/>
          <a:p>
            <a:pPr indent="0" marL="0">
              <a:buNone/>
            </a:pPr>
            <a:r>
              <a:rPr lang="en-US" sz="900" b="1" dirty="0">
                <a:solidFill>
                  <a:srgbClr val="FF2D78"/>
                </a:solidFill>
                <a:latin typeface="Calibri" pitchFamily="34" charset="0"/>
                <a:ea typeface="Calibri" pitchFamily="34" charset="-122"/>
                <a:cs typeface="Calibri" pitchFamily="34" charset="-120"/>
              </a:rPr>
              <a:t>✗ Μειονεκτήματα</a:t>
            </a:r>
            <a:endParaRPr lang="en-US" sz="900" dirty="0"/>
          </a:p>
        </p:txBody>
      </p:sp>
      <p:sp>
        <p:nvSpPr>
          <p:cNvPr id="33" name="Text 31"/>
          <p:cNvSpPr/>
          <p:nvPr/>
        </p:nvSpPr>
        <p:spPr>
          <a:xfrm>
            <a:off x="2478024" y="4078224"/>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Μπορεί να overfit</a:t>
            </a:r>
            <a:endParaRPr lang="en-US" sz="850" dirty="0"/>
          </a:p>
        </p:txBody>
      </p:sp>
      <p:sp>
        <p:nvSpPr>
          <p:cNvPr id="34" name="Text 32"/>
          <p:cNvSpPr/>
          <p:nvPr/>
        </p:nvSpPr>
        <p:spPr>
          <a:xfrm>
            <a:off x="2478024" y="4334256"/>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Υψηλότερη μνήμη</a:t>
            </a:r>
            <a:endParaRPr lang="en-US" sz="850" dirty="0"/>
          </a:p>
        </p:txBody>
      </p:sp>
      <p:sp>
        <p:nvSpPr>
          <p:cNvPr id="35" name="Shape 33"/>
          <p:cNvSpPr/>
          <p:nvPr/>
        </p:nvSpPr>
        <p:spPr>
          <a:xfrm>
            <a:off x="2478024" y="4617720"/>
            <a:ext cx="1938528" cy="274320"/>
          </a:xfrm>
          <a:prstGeom prst="rect">
            <a:avLst/>
          </a:prstGeom>
          <a:solidFill>
            <a:srgbClr val="7B2FBE">
              <a:alpha val="60000"/>
            </a:srgbClr>
          </a:solidFill>
          <a:ln w="12700">
            <a:solidFill>
              <a:srgbClr val="7B2FBE"/>
            </a:solidFill>
            <a:prstDash val="solid"/>
          </a:ln>
        </p:spPr>
      </p:sp>
      <p:sp>
        <p:nvSpPr>
          <p:cNvPr id="36" name="Text 34"/>
          <p:cNvSpPr/>
          <p:nvPr/>
        </p:nvSpPr>
        <p:spPr>
          <a:xfrm>
            <a:off x="2478024" y="4617720"/>
            <a:ext cx="1938528"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Best for: CNN classifiers</a:t>
            </a:r>
            <a:endParaRPr lang="en-US" sz="800" dirty="0"/>
          </a:p>
        </p:txBody>
      </p:sp>
      <p:sp>
        <p:nvSpPr>
          <p:cNvPr id="37" name="Shape 35"/>
          <p:cNvSpPr/>
          <p:nvPr/>
        </p:nvSpPr>
        <p:spPr>
          <a:xfrm>
            <a:off x="4626864" y="1371600"/>
            <a:ext cx="2084832" cy="3611880"/>
          </a:xfrm>
          <a:prstGeom prst="rect">
            <a:avLst/>
          </a:prstGeom>
          <a:solidFill>
            <a:srgbClr val="0D1F3C"/>
          </a:solidFill>
          <a:ln w="25400">
            <a:solidFill>
              <a:srgbClr val="00FF9D"/>
            </a:solidFill>
            <a:prstDash val="solid"/>
          </a:ln>
        </p:spPr>
      </p:sp>
      <p:sp>
        <p:nvSpPr>
          <p:cNvPr id="38" name="Shape 36"/>
          <p:cNvSpPr/>
          <p:nvPr/>
        </p:nvSpPr>
        <p:spPr>
          <a:xfrm>
            <a:off x="4626864" y="1371600"/>
            <a:ext cx="2084832" cy="502920"/>
          </a:xfrm>
          <a:prstGeom prst="rect">
            <a:avLst/>
          </a:prstGeom>
          <a:solidFill>
            <a:srgbClr val="00FF9D">
              <a:alpha val="80000"/>
            </a:srgbClr>
          </a:solidFill>
          <a:ln/>
        </p:spPr>
      </p:sp>
      <p:sp>
        <p:nvSpPr>
          <p:cNvPr id="39" name="Text 37"/>
          <p:cNvSpPr/>
          <p:nvPr/>
        </p:nvSpPr>
        <p:spPr>
          <a:xfrm>
            <a:off x="4700016" y="1408176"/>
            <a:ext cx="1938528" cy="40233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AdamW</a:t>
            </a:r>
            <a:endParaRPr lang="en-US" sz="1800" dirty="0"/>
          </a:p>
        </p:txBody>
      </p:sp>
      <p:sp>
        <p:nvSpPr>
          <p:cNvPr id="40" name="Text 38"/>
          <p:cNvSpPr/>
          <p:nvPr/>
        </p:nvSpPr>
        <p:spPr>
          <a:xfrm>
            <a:off x="4700016" y="1929384"/>
            <a:ext cx="1938528" cy="274320"/>
          </a:xfrm>
          <a:prstGeom prst="rect">
            <a:avLst/>
          </a:prstGeom>
          <a:noFill/>
          <a:ln/>
        </p:spPr>
        <p:txBody>
          <a:bodyPr wrap="square" lIns="0" tIns="0" rIns="0" bIns="0" rtlCol="0" anchor="ctr"/>
          <a:lstStyle/>
          <a:p>
            <a:pPr indent="0" marL="0">
              <a:buNone/>
            </a:pPr>
            <a:r>
              <a:rPr lang="en-US" sz="850" i="1" dirty="0">
                <a:solidFill>
                  <a:srgbClr val="00FF9D"/>
                </a:solidFill>
                <a:latin typeface="Calibri" pitchFamily="34" charset="0"/>
                <a:ea typeface="Calibri" pitchFamily="34" charset="-122"/>
                <a:cs typeface="Calibri" pitchFamily="34" charset="-120"/>
              </a:rPr>
              <a:t>Adam + Weight Decay</a:t>
            </a:r>
            <a:endParaRPr lang="en-US" sz="850" dirty="0"/>
          </a:p>
        </p:txBody>
      </p:sp>
      <p:sp>
        <p:nvSpPr>
          <p:cNvPr id="41" name="Shape 39"/>
          <p:cNvSpPr/>
          <p:nvPr/>
        </p:nvSpPr>
        <p:spPr>
          <a:xfrm>
            <a:off x="4700016" y="2240280"/>
            <a:ext cx="1938528" cy="320040"/>
          </a:xfrm>
          <a:prstGeom prst="rect">
            <a:avLst/>
          </a:prstGeom>
          <a:solidFill>
            <a:srgbClr val="001020"/>
          </a:solidFill>
          <a:ln w="12700">
            <a:solidFill>
              <a:srgbClr val="00FF9D"/>
            </a:solidFill>
            <a:prstDash val="solid"/>
          </a:ln>
        </p:spPr>
      </p:sp>
      <p:sp>
        <p:nvSpPr>
          <p:cNvPr id="42" name="Text 40"/>
          <p:cNvSpPr/>
          <p:nvPr/>
        </p:nvSpPr>
        <p:spPr>
          <a:xfrm>
            <a:off x="4718304" y="2267712"/>
            <a:ext cx="1920240" cy="274320"/>
          </a:xfrm>
          <a:prstGeom prst="rect">
            <a:avLst/>
          </a:prstGeom>
          <a:noFill/>
          <a:ln/>
        </p:spPr>
        <p:txBody>
          <a:bodyPr wrap="square" lIns="0" tIns="0" rIns="0" bIns="0" rtlCol="0" anchor="ctr"/>
          <a:lstStyle/>
          <a:p>
            <a:pPr indent="0" marL="0">
              <a:buNone/>
            </a:pPr>
            <a:r>
              <a:rPr lang="en-US" sz="850" dirty="0">
                <a:solidFill>
                  <a:srgbClr val="00FF9D"/>
                </a:solidFill>
                <a:latin typeface="Consolas" pitchFamily="34" charset="0"/>
                <a:ea typeface="Consolas" pitchFamily="34" charset="-122"/>
                <a:cs typeface="Consolas" pitchFamily="34" charset="-120"/>
              </a:rPr>
              <a:t>Adam + λ×weight_decay</a:t>
            </a:r>
            <a:endParaRPr lang="en-US" sz="850" dirty="0"/>
          </a:p>
        </p:txBody>
      </p:sp>
      <p:sp>
        <p:nvSpPr>
          <p:cNvPr id="43" name="Text 41"/>
          <p:cNvSpPr/>
          <p:nvPr/>
        </p:nvSpPr>
        <p:spPr>
          <a:xfrm>
            <a:off x="4700016" y="2651760"/>
            <a:ext cx="1938528" cy="228600"/>
          </a:xfrm>
          <a:prstGeom prst="rect">
            <a:avLst/>
          </a:prstGeom>
          <a:noFill/>
          <a:ln/>
        </p:spPr>
        <p:txBody>
          <a:bodyPr wrap="square" lIns="0" tIns="0" rIns="0" bIns="0" rtlCol="0" anchor="ctr"/>
          <a:lstStyle/>
          <a:p>
            <a:pPr indent="0" marL="0">
              <a:buNone/>
            </a:pPr>
            <a:r>
              <a:rPr lang="en-US" sz="900" b="1" dirty="0">
                <a:solidFill>
                  <a:srgbClr val="00FF9D"/>
                </a:solidFill>
                <a:latin typeface="Calibri" pitchFamily="34" charset="0"/>
                <a:ea typeface="Calibri" pitchFamily="34" charset="-122"/>
                <a:cs typeface="Calibri" pitchFamily="34" charset="-120"/>
              </a:rPr>
              <a:t>✓ Πλεονεκτήματα</a:t>
            </a:r>
            <a:endParaRPr lang="en-US" sz="900" dirty="0"/>
          </a:p>
        </p:txBody>
      </p:sp>
      <p:sp>
        <p:nvSpPr>
          <p:cNvPr id="44" name="Text 42"/>
          <p:cNvSpPr/>
          <p:nvPr/>
        </p:nvSpPr>
        <p:spPr>
          <a:xfrm>
            <a:off x="4700016" y="2907792"/>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L2 regularization built-in</a:t>
            </a:r>
            <a:endParaRPr lang="en-US" sz="850" dirty="0"/>
          </a:p>
        </p:txBody>
      </p:sp>
      <p:sp>
        <p:nvSpPr>
          <p:cNvPr id="45" name="Text 43"/>
          <p:cNvSpPr/>
          <p:nvPr/>
        </p:nvSpPr>
        <p:spPr>
          <a:xfrm>
            <a:off x="4700016" y="3200400"/>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Αποφεύγει overfitting</a:t>
            </a:r>
            <a:endParaRPr lang="en-US" sz="850" dirty="0"/>
          </a:p>
        </p:txBody>
      </p:sp>
      <p:sp>
        <p:nvSpPr>
          <p:cNvPr id="46" name="Text 44"/>
          <p:cNvSpPr/>
          <p:nvPr/>
        </p:nvSpPr>
        <p:spPr>
          <a:xfrm>
            <a:off x="4700016" y="3493008"/>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Best overall performance</a:t>
            </a:r>
            <a:endParaRPr lang="en-US" sz="850" dirty="0"/>
          </a:p>
        </p:txBody>
      </p:sp>
      <p:sp>
        <p:nvSpPr>
          <p:cNvPr id="47" name="Text 45"/>
          <p:cNvSpPr/>
          <p:nvPr/>
        </p:nvSpPr>
        <p:spPr>
          <a:xfrm>
            <a:off x="4700016" y="3822192"/>
            <a:ext cx="1938528" cy="228600"/>
          </a:xfrm>
          <a:prstGeom prst="rect">
            <a:avLst/>
          </a:prstGeom>
          <a:noFill/>
          <a:ln/>
        </p:spPr>
        <p:txBody>
          <a:bodyPr wrap="square" lIns="0" tIns="0" rIns="0" bIns="0" rtlCol="0" anchor="ctr"/>
          <a:lstStyle/>
          <a:p>
            <a:pPr indent="0" marL="0">
              <a:buNone/>
            </a:pPr>
            <a:r>
              <a:rPr lang="en-US" sz="900" b="1" dirty="0">
                <a:solidFill>
                  <a:srgbClr val="FF2D78"/>
                </a:solidFill>
                <a:latin typeface="Calibri" pitchFamily="34" charset="0"/>
                <a:ea typeface="Calibri" pitchFamily="34" charset="-122"/>
                <a:cs typeface="Calibri" pitchFamily="34" charset="-120"/>
              </a:rPr>
              <a:t>✗ Μειονεκτήματα</a:t>
            </a:r>
            <a:endParaRPr lang="en-US" sz="900" dirty="0"/>
          </a:p>
        </p:txBody>
      </p:sp>
      <p:sp>
        <p:nvSpPr>
          <p:cNvPr id="48" name="Text 46"/>
          <p:cNvSpPr/>
          <p:nvPr/>
        </p:nvSpPr>
        <p:spPr>
          <a:xfrm>
            <a:off x="4700016" y="4078224"/>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Πιο σύνθετος tuning</a:t>
            </a:r>
            <a:endParaRPr lang="en-US" sz="850" dirty="0"/>
          </a:p>
        </p:txBody>
      </p:sp>
      <p:sp>
        <p:nvSpPr>
          <p:cNvPr id="49" name="Text 47"/>
          <p:cNvSpPr/>
          <p:nvPr/>
        </p:nvSpPr>
        <p:spPr>
          <a:xfrm>
            <a:off x="4700016" y="4334256"/>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Αργότερος από Adam</a:t>
            </a:r>
            <a:endParaRPr lang="en-US" sz="850" dirty="0"/>
          </a:p>
        </p:txBody>
      </p:sp>
      <p:sp>
        <p:nvSpPr>
          <p:cNvPr id="50" name="Shape 48"/>
          <p:cNvSpPr/>
          <p:nvPr/>
        </p:nvSpPr>
        <p:spPr>
          <a:xfrm>
            <a:off x="4700016" y="4617720"/>
            <a:ext cx="1938528" cy="274320"/>
          </a:xfrm>
          <a:prstGeom prst="rect">
            <a:avLst/>
          </a:prstGeom>
          <a:solidFill>
            <a:srgbClr val="00FF9D">
              <a:alpha val="60000"/>
            </a:srgbClr>
          </a:solidFill>
          <a:ln w="12700">
            <a:solidFill>
              <a:srgbClr val="00FF9D"/>
            </a:solidFill>
            <a:prstDash val="solid"/>
          </a:ln>
        </p:spPr>
      </p:sp>
      <p:sp>
        <p:nvSpPr>
          <p:cNvPr id="51" name="Text 49"/>
          <p:cNvSpPr/>
          <p:nvPr/>
        </p:nvSpPr>
        <p:spPr>
          <a:xfrm>
            <a:off x="4700016" y="4617720"/>
            <a:ext cx="1938528"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Best for: Μεγάλα datasets</a:t>
            </a:r>
            <a:endParaRPr lang="en-US" sz="800" dirty="0"/>
          </a:p>
        </p:txBody>
      </p:sp>
      <p:sp>
        <p:nvSpPr>
          <p:cNvPr id="52" name="Shape 50"/>
          <p:cNvSpPr/>
          <p:nvPr/>
        </p:nvSpPr>
        <p:spPr>
          <a:xfrm>
            <a:off x="6848856" y="1371600"/>
            <a:ext cx="2084832" cy="3611880"/>
          </a:xfrm>
          <a:prstGeom prst="rect">
            <a:avLst/>
          </a:prstGeom>
          <a:solidFill>
            <a:srgbClr val="0D1F3C"/>
          </a:solidFill>
          <a:ln w="25400">
            <a:solidFill>
              <a:srgbClr val="FF6B35"/>
            </a:solidFill>
            <a:prstDash val="solid"/>
          </a:ln>
        </p:spPr>
      </p:sp>
      <p:sp>
        <p:nvSpPr>
          <p:cNvPr id="53" name="Shape 51"/>
          <p:cNvSpPr/>
          <p:nvPr/>
        </p:nvSpPr>
        <p:spPr>
          <a:xfrm>
            <a:off x="6848856" y="1371600"/>
            <a:ext cx="2084832" cy="502920"/>
          </a:xfrm>
          <a:prstGeom prst="rect">
            <a:avLst/>
          </a:prstGeom>
          <a:solidFill>
            <a:srgbClr val="FF6B35">
              <a:alpha val="80000"/>
            </a:srgbClr>
          </a:solidFill>
          <a:ln/>
        </p:spPr>
      </p:sp>
      <p:sp>
        <p:nvSpPr>
          <p:cNvPr id="54" name="Text 52"/>
          <p:cNvSpPr/>
          <p:nvPr/>
        </p:nvSpPr>
        <p:spPr>
          <a:xfrm>
            <a:off x="6922008" y="1408176"/>
            <a:ext cx="1938528" cy="40233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Auto</a:t>
            </a:r>
            <a:endParaRPr lang="en-US" sz="1800" dirty="0"/>
          </a:p>
        </p:txBody>
      </p:sp>
      <p:sp>
        <p:nvSpPr>
          <p:cNvPr id="55" name="Text 53"/>
          <p:cNvSpPr/>
          <p:nvPr/>
        </p:nvSpPr>
        <p:spPr>
          <a:xfrm>
            <a:off x="6922008" y="1929384"/>
            <a:ext cx="1938528" cy="274320"/>
          </a:xfrm>
          <a:prstGeom prst="rect">
            <a:avLst/>
          </a:prstGeom>
          <a:noFill/>
          <a:ln/>
        </p:spPr>
        <p:txBody>
          <a:bodyPr wrap="square" lIns="0" tIns="0" rIns="0" bIns="0" rtlCol="0" anchor="ctr"/>
          <a:lstStyle/>
          <a:p>
            <a:pPr indent="0" marL="0">
              <a:buNone/>
            </a:pPr>
            <a:r>
              <a:rPr lang="en-US" sz="850" i="1" dirty="0">
                <a:solidFill>
                  <a:srgbClr val="FF6B35"/>
                </a:solidFill>
                <a:latin typeface="Calibri" pitchFamily="34" charset="0"/>
                <a:ea typeface="Calibri" pitchFamily="34" charset="-122"/>
                <a:cs typeface="Calibri" pitchFamily="34" charset="-120"/>
              </a:rPr>
              <a:t>Automatic Selection</a:t>
            </a:r>
            <a:endParaRPr lang="en-US" sz="850" dirty="0"/>
          </a:p>
        </p:txBody>
      </p:sp>
      <p:sp>
        <p:nvSpPr>
          <p:cNvPr id="56" name="Shape 54"/>
          <p:cNvSpPr/>
          <p:nvPr/>
        </p:nvSpPr>
        <p:spPr>
          <a:xfrm>
            <a:off x="6922008" y="2240280"/>
            <a:ext cx="1938528" cy="320040"/>
          </a:xfrm>
          <a:prstGeom prst="rect">
            <a:avLst/>
          </a:prstGeom>
          <a:solidFill>
            <a:srgbClr val="001020"/>
          </a:solidFill>
          <a:ln w="12700">
            <a:solidFill>
              <a:srgbClr val="FF6B35"/>
            </a:solidFill>
            <a:prstDash val="solid"/>
          </a:ln>
        </p:spPr>
      </p:sp>
      <p:sp>
        <p:nvSpPr>
          <p:cNvPr id="57" name="Text 55"/>
          <p:cNvSpPr/>
          <p:nvPr/>
        </p:nvSpPr>
        <p:spPr>
          <a:xfrm>
            <a:off x="6940296" y="2267712"/>
            <a:ext cx="1920240" cy="274320"/>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model_type → best_optimizer</a:t>
            </a:r>
            <a:endParaRPr lang="en-US" sz="850" dirty="0"/>
          </a:p>
        </p:txBody>
      </p:sp>
      <p:sp>
        <p:nvSpPr>
          <p:cNvPr id="58" name="Text 56"/>
          <p:cNvSpPr/>
          <p:nvPr/>
        </p:nvSpPr>
        <p:spPr>
          <a:xfrm>
            <a:off x="6922008" y="2651760"/>
            <a:ext cx="1938528" cy="228600"/>
          </a:xfrm>
          <a:prstGeom prst="rect">
            <a:avLst/>
          </a:prstGeom>
          <a:noFill/>
          <a:ln/>
        </p:spPr>
        <p:txBody>
          <a:bodyPr wrap="square" lIns="0" tIns="0" rIns="0" bIns="0" rtlCol="0" anchor="ctr"/>
          <a:lstStyle/>
          <a:p>
            <a:pPr indent="0" marL="0">
              <a:buNone/>
            </a:pPr>
            <a:r>
              <a:rPr lang="en-US" sz="900" b="1" dirty="0">
                <a:solidFill>
                  <a:srgbClr val="00FF9D"/>
                </a:solidFill>
                <a:latin typeface="Calibri" pitchFamily="34" charset="0"/>
                <a:ea typeface="Calibri" pitchFamily="34" charset="-122"/>
                <a:cs typeface="Calibri" pitchFamily="34" charset="-120"/>
              </a:rPr>
              <a:t>✓ Πλεονεκτήματα</a:t>
            </a:r>
            <a:endParaRPr lang="en-US" sz="900" dirty="0"/>
          </a:p>
        </p:txBody>
      </p:sp>
      <p:sp>
        <p:nvSpPr>
          <p:cNvPr id="59" name="Text 57"/>
          <p:cNvSpPr/>
          <p:nvPr/>
        </p:nvSpPr>
        <p:spPr>
          <a:xfrm>
            <a:off x="6922008" y="2907792"/>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Zero configuration</a:t>
            </a:r>
            <a:endParaRPr lang="en-US" sz="850" dirty="0"/>
          </a:p>
        </p:txBody>
      </p:sp>
      <p:sp>
        <p:nvSpPr>
          <p:cNvPr id="60" name="Text 58"/>
          <p:cNvSpPr/>
          <p:nvPr/>
        </p:nvSpPr>
        <p:spPr>
          <a:xfrm>
            <a:off x="6922008" y="3200400"/>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AI-driven choice</a:t>
            </a:r>
            <a:endParaRPr lang="en-US" sz="850" dirty="0"/>
          </a:p>
        </p:txBody>
      </p:sp>
      <p:sp>
        <p:nvSpPr>
          <p:cNvPr id="61" name="Text 59"/>
          <p:cNvSpPr/>
          <p:nvPr/>
        </p:nvSpPr>
        <p:spPr>
          <a:xfrm>
            <a:off x="6922008" y="3493008"/>
            <a:ext cx="1938528" cy="256032"/>
          </a:xfrm>
          <a:prstGeom prst="rect">
            <a:avLst/>
          </a:prstGeom>
          <a:noFill/>
          <a:ln/>
        </p:spPr>
        <p:txBody>
          <a:bodyPr wrap="square" lIns="0" tIns="0" rIns="0" bIns="0" rtlCol="0" anchor="ctr"/>
          <a:lstStyle/>
          <a:p>
            <a:pPr indent="0" marL="0">
              <a:buNone/>
            </a:pPr>
            <a:r>
              <a:rPr lang="en-US" sz="850" dirty="0">
                <a:solidFill>
                  <a:srgbClr val="AABBCC"/>
                </a:solidFill>
                <a:latin typeface="Calibri" pitchFamily="34" charset="0"/>
                <a:ea typeface="Calibri" pitchFamily="34" charset="-122"/>
                <a:cs typeface="Calibri" pitchFamily="34" charset="-120"/>
              </a:rPr>
              <a:t>• Βέλτιστα defaults</a:t>
            </a:r>
            <a:endParaRPr lang="en-US" sz="850" dirty="0"/>
          </a:p>
        </p:txBody>
      </p:sp>
      <p:sp>
        <p:nvSpPr>
          <p:cNvPr id="62" name="Text 60"/>
          <p:cNvSpPr/>
          <p:nvPr/>
        </p:nvSpPr>
        <p:spPr>
          <a:xfrm>
            <a:off x="6922008" y="3822192"/>
            <a:ext cx="1938528" cy="228600"/>
          </a:xfrm>
          <a:prstGeom prst="rect">
            <a:avLst/>
          </a:prstGeom>
          <a:noFill/>
          <a:ln/>
        </p:spPr>
        <p:txBody>
          <a:bodyPr wrap="square" lIns="0" tIns="0" rIns="0" bIns="0" rtlCol="0" anchor="ctr"/>
          <a:lstStyle/>
          <a:p>
            <a:pPr indent="0" marL="0">
              <a:buNone/>
            </a:pPr>
            <a:r>
              <a:rPr lang="en-US" sz="900" b="1" dirty="0">
                <a:solidFill>
                  <a:srgbClr val="FF2D78"/>
                </a:solidFill>
                <a:latin typeface="Calibri" pitchFamily="34" charset="0"/>
                <a:ea typeface="Calibri" pitchFamily="34" charset="-122"/>
                <a:cs typeface="Calibri" pitchFamily="34" charset="-120"/>
              </a:rPr>
              <a:t>✗ Μειονεκτήματα</a:t>
            </a:r>
            <a:endParaRPr lang="en-US" sz="900" dirty="0"/>
          </a:p>
        </p:txBody>
      </p:sp>
      <p:sp>
        <p:nvSpPr>
          <p:cNvPr id="63" name="Text 61"/>
          <p:cNvSpPr/>
          <p:nvPr/>
        </p:nvSpPr>
        <p:spPr>
          <a:xfrm>
            <a:off x="6922008" y="4078224"/>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Μπορεί να μην ταιριάζει</a:t>
            </a:r>
            <a:endParaRPr lang="en-US" sz="850" dirty="0"/>
          </a:p>
        </p:txBody>
      </p:sp>
      <p:sp>
        <p:nvSpPr>
          <p:cNvPr id="64" name="Text 62"/>
          <p:cNvSpPr/>
          <p:nvPr/>
        </p:nvSpPr>
        <p:spPr>
          <a:xfrm>
            <a:off x="6922008" y="4334256"/>
            <a:ext cx="1938528" cy="228600"/>
          </a:xfrm>
          <a:prstGeom prst="rect">
            <a:avLst/>
          </a:prstGeom>
          <a:noFill/>
          <a:ln/>
        </p:spPr>
        <p:txBody>
          <a:bodyPr wrap="square" lIns="0" tIns="0" rIns="0" bIns="0" rtlCol="0" anchor="ctr"/>
          <a:lstStyle/>
          <a:p>
            <a:pPr indent="0" marL="0">
              <a:buNone/>
            </a:pPr>
            <a:r>
              <a:rPr lang="en-US" sz="850" dirty="0">
                <a:solidFill>
                  <a:srgbClr val="8899BB"/>
                </a:solidFill>
                <a:latin typeface="Calibri" pitchFamily="34" charset="0"/>
                <a:ea typeface="Calibri" pitchFamily="34" charset="-122"/>
                <a:cs typeface="Calibri" pitchFamily="34" charset="-120"/>
              </a:rPr>
              <a:t>• σε edge cases</a:t>
            </a:r>
            <a:endParaRPr lang="en-US" sz="850" dirty="0"/>
          </a:p>
        </p:txBody>
      </p:sp>
      <p:sp>
        <p:nvSpPr>
          <p:cNvPr id="65" name="Shape 63"/>
          <p:cNvSpPr/>
          <p:nvPr/>
        </p:nvSpPr>
        <p:spPr>
          <a:xfrm>
            <a:off x="6922008" y="4617720"/>
            <a:ext cx="1938528" cy="274320"/>
          </a:xfrm>
          <a:prstGeom prst="rect">
            <a:avLst/>
          </a:prstGeom>
          <a:solidFill>
            <a:srgbClr val="FF6B35">
              <a:alpha val="60000"/>
            </a:srgbClr>
          </a:solidFill>
          <a:ln w="12700">
            <a:solidFill>
              <a:srgbClr val="FF6B35"/>
            </a:solidFill>
            <a:prstDash val="solid"/>
          </a:ln>
        </p:spPr>
      </p:sp>
      <p:sp>
        <p:nvSpPr>
          <p:cNvPr id="66" name="Text 64"/>
          <p:cNvSpPr/>
          <p:nvPr/>
        </p:nvSpPr>
        <p:spPr>
          <a:xfrm>
            <a:off x="6922008" y="4617720"/>
            <a:ext cx="1938528"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Best for: Αρχάριοι / Rapid testing</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2D78"/>
            </a:solidFill>
            <a:prstDash val="solid"/>
          </a:ln>
        </p:spPr>
      </p:sp>
      <p:sp>
        <p:nvSpPr>
          <p:cNvPr id="3" name="Shape 1"/>
          <p:cNvSpPr/>
          <p:nvPr/>
        </p:nvSpPr>
        <p:spPr>
          <a:xfrm>
            <a:off x="0" y="0"/>
            <a:ext cx="73152" cy="822960"/>
          </a:xfrm>
          <a:prstGeom prst="rect">
            <a:avLst/>
          </a:prstGeom>
          <a:solidFill>
            <a:srgbClr val="FF2D78"/>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18 — PDF Reports (ReportLab)</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2D78"/>
                </a:solidFill>
                <a:latin typeface="Calibri" pitchFamily="34" charset="0"/>
                <a:ea typeface="Calibri" pitchFamily="34" charset="-122"/>
                <a:cs typeface="Calibri" pitchFamily="34" charset="-120"/>
              </a:rPr>
              <a:t>Αυτόματη Δημιουργία Επαγγελματικών Αναφορών</a:t>
            </a:r>
            <a:endParaRPr lang="en-US" sz="1100" dirty="0"/>
          </a:p>
        </p:txBody>
      </p:sp>
      <p:pic>
        <p:nvPicPr>
          <p:cNvPr id="6" name="Image 0" descr="preencoded.png">    </p:cNvPr>
          <p:cNvPicPr>
            <a:picLocks noChangeAspect="1"/>
          </p:cNvPicPr>
          <p:nvPr/>
        </p:nvPicPr>
        <p:blipFill>
          <a:blip r:embed="rId1"/>
          <a:stretch>
            <a:fillRect/>
          </a:stretch>
        </p:blipFill>
        <p:spPr>
          <a:xfrm>
            <a:off x="274320" y="960120"/>
            <a:ext cx="502920" cy="502920"/>
          </a:xfrm>
          <a:prstGeom prst="rect">
            <a:avLst/>
          </a:prstGeom>
        </p:spPr>
      </p:pic>
      <p:sp>
        <p:nvSpPr>
          <p:cNvPr id="7" name="Text 4"/>
          <p:cNvSpPr/>
          <p:nvPr/>
        </p:nvSpPr>
        <p:spPr>
          <a:xfrm>
            <a:off x="868680" y="914400"/>
            <a:ext cx="8046720" cy="594360"/>
          </a:xfrm>
          <a:prstGeom prst="rect">
            <a:avLst/>
          </a:prstGeom>
          <a:noFill/>
          <a:ln/>
        </p:spPr>
        <p:txBody>
          <a:bodyPr wrap="square" lIns="0" tIns="0" rIns="0" bIns="0" rtlCol="0" anchor="ctr"/>
          <a:lstStyle/>
          <a:p>
            <a:pPr indent="0" marL="0">
              <a:buNone/>
            </a:pPr>
            <a:r>
              <a:rPr lang="en-US" sz="1150" dirty="0">
                <a:solidFill>
                  <a:srgbClr val="AABBCC"/>
                </a:solidFill>
                <a:latin typeface="Calibri" pitchFamily="34" charset="0"/>
                <a:ea typeface="Calibri" pitchFamily="34" charset="-122"/>
                <a:cs typeface="Calibri" pitchFamily="34" charset="-120"/>
              </a:rPr>
              <a:t>Η εφαρμογή δημιουργεί πλήρεις επαγγελματικές αναφορές PDF αυτόματα μετά από κάθε εκπαίδευση, αξιολόγηση ή live session, χρησιμοποιώντας τη βιβλιοθήκη ReportLab.</a:t>
            </a:r>
            <a:endParaRPr lang="en-US" sz="1150" dirty="0"/>
          </a:p>
        </p:txBody>
      </p:sp>
      <p:sp>
        <p:nvSpPr>
          <p:cNvPr id="8" name="Shape 5"/>
          <p:cNvSpPr/>
          <p:nvPr/>
        </p:nvSpPr>
        <p:spPr>
          <a:xfrm>
            <a:off x="182880" y="1828800"/>
            <a:ext cx="2834640" cy="118872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9" name="Shape 6"/>
          <p:cNvSpPr/>
          <p:nvPr/>
        </p:nvSpPr>
        <p:spPr>
          <a:xfrm>
            <a:off x="182880" y="1828800"/>
            <a:ext cx="2834640" cy="64008"/>
          </a:xfrm>
          <a:prstGeom prst="rect">
            <a:avLst/>
          </a:prstGeom>
          <a:solidFill>
            <a:srgbClr val="FF2D78"/>
          </a:solidFill>
          <a:ln/>
        </p:spPr>
      </p:sp>
      <p:sp>
        <p:nvSpPr>
          <p:cNvPr id="10" name="Text 7"/>
          <p:cNvSpPr/>
          <p:nvPr/>
        </p:nvSpPr>
        <p:spPr>
          <a:xfrm>
            <a:off x="320040" y="1920240"/>
            <a:ext cx="260604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Cover Page</a:t>
            </a:r>
            <a:endParaRPr lang="en-US" sz="1300" dirty="0"/>
          </a:p>
        </p:txBody>
      </p:sp>
      <p:sp>
        <p:nvSpPr>
          <p:cNvPr id="11" name="Text 8"/>
          <p:cNvSpPr/>
          <p:nvPr/>
        </p:nvSpPr>
        <p:spPr>
          <a:xfrm>
            <a:off x="320040" y="2304288"/>
            <a:ext cx="256032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Τίτλος, ημερομηνία, μοντέλο,</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dataset info &amp; system specs</a:t>
            </a:r>
            <a:endParaRPr lang="en-US" sz="1050" dirty="0"/>
          </a:p>
        </p:txBody>
      </p:sp>
      <p:sp>
        <p:nvSpPr>
          <p:cNvPr id="12" name="Shape 9"/>
          <p:cNvSpPr/>
          <p:nvPr/>
        </p:nvSpPr>
        <p:spPr>
          <a:xfrm>
            <a:off x="3154680" y="1828800"/>
            <a:ext cx="2834640" cy="118872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13" name="Shape 10"/>
          <p:cNvSpPr/>
          <p:nvPr/>
        </p:nvSpPr>
        <p:spPr>
          <a:xfrm>
            <a:off x="3154680" y="1828800"/>
            <a:ext cx="2834640" cy="64008"/>
          </a:xfrm>
          <a:prstGeom prst="rect">
            <a:avLst/>
          </a:prstGeom>
          <a:solidFill>
            <a:srgbClr val="00D4FF"/>
          </a:solidFill>
          <a:ln/>
        </p:spPr>
      </p:sp>
      <p:sp>
        <p:nvSpPr>
          <p:cNvPr id="14" name="Text 11"/>
          <p:cNvSpPr/>
          <p:nvPr/>
        </p:nvSpPr>
        <p:spPr>
          <a:xfrm>
            <a:off x="3291840" y="1920240"/>
            <a:ext cx="260604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Training Metrics</a:t>
            </a:r>
            <a:endParaRPr lang="en-US" sz="1300" dirty="0"/>
          </a:p>
        </p:txBody>
      </p:sp>
      <p:sp>
        <p:nvSpPr>
          <p:cNvPr id="15" name="Text 12"/>
          <p:cNvSpPr/>
          <p:nvPr/>
        </p:nvSpPr>
        <p:spPr>
          <a:xfrm>
            <a:off x="3291840" y="2304288"/>
            <a:ext cx="256032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Loss curves, mAP@0.5,</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mAP@0.5:0.95, precision,</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recall per epoch</a:t>
            </a:r>
            <a:endParaRPr lang="en-US" sz="1050" dirty="0"/>
          </a:p>
        </p:txBody>
      </p:sp>
      <p:sp>
        <p:nvSpPr>
          <p:cNvPr id="16" name="Shape 13"/>
          <p:cNvSpPr/>
          <p:nvPr/>
        </p:nvSpPr>
        <p:spPr>
          <a:xfrm>
            <a:off x="6126480" y="1828800"/>
            <a:ext cx="2834640" cy="118872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17" name="Shape 14"/>
          <p:cNvSpPr/>
          <p:nvPr/>
        </p:nvSpPr>
        <p:spPr>
          <a:xfrm>
            <a:off x="6126480" y="1828800"/>
            <a:ext cx="2834640" cy="64008"/>
          </a:xfrm>
          <a:prstGeom prst="rect">
            <a:avLst/>
          </a:prstGeom>
          <a:solidFill>
            <a:srgbClr val="7B2FBE"/>
          </a:solidFill>
          <a:ln/>
        </p:spPr>
      </p:sp>
      <p:sp>
        <p:nvSpPr>
          <p:cNvPr id="18" name="Text 15"/>
          <p:cNvSpPr/>
          <p:nvPr/>
        </p:nvSpPr>
        <p:spPr>
          <a:xfrm>
            <a:off x="6263640" y="1920240"/>
            <a:ext cx="260604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Confusion Matrix</a:t>
            </a:r>
            <a:endParaRPr lang="en-US" sz="1300" dirty="0"/>
          </a:p>
        </p:txBody>
      </p:sp>
      <p:sp>
        <p:nvSpPr>
          <p:cNvPr id="19" name="Text 16"/>
          <p:cNvSpPr/>
          <p:nvPr/>
        </p:nvSpPr>
        <p:spPr>
          <a:xfrm>
            <a:off x="6263640" y="2304288"/>
            <a:ext cx="256032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Visual confusion matrix</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για αξιολόγηση per-class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performance</a:t>
            </a:r>
            <a:endParaRPr lang="en-US" sz="1050" dirty="0"/>
          </a:p>
        </p:txBody>
      </p:sp>
      <p:sp>
        <p:nvSpPr>
          <p:cNvPr id="20" name="Shape 17"/>
          <p:cNvSpPr/>
          <p:nvPr/>
        </p:nvSpPr>
        <p:spPr>
          <a:xfrm>
            <a:off x="182880" y="3154680"/>
            <a:ext cx="2834640" cy="118872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21" name="Shape 18"/>
          <p:cNvSpPr/>
          <p:nvPr/>
        </p:nvSpPr>
        <p:spPr>
          <a:xfrm>
            <a:off x="182880" y="3154680"/>
            <a:ext cx="2834640" cy="64008"/>
          </a:xfrm>
          <a:prstGeom prst="rect">
            <a:avLst/>
          </a:prstGeom>
          <a:solidFill>
            <a:srgbClr val="00FF9D"/>
          </a:solidFill>
          <a:ln/>
        </p:spPr>
      </p:sp>
      <p:sp>
        <p:nvSpPr>
          <p:cNvPr id="22" name="Text 19"/>
          <p:cNvSpPr/>
          <p:nvPr/>
        </p:nvSpPr>
        <p:spPr>
          <a:xfrm>
            <a:off x="320040" y="3246120"/>
            <a:ext cx="260604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Sample Predictions</a:t>
            </a:r>
            <a:endParaRPr lang="en-US" sz="1300" dirty="0"/>
          </a:p>
        </p:txBody>
      </p:sp>
      <p:sp>
        <p:nvSpPr>
          <p:cNvPr id="23" name="Text 20"/>
          <p:cNvSpPr/>
          <p:nvPr/>
        </p:nvSpPr>
        <p:spPr>
          <a:xfrm>
            <a:off x="320040" y="3630168"/>
            <a:ext cx="256032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Εικόνες με bounding boxes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και confidence scores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από validation set</a:t>
            </a:r>
            <a:endParaRPr lang="en-US" sz="1050" dirty="0"/>
          </a:p>
        </p:txBody>
      </p:sp>
      <p:sp>
        <p:nvSpPr>
          <p:cNvPr id="24" name="Shape 21"/>
          <p:cNvSpPr/>
          <p:nvPr/>
        </p:nvSpPr>
        <p:spPr>
          <a:xfrm>
            <a:off x="3154680" y="3154680"/>
            <a:ext cx="2834640" cy="118872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25" name="Shape 22"/>
          <p:cNvSpPr/>
          <p:nvPr/>
        </p:nvSpPr>
        <p:spPr>
          <a:xfrm>
            <a:off x="3154680" y="3154680"/>
            <a:ext cx="2834640" cy="64008"/>
          </a:xfrm>
          <a:prstGeom prst="rect">
            <a:avLst/>
          </a:prstGeom>
          <a:solidFill>
            <a:srgbClr val="FF6B35"/>
          </a:solidFill>
          <a:ln/>
        </p:spPr>
      </p:sp>
      <p:sp>
        <p:nvSpPr>
          <p:cNvPr id="26" name="Text 23"/>
          <p:cNvSpPr/>
          <p:nvPr/>
        </p:nvSpPr>
        <p:spPr>
          <a:xfrm>
            <a:off x="3291840" y="3246120"/>
            <a:ext cx="260604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Hardware Info</a:t>
            </a:r>
            <a:endParaRPr lang="en-US" sz="1300" dirty="0"/>
          </a:p>
        </p:txBody>
      </p:sp>
      <p:sp>
        <p:nvSpPr>
          <p:cNvPr id="27" name="Text 24"/>
          <p:cNvSpPr/>
          <p:nvPr/>
        </p:nvSpPr>
        <p:spPr>
          <a:xfrm>
            <a:off x="3291840" y="3630168"/>
            <a:ext cx="256032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CPU/RAM/GPU specs,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CUDA version, training</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duration &amp; speed</a:t>
            </a:r>
            <a:endParaRPr lang="en-US" sz="1050" dirty="0"/>
          </a:p>
        </p:txBody>
      </p:sp>
      <p:sp>
        <p:nvSpPr>
          <p:cNvPr id="28" name="Shape 25"/>
          <p:cNvSpPr/>
          <p:nvPr/>
        </p:nvSpPr>
        <p:spPr>
          <a:xfrm>
            <a:off x="6126480" y="3154680"/>
            <a:ext cx="2834640" cy="1188720"/>
          </a:xfrm>
          <a:prstGeom prst="rect">
            <a:avLst/>
          </a:prstGeom>
          <a:solidFill>
            <a:srgbClr val="0D1F3C"/>
          </a:solidFill>
          <a:ln w="19050">
            <a:solidFill>
              <a:srgbClr val="FFD700"/>
            </a:solidFill>
            <a:prstDash val="solid"/>
          </a:ln>
          <a:effectLst>
            <a:outerShdw sx="100000" sy="100000" kx="0" ky="0" algn="bl" rotWithShape="0" blurRad="127000" dist="38100" dir="8100000">
              <a:srgbClr val="000000">
                <a:alpha val="40000"/>
              </a:srgbClr>
            </a:outerShdw>
          </a:effectLst>
        </p:spPr>
      </p:sp>
      <p:sp>
        <p:nvSpPr>
          <p:cNvPr id="29" name="Shape 26"/>
          <p:cNvSpPr/>
          <p:nvPr/>
        </p:nvSpPr>
        <p:spPr>
          <a:xfrm>
            <a:off x="6126480" y="3154680"/>
            <a:ext cx="2834640" cy="64008"/>
          </a:xfrm>
          <a:prstGeom prst="rect">
            <a:avLst/>
          </a:prstGeom>
          <a:solidFill>
            <a:srgbClr val="FFD700"/>
          </a:solidFill>
          <a:ln/>
        </p:spPr>
      </p:sp>
      <p:sp>
        <p:nvSpPr>
          <p:cNvPr id="30" name="Text 27"/>
          <p:cNvSpPr/>
          <p:nvPr/>
        </p:nvSpPr>
        <p:spPr>
          <a:xfrm>
            <a:off x="6263640" y="3246120"/>
            <a:ext cx="2606040" cy="320040"/>
          </a:xfrm>
          <a:prstGeom prst="rect">
            <a:avLst/>
          </a:prstGeom>
          <a:noFill/>
          <a:ln/>
        </p:spPr>
        <p:txBody>
          <a:bodyPr wrap="square" lIns="0" tIns="0" rIns="0" bIns="0"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Export Summary</a:t>
            </a:r>
            <a:endParaRPr lang="en-US" sz="1300" dirty="0"/>
          </a:p>
        </p:txBody>
      </p:sp>
      <p:sp>
        <p:nvSpPr>
          <p:cNvPr id="31" name="Text 28"/>
          <p:cNvSpPr/>
          <p:nvPr/>
        </p:nvSpPr>
        <p:spPr>
          <a:xfrm>
            <a:off x="6263640" y="3630168"/>
            <a:ext cx="2560320" cy="62179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Πληροφορίες export:</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format, size, path,</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fingerprint hash</a:t>
            </a:r>
            <a:endParaRPr lang="en-US" sz="1050" dirty="0"/>
          </a:p>
        </p:txBody>
      </p:sp>
      <p:sp>
        <p:nvSpPr>
          <p:cNvPr id="32" name="Text 29"/>
          <p:cNvSpPr/>
          <p:nvPr/>
        </p:nvSpPr>
        <p:spPr>
          <a:xfrm>
            <a:off x="274320" y="4617720"/>
            <a:ext cx="8595360" cy="256032"/>
          </a:xfrm>
          <a:prstGeom prst="rect">
            <a:avLst/>
          </a:prstGeom>
          <a:noFill/>
          <a:ln/>
        </p:spPr>
        <p:txBody>
          <a:bodyPr wrap="square" lIns="0" tIns="0" rIns="0" bIns="0" rtlCol="0" anchor="ctr"/>
          <a:lstStyle/>
          <a:p>
            <a:pPr indent="0" marL="0">
              <a:buNone/>
            </a:pPr>
            <a:r>
              <a:rPr lang="en-US" sz="1100" b="1" dirty="0">
                <a:solidFill>
                  <a:srgbClr val="FF2D78"/>
                </a:solidFill>
                <a:latin typeface="Calibri" pitchFamily="34" charset="0"/>
                <a:ea typeface="Calibri" pitchFamily="34" charset="-122"/>
                <a:cs typeface="Calibri" pitchFamily="34" charset="-120"/>
              </a:rPr>
              <a:t>Run Snapshot Feature:</a:t>
            </a:r>
            <a:endParaRPr lang="en-US" sz="1100" dirty="0"/>
          </a:p>
        </p:txBody>
      </p:sp>
      <p:sp>
        <p:nvSpPr>
          <p:cNvPr id="33" name="Shape 30"/>
          <p:cNvSpPr/>
          <p:nvPr/>
        </p:nvSpPr>
        <p:spPr>
          <a:xfrm>
            <a:off x="182880" y="4617720"/>
            <a:ext cx="8778240" cy="411480"/>
          </a:xfrm>
          <a:prstGeom prst="rect">
            <a:avLst/>
          </a:prstGeom>
          <a:solidFill>
            <a:srgbClr val="122544"/>
          </a:solidFill>
          <a:ln w="12700">
            <a:solidFill>
              <a:srgbClr val="FF2D78"/>
            </a:solidFill>
            <a:prstDash val="solid"/>
          </a:ln>
        </p:spPr>
      </p:sp>
      <p:sp>
        <p:nvSpPr>
          <p:cNvPr id="34" name="Text 31"/>
          <p:cNvSpPr/>
          <p:nvPr/>
        </p:nvSpPr>
        <p:spPr>
          <a:xfrm>
            <a:off x="274320" y="4663440"/>
            <a:ext cx="8503920" cy="32004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Κάθε training run αποθηκεύεται ως ξεχωριστό PDF snapshot → σύγκριση πολλαπλών runs → tracked history για reproducibility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D4FF"/>
            </a:solidFill>
            <a:prstDash val="solid"/>
          </a:ln>
        </p:spPr>
      </p:sp>
      <p:sp>
        <p:nvSpPr>
          <p:cNvPr id="3" name="Shape 1"/>
          <p:cNvSpPr/>
          <p:nvPr/>
        </p:nvSpPr>
        <p:spPr>
          <a:xfrm>
            <a:off x="0" y="0"/>
            <a:ext cx="73152" cy="822960"/>
          </a:xfrm>
          <a:prstGeom prst="rect">
            <a:avLst/>
          </a:prstGeom>
          <a:solidFill>
            <a:srgbClr val="00D4FF"/>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19–20 — Diagnostics &amp; Hardware Monitoring</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D4FF"/>
                </a:solidFill>
                <a:latin typeface="Calibri" pitchFamily="34" charset="0"/>
                <a:ea typeface="Calibri" pitchFamily="34" charset="-122"/>
                <a:cs typeface="Calibri" pitchFamily="34" charset="-120"/>
              </a:rPr>
              <a:t>CPU · RAM · GPU/CUDA Real-time</a:t>
            </a:r>
            <a:endParaRPr lang="en-US" sz="1100" dirty="0"/>
          </a:p>
        </p:txBody>
      </p:sp>
      <p:sp>
        <p:nvSpPr>
          <p:cNvPr id="6" name="Shape 4"/>
          <p:cNvSpPr/>
          <p:nvPr/>
        </p:nvSpPr>
        <p:spPr>
          <a:xfrm>
            <a:off x="365760" y="914400"/>
            <a:ext cx="2651760" cy="1828800"/>
          </a:xfrm>
          <a:prstGeom prst="ellipse">
            <a:avLst/>
          </a:prstGeom>
          <a:solidFill>
            <a:srgbClr val="0D1F3C"/>
          </a:solidFill>
          <a:ln w="38100">
            <a:solidFill>
              <a:srgbClr val="FF6B35"/>
            </a:solidFill>
            <a:prstDash val="solid"/>
          </a:ln>
        </p:spPr>
      </p:sp>
      <p:sp>
        <p:nvSpPr>
          <p:cNvPr id="7" name="Text 5"/>
          <p:cNvSpPr/>
          <p:nvPr/>
        </p:nvSpPr>
        <p:spPr>
          <a:xfrm>
            <a:off x="365760" y="1051560"/>
            <a:ext cx="2651760" cy="1005840"/>
          </a:xfrm>
          <a:prstGeom prst="rect">
            <a:avLst/>
          </a:prstGeom>
          <a:noFill/>
          <a:ln/>
        </p:spPr>
        <p:txBody>
          <a:bodyPr wrap="square" lIns="0" tIns="0" rIns="0" bIns="0" rtlCol="0" anchor="ctr"/>
          <a:lstStyle/>
          <a:p>
            <a:pPr algn="ctr" indent="0" marL="0">
              <a:buNone/>
            </a:pPr>
            <a:r>
              <a:rPr lang="en-US" sz="2800" b="1" dirty="0">
                <a:solidFill>
                  <a:srgbClr val="FF6B35"/>
                </a:solidFill>
                <a:latin typeface="Calibri" pitchFamily="34" charset="0"/>
                <a:ea typeface="Calibri" pitchFamily="34" charset="-122"/>
                <a:cs typeface="Calibri" pitchFamily="34" charset="-120"/>
              </a:rPr>
              <a:t>87%</a:t>
            </a:r>
            <a:endParaRPr lang="en-US" sz="2800" dirty="0"/>
          </a:p>
        </p:txBody>
      </p:sp>
      <p:sp>
        <p:nvSpPr>
          <p:cNvPr id="8" name="Text 6"/>
          <p:cNvSpPr/>
          <p:nvPr/>
        </p:nvSpPr>
        <p:spPr>
          <a:xfrm>
            <a:off x="365760" y="2011680"/>
            <a:ext cx="2651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CPU Load</a:t>
            </a:r>
            <a:endParaRPr lang="en-US" sz="1300" dirty="0"/>
          </a:p>
        </p:txBody>
      </p:sp>
      <p:sp>
        <p:nvSpPr>
          <p:cNvPr id="9" name="Text 7"/>
          <p:cNvSpPr/>
          <p:nvPr/>
        </p:nvSpPr>
        <p:spPr>
          <a:xfrm>
            <a:off x="365760" y="2404872"/>
            <a:ext cx="2651760" cy="411480"/>
          </a:xfrm>
          <a:prstGeom prst="rect">
            <a:avLst/>
          </a:prstGeom>
          <a:noFill/>
          <a:ln/>
        </p:spPr>
        <p:txBody>
          <a:bodyPr wrap="square" lIns="0" tIns="0" rIns="0" bIns="0" rtlCol="0" anchor="ctr"/>
          <a:lstStyle/>
          <a:p>
            <a:pPr algn="ctr" indent="0" marL="0">
              <a:buNone/>
            </a:pPr>
            <a:r>
              <a:rPr lang="en-US" sz="900" dirty="0">
                <a:solidFill>
                  <a:srgbClr val="8899BB"/>
                </a:solidFill>
                <a:latin typeface="Calibri" pitchFamily="34" charset="0"/>
                <a:ea typeface="Calibri" pitchFamily="34" charset="-122"/>
                <a:cs typeface="Calibri" pitchFamily="34" charset="-120"/>
              </a:rPr>
              <a:t>Real-time monitoring</a:t>
            </a:r>
            <a:endParaRPr lang="en-US" sz="900" dirty="0"/>
          </a:p>
          <a:p>
            <a:pPr algn="ctr" indent="0" marL="0">
              <a:buNone/>
            </a:pPr>
            <a:r>
              <a:rPr lang="en-US" sz="900" dirty="0">
                <a:solidFill>
                  <a:srgbClr val="8899BB"/>
                </a:solidFill>
                <a:latin typeface="Calibri" pitchFamily="34" charset="0"/>
                <a:ea typeface="Calibri" pitchFamily="34" charset="-122"/>
                <a:cs typeface="Calibri" pitchFamily="34" charset="-120"/>
              </a:rPr>
              <a:t>ψ process affinity</a:t>
            </a:r>
            <a:endParaRPr lang="en-US" sz="900" dirty="0"/>
          </a:p>
        </p:txBody>
      </p:sp>
      <p:sp>
        <p:nvSpPr>
          <p:cNvPr id="10" name="Shape 8"/>
          <p:cNvSpPr/>
          <p:nvPr/>
        </p:nvSpPr>
        <p:spPr>
          <a:xfrm>
            <a:off x="3246120" y="914400"/>
            <a:ext cx="2651760" cy="1828800"/>
          </a:xfrm>
          <a:prstGeom prst="ellipse">
            <a:avLst/>
          </a:prstGeom>
          <a:solidFill>
            <a:srgbClr val="0D1F3C"/>
          </a:solidFill>
          <a:ln w="38100">
            <a:solidFill>
              <a:srgbClr val="7B2FBE"/>
            </a:solidFill>
            <a:prstDash val="solid"/>
          </a:ln>
        </p:spPr>
      </p:sp>
      <p:sp>
        <p:nvSpPr>
          <p:cNvPr id="11" name="Text 9"/>
          <p:cNvSpPr/>
          <p:nvPr/>
        </p:nvSpPr>
        <p:spPr>
          <a:xfrm>
            <a:off x="3246120" y="1051560"/>
            <a:ext cx="2651760" cy="1005840"/>
          </a:xfrm>
          <a:prstGeom prst="rect">
            <a:avLst/>
          </a:prstGeom>
          <a:noFill/>
          <a:ln/>
        </p:spPr>
        <p:txBody>
          <a:bodyPr wrap="square" lIns="0" tIns="0" rIns="0" bIns="0" rtlCol="0" anchor="ctr"/>
          <a:lstStyle/>
          <a:p>
            <a:pPr algn="ctr" indent="0" marL="0">
              <a:buNone/>
            </a:pPr>
            <a:r>
              <a:rPr lang="en-US" sz="2800" b="1" dirty="0">
                <a:solidFill>
                  <a:srgbClr val="7B2FBE"/>
                </a:solidFill>
                <a:latin typeface="Calibri" pitchFamily="34" charset="0"/>
                <a:ea typeface="Calibri" pitchFamily="34" charset="-122"/>
                <a:cs typeface="Calibri" pitchFamily="34" charset="-120"/>
              </a:rPr>
              <a:t>6.2GB</a:t>
            </a:r>
            <a:endParaRPr lang="en-US" sz="2800" dirty="0"/>
          </a:p>
        </p:txBody>
      </p:sp>
      <p:sp>
        <p:nvSpPr>
          <p:cNvPr id="12" name="Text 10"/>
          <p:cNvSpPr/>
          <p:nvPr/>
        </p:nvSpPr>
        <p:spPr>
          <a:xfrm>
            <a:off x="3246120" y="2011680"/>
            <a:ext cx="2651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RAM Usage</a:t>
            </a:r>
            <a:endParaRPr lang="en-US" sz="1300" dirty="0"/>
          </a:p>
        </p:txBody>
      </p:sp>
      <p:sp>
        <p:nvSpPr>
          <p:cNvPr id="13" name="Text 11"/>
          <p:cNvSpPr/>
          <p:nvPr/>
        </p:nvSpPr>
        <p:spPr>
          <a:xfrm>
            <a:off x="3246120" y="2404872"/>
            <a:ext cx="2651760" cy="411480"/>
          </a:xfrm>
          <a:prstGeom prst="rect">
            <a:avLst/>
          </a:prstGeom>
          <a:noFill/>
          <a:ln/>
        </p:spPr>
        <p:txBody>
          <a:bodyPr wrap="square" lIns="0" tIns="0" rIns="0" bIns="0" rtlCol="0" anchor="ctr"/>
          <a:lstStyle/>
          <a:p>
            <a:pPr algn="ctr" indent="0" marL="0">
              <a:buNone/>
            </a:pPr>
            <a:r>
              <a:rPr lang="en-US" sz="900" dirty="0">
                <a:solidFill>
                  <a:srgbClr val="8899BB"/>
                </a:solidFill>
                <a:latin typeface="Calibri" pitchFamily="34" charset="0"/>
                <a:ea typeface="Calibri" pitchFamily="34" charset="-122"/>
                <a:cs typeface="Calibri" pitchFamily="34" charset="-120"/>
              </a:rPr>
              <a:t>psutil-based tracking</a:t>
            </a:r>
            <a:endParaRPr lang="en-US" sz="900" dirty="0"/>
          </a:p>
          <a:p>
            <a:pPr algn="ctr" indent="0" marL="0">
              <a:buNone/>
            </a:pPr>
            <a:r>
              <a:rPr lang="en-US" sz="900" dirty="0">
                <a:solidFill>
                  <a:srgbClr val="8899BB"/>
                </a:solidFill>
                <a:latin typeface="Calibri" pitchFamily="34" charset="0"/>
                <a:ea typeface="Calibri" pitchFamily="34" charset="-122"/>
                <a:cs typeface="Calibri" pitchFamily="34" charset="-120"/>
              </a:rPr>
              <a:t>Memory leak detection</a:t>
            </a:r>
            <a:endParaRPr lang="en-US" sz="900" dirty="0"/>
          </a:p>
        </p:txBody>
      </p:sp>
      <p:sp>
        <p:nvSpPr>
          <p:cNvPr id="14" name="Shape 12"/>
          <p:cNvSpPr/>
          <p:nvPr/>
        </p:nvSpPr>
        <p:spPr>
          <a:xfrm>
            <a:off x="6126480" y="914400"/>
            <a:ext cx="2651760" cy="1828800"/>
          </a:xfrm>
          <a:prstGeom prst="ellipse">
            <a:avLst/>
          </a:prstGeom>
          <a:solidFill>
            <a:srgbClr val="0D1F3C"/>
          </a:solidFill>
          <a:ln w="38100">
            <a:solidFill>
              <a:srgbClr val="00D4FF"/>
            </a:solidFill>
            <a:prstDash val="solid"/>
          </a:ln>
        </p:spPr>
      </p:sp>
      <p:sp>
        <p:nvSpPr>
          <p:cNvPr id="15" name="Text 13"/>
          <p:cNvSpPr/>
          <p:nvPr/>
        </p:nvSpPr>
        <p:spPr>
          <a:xfrm>
            <a:off x="6126480" y="1051560"/>
            <a:ext cx="2651760" cy="10058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RTX 3060</a:t>
            </a:r>
            <a:endParaRPr lang="en-US" sz="2800" dirty="0"/>
          </a:p>
        </p:txBody>
      </p:sp>
      <p:sp>
        <p:nvSpPr>
          <p:cNvPr id="16" name="Text 14"/>
          <p:cNvSpPr/>
          <p:nvPr/>
        </p:nvSpPr>
        <p:spPr>
          <a:xfrm>
            <a:off x="6126480" y="2011680"/>
            <a:ext cx="2651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GPU/CUDA</a:t>
            </a:r>
            <a:endParaRPr lang="en-US" sz="1300" dirty="0"/>
          </a:p>
        </p:txBody>
      </p:sp>
      <p:sp>
        <p:nvSpPr>
          <p:cNvPr id="17" name="Text 15"/>
          <p:cNvSpPr/>
          <p:nvPr/>
        </p:nvSpPr>
        <p:spPr>
          <a:xfrm>
            <a:off x="6126480" y="2404872"/>
            <a:ext cx="2651760" cy="411480"/>
          </a:xfrm>
          <a:prstGeom prst="rect">
            <a:avLst/>
          </a:prstGeom>
          <a:noFill/>
          <a:ln/>
        </p:spPr>
        <p:txBody>
          <a:bodyPr wrap="square" lIns="0" tIns="0" rIns="0" bIns="0" rtlCol="0" anchor="ctr"/>
          <a:lstStyle/>
          <a:p>
            <a:pPr algn="ctr" indent="0" marL="0">
              <a:buNone/>
            </a:pPr>
            <a:r>
              <a:rPr lang="en-US" sz="900" dirty="0">
                <a:solidFill>
                  <a:srgbClr val="8899BB"/>
                </a:solidFill>
                <a:latin typeface="Calibri" pitchFamily="34" charset="0"/>
                <a:ea typeface="Calibri" pitchFamily="34" charset="-122"/>
                <a:cs typeface="Calibri" pitchFamily="34" charset="-120"/>
              </a:rPr>
              <a:t>VRAM usage + temp</a:t>
            </a:r>
            <a:endParaRPr lang="en-US" sz="900" dirty="0"/>
          </a:p>
          <a:p>
            <a:pPr algn="ctr" indent="0" marL="0">
              <a:buNone/>
            </a:pPr>
            <a:r>
              <a:rPr lang="en-US" sz="900" dirty="0">
                <a:solidFill>
                  <a:srgbClr val="8899BB"/>
                </a:solidFill>
                <a:latin typeface="Calibri" pitchFamily="34" charset="0"/>
                <a:ea typeface="Calibri" pitchFamily="34" charset="-122"/>
                <a:cs typeface="Calibri" pitchFamily="34" charset="-120"/>
              </a:rPr>
              <a:t>torch.cuda utilities</a:t>
            </a:r>
            <a:endParaRPr lang="en-US" sz="900" dirty="0"/>
          </a:p>
        </p:txBody>
      </p:sp>
      <p:sp>
        <p:nvSpPr>
          <p:cNvPr id="18" name="Text 16"/>
          <p:cNvSpPr/>
          <p:nvPr/>
        </p:nvSpPr>
        <p:spPr>
          <a:xfrm>
            <a:off x="274320" y="2926080"/>
            <a:ext cx="8595360" cy="347472"/>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Πλήρης Συμβατότητα Diagnostics</a:t>
            </a:r>
            <a:endParaRPr lang="en-US" sz="1400" dirty="0"/>
          </a:p>
        </p:txBody>
      </p:sp>
      <p:sp>
        <p:nvSpPr>
          <p:cNvPr id="19" name="Shape 17"/>
          <p:cNvSpPr/>
          <p:nvPr/>
        </p:nvSpPr>
        <p:spPr>
          <a:xfrm>
            <a:off x="182880" y="3401568"/>
            <a:ext cx="2834640" cy="91440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20" name="Shape 18"/>
          <p:cNvSpPr/>
          <p:nvPr/>
        </p:nvSpPr>
        <p:spPr>
          <a:xfrm>
            <a:off x="182880" y="3401568"/>
            <a:ext cx="2834640" cy="64008"/>
          </a:xfrm>
          <a:prstGeom prst="rect">
            <a:avLst/>
          </a:prstGeom>
          <a:solidFill>
            <a:srgbClr val="00D4FF"/>
          </a:solidFill>
          <a:ln/>
        </p:spPr>
      </p:sp>
      <p:sp>
        <p:nvSpPr>
          <p:cNvPr id="21" name="Text 19"/>
          <p:cNvSpPr/>
          <p:nvPr/>
        </p:nvSpPr>
        <p:spPr>
          <a:xfrm>
            <a:off x="320040" y="3493008"/>
            <a:ext cx="260604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pip freeze</a:t>
            </a:r>
            <a:endParaRPr lang="en-US" sz="1300" dirty="0"/>
          </a:p>
        </p:txBody>
      </p:sp>
      <p:sp>
        <p:nvSpPr>
          <p:cNvPr id="22" name="Text 20"/>
          <p:cNvSpPr/>
          <p:nvPr/>
        </p:nvSpPr>
        <p:spPr>
          <a:xfrm>
            <a:off x="320040" y="3877056"/>
            <a:ext cx="2560320" cy="34747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Καταγραφή εγκατεστημένων</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πακέτων &amp; εκδόσεων</a:t>
            </a:r>
            <a:endParaRPr lang="en-US" sz="1050" dirty="0"/>
          </a:p>
        </p:txBody>
      </p:sp>
      <p:sp>
        <p:nvSpPr>
          <p:cNvPr id="23" name="Shape 21"/>
          <p:cNvSpPr/>
          <p:nvPr/>
        </p:nvSpPr>
        <p:spPr>
          <a:xfrm>
            <a:off x="3154680" y="3401568"/>
            <a:ext cx="2834640" cy="91440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24" name="Shape 22"/>
          <p:cNvSpPr/>
          <p:nvPr/>
        </p:nvSpPr>
        <p:spPr>
          <a:xfrm>
            <a:off x="3154680" y="3401568"/>
            <a:ext cx="2834640" cy="64008"/>
          </a:xfrm>
          <a:prstGeom prst="rect">
            <a:avLst/>
          </a:prstGeom>
          <a:solidFill>
            <a:srgbClr val="7B2FBE"/>
          </a:solidFill>
          <a:ln/>
        </p:spPr>
      </p:sp>
      <p:sp>
        <p:nvSpPr>
          <p:cNvPr id="25" name="Text 23"/>
          <p:cNvSpPr/>
          <p:nvPr/>
        </p:nvSpPr>
        <p:spPr>
          <a:xfrm>
            <a:off x="3291840" y="3493008"/>
            <a:ext cx="260604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OS Info</a:t>
            </a:r>
            <a:endParaRPr lang="en-US" sz="1300" dirty="0"/>
          </a:p>
        </p:txBody>
      </p:sp>
      <p:sp>
        <p:nvSpPr>
          <p:cNvPr id="26" name="Text 24"/>
          <p:cNvSpPr/>
          <p:nvPr/>
        </p:nvSpPr>
        <p:spPr>
          <a:xfrm>
            <a:off x="3291840" y="3877056"/>
            <a:ext cx="2560320" cy="34747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Πλατφόρμα, Python version,</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architecture detection</a:t>
            </a:r>
            <a:endParaRPr lang="en-US" sz="1050" dirty="0"/>
          </a:p>
        </p:txBody>
      </p:sp>
      <p:sp>
        <p:nvSpPr>
          <p:cNvPr id="27" name="Shape 25"/>
          <p:cNvSpPr/>
          <p:nvPr/>
        </p:nvSpPr>
        <p:spPr>
          <a:xfrm>
            <a:off x="6126480" y="3401568"/>
            <a:ext cx="2834640" cy="91440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28" name="Shape 26"/>
          <p:cNvSpPr/>
          <p:nvPr/>
        </p:nvSpPr>
        <p:spPr>
          <a:xfrm>
            <a:off x="6126480" y="3401568"/>
            <a:ext cx="2834640" cy="64008"/>
          </a:xfrm>
          <a:prstGeom prst="rect">
            <a:avLst/>
          </a:prstGeom>
          <a:solidFill>
            <a:srgbClr val="00FF9D"/>
          </a:solidFill>
          <a:ln/>
        </p:spPr>
      </p:sp>
      <p:sp>
        <p:nvSpPr>
          <p:cNvPr id="29" name="Text 27"/>
          <p:cNvSpPr/>
          <p:nvPr/>
        </p:nvSpPr>
        <p:spPr>
          <a:xfrm>
            <a:off x="6263640" y="3493008"/>
            <a:ext cx="260604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CUDA Check</a:t>
            </a:r>
            <a:endParaRPr lang="en-US" sz="1300" dirty="0"/>
          </a:p>
        </p:txBody>
      </p:sp>
      <p:sp>
        <p:nvSpPr>
          <p:cNvPr id="30" name="Text 28"/>
          <p:cNvSpPr/>
          <p:nvPr/>
        </p:nvSpPr>
        <p:spPr>
          <a:xfrm>
            <a:off x="6263640" y="3877056"/>
            <a:ext cx="2560320" cy="34747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nvidia-smi output,</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CUDA availability</a:t>
            </a:r>
            <a:endParaRPr lang="en-US" sz="1050" dirty="0"/>
          </a:p>
        </p:txBody>
      </p:sp>
      <p:sp>
        <p:nvSpPr>
          <p:cNvPr id="31" name="Shape 29"/>
          <p:cNvSpPr/>
          <p:nvPr/>
        </p:nvSpPr>
        <p:spPr>
          <a:xfrm>
            <a:off x="182880" y="4425696"/>
            <a:ext cx="2834640" cy="91440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32" name="Shape 30"/>
          <p:cNvSpPr/>
          <p:nvPr/>
        </p:nvSpPr>
        <p:spPr>
          <a:xfrm>
            <a:off x="182880" y="4425696"/>
            <a:ext cx="2834640" cy="64008"/>
          </a:xfrm>
          <a:prstGeom prst="rect">
            <a:avLst/>
          </a:prstGeom>
          <a:solidFill>
            <a:srgbClr val="FF6B35"/>
          </a:solidFill>
          <a:ln/>
        </p:spPr>
      </p:sp>
      <p:sp>
        <p:nvSpPr>
          <p:cNvPr id="33" name="Text 31"/>
          <p:cNvSpPr/>
          <p:nvPr/>
        </p:nvSpPr>
        <p:spPr>
          <a:xfrm>
            <a:off x="320040" y="4517136"/>
            <a:ext cx="260604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Memory Map</a:t>
            </a:r>
            <a:endParaRPr lang="en-US" sz="1300" dirty="0"/>
          </a:p>
        </p:txBody>
      </p:sp>
      <p:sp>
        <p:nvSpPr>
          <p:cNvPr id="34" name="Text 32"/>
          <p:cNvSpPr/>
          <p:nvPr/>
        </p:nvSpPr>
        <p:spPr>
          <a:xfrm>
            <a:off x="320040" y="4901184"/>
            <a:ext cx="2560320" cy="34747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RAM peak usage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κατά training</a:t>
            </a:r>
            <a:endParaRPr lang="en-US" sz="1050" dirty="0"/>
          </a:p>
        </p:txBody>
      </p:sp>
      <p:sp>
        <p:nvSpPr>
          <p:cNvPr id="35" name="Shape 33"/>
          <p:cNvSpPr/>
          <p:nvPr/>
        </p:nvSpPr>
        <p:spPr>
          <a:xfrm>
            <a:off x="3154680" y="4425696"/>
            <a:ext cx="2834640" cy="91440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36" name="Shape 34"/>
          <p:cNvSpPr/>
          <p:nvPr/>
        </p:nvSpPr>
        <p:spPr>
          <a:xfrm>
            <a:off x="3154680" y="4425696"/>
            <a:ext cx="2834640" cy="64008"/>
          </a:xfrm>
          <a:prstGeom prst="rect">
            <a:avLst/>
          </a:prstGeom>
          <a:solidFill>
            <a:srgbClr val="FF2D78"/>
          </a:solidFill>
          <a:ln/>
        </p:spPr>
      </p:sp>
      <p:sp>
        <p:nvSpPr>
          <p:cNvPr id="37" name="Text 35"/>
          <p:cNvSpPr/>
          <p:nvPr/>
        </p:nvSpPr>
        <p:spPr>
          <a:xfrm>
            <a:off x="3291840" y="4517136"/>
            <a:ext cx="260604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GPU Temp</a:t>
            </a:r>
            <a:endParaRPr lang="en-US" sz="1300" dirty="0"/>
          </a:p>
        </p:txBody>
      </p:sp>
      <p:sp>
        <p:nvSpPr>
          <p:cNvPr id="38" name="Text 36"/>
          <p:cNvSpPr/>
          <p:nvPr/>
        </p:nvSpPr>
        <p:spPr>
          <a:xfrm>
            <a:off x="3291840" y="4901184"/>
            <a:ext cx="2560320" cy="34747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Temperature &amp; power</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monitoring (όπου υποστηρίζεται)</a:t>
            </a:r>
            <a:endParaRPr lang="en-US" sz="1050" dirty="0"/>
          </a:p>
        </p:txBody>
      </p:sp>
      <p:sp>
        <p:nvSpPr>
          <p:cNvPr id="39" name="Shape 37"/>
          <p:cNvSpPr/>
          <p:nvPr/>
        </p:nvSpPr>
        <p:spPr>
          <a:xfrm>
            <a:off x="6126480" y="4425696"/>
            <a:ext cx="2834640" cy="914400"/>
          </a:xfrm>
          <a:prstGeom prst="rect">
            <a:avLst/>
          </a:prstGeom>
          <a:solidFill>
            <a:srgbClr val="0D1F3C"/>
          </a:solidFill>
          <a:ln w="19050">
            <a:solidFill>
              <a:srgbClr val="FFD700"/>
            </a:solidFill>
            <a:prstDash val="solid"/>
          </a:ln>
          <a:effectLst>
            <a:outerShdw sx="100000" sy="100000" kx="0" ky="0" algn="bl" rotWithShape="0" blurRad="127000" dist="38100" dir="8100000">
              <a:srgbClr val="000000">
                <a:alpha val="40000"/>
              </a:srgbClr>
            </a:outerShdw>
          </a:effectLst>
        </p:spPr>
      </p:sp>
      <p:sp>
        <p:nvSpPr>
          <p:cNvPr id="40" name="Shape 38"/>
          <p:cNvSpPr/>
          <p:nvPr/>
        </p:nvSpPr>
        <p:spPr>
          <a:xfrm>
            <a:off x="6126480" y="4425696"/>
            <a:ext cx="2834640" cy="64008"/>
          </a:xfrm>
          <a:prstGeom prst="rect">
            <a:avLst/>
          </a:prstGeom>
          <a:solidFill>
            <a:srgbClr val="FFD700"/>
          </a:solidFill>
          <a:ln/>
        </p:spPr>
      </p:sp>
      <p:sp>
        <p:nvSpPr>
          <p:cNvPr id="41" name="Text 39"/>
          <p:cNvSpPr/>
          <p:nvPr/>
        </p:nvSpPr>
        <p:spPr>
          <a:xfrm>
            <a:off x="6263640" y="4517136"/>
            <a:ext cx="2606040" cy="320040"/>
          </a:xfrm>
          <a:prstGeom prst="rect">
            <a:avLst/>
          </a:prstGeom>
          <a:noFill/>
          <a:ln/>
        </p:spPr>
        <p:txBody>
          <a:bodyPr wrap="square" lIns="0" tIns="0" rIns="0" bIns="0"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Compat Report</a:t>
            </a:r>
            <a:endParaRPr lang="en-US" sz="1300" dirty="0"/>
          </a:p>
        </p:txBody>
      </p:sp>
      <p:sp>
        <p:nvSpPr>
          <p:cNvPr id="42" name="Text 40"/>
          <p:cNvSpPr/>
          <p:nvPr/>
        </p:nvSpPr>
        <p:spPr>
          <a:xfrm>
            <a:off x="6263640" y="4901184"/>
            <a:ext cx="2560320" cy="34747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Αυτόματος έλεγχος</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συμβατότητας βιβλιοθηκών</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2D78"/>
            </a:solidFill>
            <a:prstDash val="solid"/>
          </a:ln>
        </p:spPr>
      </p:sp>
      <p:sp>
        <p:nvSpPr>
          <p:cNvPr id="3" name="Shape 1"/>
          <p:cNvSpPr/>
          <p:nvPr/>
        </p:nvSpPr>
        <p:spPr>
          <a:xfrm>
            <a:off x="0" y="0"/>
            <a:ext cx="73152" cy="822960"/>
          </a:xfrm>
          <a:prstGeom prst="rect">
            <a:avLst/>
          </a:prstGeom>
          <a:solidFill>
            <a:srgbClr val="FF2D78"/>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21 — Crash Logs &amp; Error Handling</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2D78"/>
                </a:solidFill>
                <a:latin typeface="Calibri" pitchFamily="34" charset="0"/>
                <a:ea typeface="Calibri" pitchFamily="34" charset="-122"/>
                <a:cs typeface="Calibri" pitchFamily="34" charset="-120"/>
              </a:rPr>
              <a:t>Ασφαλής Διαχείριση Σφαλμάτων</a:t>
            </a:r>
            <a:endParaRPr lang="en-US" sz="1100" dirty="0"/>
          </a:p>
        </p:txBody>
      </p:sp>
      <p:pic>
        <p:nvPicPr>
          <p:cNvPr id="6" name="Image 0" descr="preencoded.png">    </p:cNvPr>
          <p:cNvPicPr>
            <a:picLocks noChangeAspect="1"/>
          </p:cNvPicPr>
          <p:nvPr/>
        </p:nvPicPr>
        <p:blipFill>
          <a:blip r:embed="rId1"/>
          <a:stretch>
            <a:fillRect/>
          </a:stretch>
        </p:blipFill>
        <p:spPr>
          <a:xfrm>
            <a:off x="274320" y="960120"/>
            <a:ext cx="502920" cy="502920"/>
          </a:xfrm>
          <a:prstGeom prst="rect">
            <a:avLst/>
          </a:prstGeom>
        </p:spPr>
      </p:pic>
      <p:sp>
        <p:nvSpPr>
          <p:cNvPr id="7" name="Text 4"/>
          <p:cNvSpPr/>
          <p:nvPr/>
        </p:nvSpPr>
        <p:spPr>
          <a:xfrm>
            <a:off x="868680" y="1005840"/>
            <a:ext cx="8046720" cy="365760"/>
          </a:xfrm>
          <a:prstGeom prst="rect">
            <a:avLst/>
          </a:prstGeom>
          <a:noFill/>
          <a:ln/>
        </p:spPr>
        <p:txBody>
          <a:bodyPr wrap="square" lIns="0" tIns="0" rIns="0" bIns="0" rtlCol="0" anchor="ctr"/>
          <a:lstStyle/>
          <a:p>
            <a:pPr indent="0" marL="0">
              <a:buNone/>
            </a:pPr>
            <a:r>
              <a:rPr lang="en-US" sz="1200" dirty="0">
                <a:solidFill>
                  <a:srgbClr val="AABBCC"/>
                </a:solidFill>
                <a:latin typeface="Calibri" pitchFamily="34" charset="0"/>
                <a:ea typeface="Calibri" pitchFamily="34" charset="-122"/>
                <a:cs typeface="Calibri" pitchFamily="34" charset="-120"/>
              </a:rPr>
              <a:t>Το σύστημα χρησιμοποιεί πολυεπίπεδη αντιμετώπιση σφαλμάτων για zero data loss:</a:t>
            </a:r>
            <a:endParaRPr lang="en-US" sz="1200" dirty="0"/>
          </a:p>
        </p:txBody>
      </p:sp>
      <p:sp>
        <p:nvSpPr>
          <p:cNvPr id="8" name="Shape 5"/>
          <p:cNvSpPr/>
          <p:nvPr/>
        </p:nvSpPr>
        <p:spPr>
          <a:xfrm>
            <a:off x="182880" y="1508760"/>
            <a:ext cx="8778240" cy="566928"/>
          </a:xfrm>
          <a:prstGeom prst="rect">
            <a:avLst/>
          </a:prstGeom>
          <a:solidFill>
            <a:srgbClr val="0D1F3C"/>
          </a:solidFill>
          <a:ln w="19050">
            <a:solidFill>
              <a:srgbClr val="FF2D78"/>
            </a:solidFill>
            <a:prstDash val="solid"/>
          </a:ln>
        </p:spPr>
      </p:sp>
      <p:sp>
        <p:nvSpPr>
          <p:cNvPr id="9" name="Shape 6"/>
          <p:cNvSpPr/>
          <p:nvPr/>
        </p:nvSpPr>
        <p:spPr>
          <a:xfrm>
            <a:off x="256032" y="1627632"/>
            <a:ext cx="320040" cy="320040"/>
          </a:xfrm>
          <a:prstGeom prst="ellipse">
            <a:avLst/>
          </a:prstGeom>
          <a:solidFill>
            <a:srgbClr val="FF2D78"/>
          </a:solidFill>
          <a:ln/>
        </p:spPr>
      </p:sp>
      <p:sp>
        <p:nvSpPr>
          <p:cNvPr id="10" name="Text 7"/>
          <p:cNvSpPr/>
          <p:nvPr/>
        </p:nvSpPr>
        <p:spPr>
          <a:xfrm>
            <a:off x="256032" y="1627632"/>
            <a:ext cx="320040" cy="320040"/>
          </a:xfrm>
          <a:prstGeom prst="rect">
            <a:avLst/>
          </a:prstGeom>
          <a:noFill/>
          <a:ln/>
        </p:spPr>
        <p:txBody>
          <a:bodyPr wrap="square" lIns="0" tIns="0" rIns="0" bIns="0" rtlCol="0" anchor="ctr"/>
          <a:lstStyle/>
          <a:p>
            <a:pPr algn="ctr" indent="0" marL="0">
              <a:buNone/>
            </a:pPr>
            <a:r>
              <a:rPr lang="en-US" sz="1200" b="1" dirty="0">
                <a:solidFill>
                  <a:srgbClr val="050D1A"/>
                </a:solidFill>
                <a:latin typeface="Consolas" pitchFamily="34" charset="0"/>
                <a:ea typeface="Consolas" pitchFamily="34" charset="-122"/>
                <a:cs typeface="Consolas" pitchFamily="34" charset="-120"/>
              </a:rPr>
              <a:t>1</a:t>
            </a:r>
            <a:endParaRPr lang="en-US" sz="1200" dirty="0"/>
          </a:p>
        </p:txBody>
      </p:sp>
      <p:sp>
        <p:nvSpPr>
          <p:cNvPr id="11" name="Text 8"/>
          <p:cNvSpPr/>
          <p:nvPr/>
        </p:nvSpPr>
        <p:spPr>
          <a:xfrm>
            <a:off x="685800" y="1545336"/>
            <a:ext cx="2286000" cy="256032"/>
          </a:xfrm>
          <a:prstGeom prst="rect">
            <a:avLst/>
          </a:prstGeom>
          <a:noFill/>
          <a:ln/>
        </p:spPr>
        <p:txBody>
          <a:bodyPr wrap="square" lIns="0" tIns="0" rIns="0" bIns="0" rtlCol="0" anchor="ctr"/>
          <a:lstStyle/>
          <a:p>
            <a:pPr indent="0" marL="0">
              <a:buNone/>
            </a:pPr>
            <a:r>
              <a:rPr lang="en-US" sz="1100" b="1" dirty="0">
                <a:solidFill>
                  <a:srgbClr val="FF2D78"/>
                </a:solidFill>
                <a:latin typeface="Consolas" pitchFamily="34" charset="0"/>
                <a:ea typeface="Consolas" pitchFamily="34" charset="-122"/>
                <a:cs typeface="Consolas" pitchFamily="34" charset="-120"/>
              </a:rPr>
              <a:t>faulthandler</a:t>
            </a:r>
            <a:endParaRPr lang="en-US" sz="1100" dirty="0"/>
          </a:p>
        </p:txBody>
      </p:sp>
      <p:sp>
        <p:nvSpPr>
          <p:cNvPr id="12" name="Text 9"/>
          <p:cNvSpPr/>
          <p:nvPr/>
        </p:nvSpPr>
        <p:spPr>
          <a:xfrm>
            <a:off x="685800" y="1801368"/>
            <a:ext cx="8138160" cy="228600"/>
          </a:xfrm>
          <a:prstGeom prst="rect">
            <a:avLst/>
          </a:prstGeom>
          <a:noFill/>
          <a:ln/>
        </p:spPr>
        <p:txBody>
          <a:bodyPr wrap="square" lIns="0" tIns="0" rIns="0" bIns="0" rtlCol="0" anchor="ctr"/>
          <a:lstStyle/>
          <a:p>
            <a:pPr indent="0" marL="0">
              <a:buNone/>
            </a:pPr>
            <a:r>
              <a:rPr lang="en-US" sz="950" dirty="0">
                <a:solidFill>
                  <a:srgbClr val="AABBCC"/>
                </a:solidFill>
                <a:latin typeface="Calibri" pitchFamily="34" charset="0"/>
                <a:ea typeface="Calibri" pitchFamily="34" charset="-122"/>
                <a:cs typeface="Calibri" pitchFamily="34" charset="-120"/>
              </a:rPr>
              <a:t>Python built-in για C-level crashes (segfaults, SIGSEGV). Ενεργοποιείται αυτόματα κατά την έναρξη.</a:t>
            </a:r>
            <a:endParaRPr lang="en-US" sz="950" dirty="0"/>
          </a:p>
        </p:txBody>
      </p:sp>
      <p:sp>
        <p:nvSpPr>
          <p:cNvPr id="13" name="Shape 10"/>
          <p:cNvSpPr/>
          <p:nvPr/>
        </p:nvSpPr>
        <p:spPr>
          <a:xfrm>
            <a:off x="182880" y="2139696"/>
            <a:ext cx="8778240" cy="566928"/>
          </a:xfrm>
          <a:prstGeom prst="rect">
            <a:avLst/>
          </a:prstGeom>
          <a:solidFill>
            <a:srgbClr val="0D1F3C"/>
          </a:solidFill>
          <a:ln w="19050">
            <a:solidFill>
              <a:srgbClr val="00D4FF"/>
            </a:solidFill>
            <a:prstDash val="solid"/>
          </a:ln>
        </p:spPr>
      </p:sp>
      <p:sp>
        <p:nvSpPr>
          <p:cNvPr id="14" name="Shape 11"/>
          <p:cNvSpPr/>
          <p:nvPr/>
        </p:nvSpPr>
        <p:spPr>
          <a:xfrm>
            <a:off x="256032" y="2258568"/>
            <a:ext cx="320040" cy="320040"/>
          </a:xfrm>
          <a:prstGeom prst="ellipse">
            <a:avLst/>
          </a:prstGeom>
          <a:solidFill>
            <a:srgbClr val="00D4FF"/>
          </a:solidFill>
          <a:ln/>
        </p:spPr>
      </p:sp>
      <p:sp>
        <p:nvSpPr>
          <p:cNvPr id="15" name="Text 12"/>
          <p:cNvSpPr/>
          <p:nvPr/>
        </p:nvSpPr>
        <p:spPr>
          <a:xfrm>
            <a:off x="256032" y="2258568"/>
            <a:ext cx="320040" cy="320040"/>
          </a:xfrm>
          <a:prstGeom prst="rect">
            <a:avLst/>
          </a:prstGeom>
          <a:noFill/>
          <a:ln/>
        </p:spPr>
        <p:txBody>
          <a:bodyPr wrap="square" lIns="0" tIns="0" rIns="0" bIns="0" rtlCol="0" anchor="ctr"/>
          <a:lstStyle/>
          <a:p>
            <a:pPr algn="ctr" indent="0" marL="0">
              <a:buNone/>
            </a:pPr>
            <a:r>
              <a:rPr lang="en-US" sz="1200" b="1" dirty="0">
                <a:solidFill>
                  <a:srgbClr val="050D1A"/>
                </a:solidFill>
                <a:latin typeface="Consolas" pitchFamily="34" charset="0"/>
                <a:ea typeface="Consolas" pitchFamily="34" charset="-122"/>
                <a:cs typeface="Consolas" pitchFamily="34" charset="-120"/>
              </a:rPr>
              <a:t>2</a:t>
            </a:r>
            <a:endParaRPr lang="en-US" sz="1200" dirty="0"/>
          </a:p>
        </p:txBody>
      </p:sp>
      <p:sp>
        <p:nvSpPr>
          <p:cNvPr id="16" name="Text 13"/>
          <p:cNvSpPr/>
          <p:nvPr/>
        </p:nvSpPr>
        <p:spPr>
          <a:xfrm>
            <a:off x="685800" y="2176272"/>
            <a:ext cx="2286000" cy="25603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safe_log_error()</a:t>
            </a:r>
            <a:endParaRPr lang="en-US" sz="1100" dirty="0"/>
          </a:p>
        </p:txBody>
      </p:sp>
      <p:sp>
        <p:nvSpPr>
          <p:cNvPr id="17" name="Text 14"/>
          <p:cNvSpPr/>
          <p:nvPr/>
        </p:nvSpPr>
        <p:spPr>
          <a:xfrm>
            <a:off x="685800" y="2432304"/>
            <a:ext cx="8138160" cy="228600"/>
          </a:xfrm>
          <a:prstGeom prst="rect">
            <a:avLst/>
          </a:prstGeom>
          <a:noFill/>
          <a:ln/>
        </p:spPr>
        <p:txBody>
          <a:bodyPr wrap="square" lIns="0" tIns="0" rIns="0" bIns="0" rtlCol="0" anchor="ctr"/>
          <a:lstStyle/>
          <a:p>
            <a:pPr indent="0" marL="0">
              <a:buNone/>
            </a:pPr>
            <a:r>
              <a:rPr lang="en-US" sz="950" dirty="0">
                <a:solidFill>
                  <a:srgbClr val="AABBCC"/>
                </a:solidFill>
                <a:latin typeface="Calibri" pitchFamily="34" charset="0"/>
                <a:ea typeface="Calibri" pitchFamily="34" charset="-122"/>
                <a:cs typeface="Calibri" pitchFamily="34" charset="-120"/>
              </a:rPr>
              <a:t>Custom wrapper που καταγράφει σφάλματα με traceback, επίπεδο severity και optional crash_log=True trigger.</a:t>
            </a:r>
            <a:endParaRPr lang="en-US" sz="950" dirty="0"/>
          </a:p>
        </p:txBody>
      </p:sp>
      <p:sp>
        <p:nvSpPr>
          <p:cNvPr id="18" name="Shape 15"/>
          <p:cNvSpPr/>
          <p:nvPr/>
        </p:nvSpPr>
        <p:spPr>
          <a:xfrm>
            <a:off x="182880" y="2770632"/>
            <a:ext cx="8778240" cy="566928"/>
          </a:xfrm>
          <a:prstGeom prst="rect">
            <a:avLst/>
          </a:prstGeom>
          <a:solidFill>
            <a:srgbClr val="0D1F3C"/>
          </a:solidFill>
          <a:ln w="19050">
            <a:solidFill>
              <a:srgbClr val="7B2FBE"/>
            </a:solidFill>
            <a:prstDash val="solid"/>
          </a:ln>
        </p:spPr>
      </p:sp>
      <p:sp>
        <p:nvSpPr>
          <p:cNvPr id="19" name="Shape 16"/>
          <p:cNvSpPr/>
          <p:nvPr/>
        </p:nvSpPr>
        <p:spPr>
          <a:xfrm>
            <a:off x="256032" y="2889504"/>
            <a:ext cx="320040" cy="320040"/>
          </a:xfrm>
          <a:prstGeom prst="ellipse">
            <a:avLst/>
          </a:prstGeom>
          <a:solidFill>
            <a:srgbClr val="7B2FBE"/>
          </a:solidFill>
          <a:ln/>
        </p:spPr>
      </p:sp>
      <p:sp>
        <p:nvSpPr>
          <p:cNvPr id="20" name="Text 17"/>
          <p:cNvSpPr/>
          <p:nvPr/>
        </p:nvSpPr>
        <p:spPr>
          <a:xfrm>
            <a:off x="256032" y="2889504"/>
            <a:ext cx="320040" cy="320040"/>
          </a:xfrm>
          <a:prstGeom prst="rect">
            <a:avLst/>
          </a:prstGeom>
          <a:noFill/>
          <a:ln/>
        </p:spPr>
        <p:txBody>
          <a:bodyPr wrap="square" lIns="0" tIns="0" rIns="0" bIns="0" rtlCol="0" anchor="ctr"/>
          <a:lstStyle/>
          <a:p>
            <a:pPr algn="ctr" indent="0" marL="0">
              <a:buNone/>
            </a:pPr>
            <a:r>
              <a:rPr lang="en-US" sz="1200" b="1" dirty="0">
                <a:solidFill>
                  <a:srgbClr val="050D1A"/>
                </a:solidFill>
                <a:latin typeface="Consolas" pitchFamily="34" charset="0"/>
                <a:ea typeface="Consolas" pitchFamily="34" charset="-122"/>
                <a:cs typeface="Consolas" pitchFamily="34" charset="-120"/>
              </a:rPr>
              <a:t>3</a:t>
            </a:r>
            <a:endParaRPr lang="en-US" sz="1200" dirty="0"/>
          </a:p>
        </p:txBody>
      </p:sp>
      <p:sp>
        <p:nvSpPr>
          <p:cNvPr id="21" name="Text 18"/>
          <p:cNvSpPr/>
          <p:nvPr/>
        </p:nvSpPr>
        <p:spPr>
          <a:xfrm>
            <a:off x="685800" y="2807208"/>
            <a:ext cx="2286000" cy="256032"/>
          </a:xfrm>
          <a:prstGeom prst="rect">
            <a:avLst/>
          </a:prstGeom>
          <a:noFill/>
          <a:ln/>
        </p:spPr>
        <p:txBody>
          <a:bodyPr wrap="square" lIns="0" tIns="0" rIns="0" bIns="0" rtlCol="0" anchor="ctr"/>
          <a:lstStyle/>
          <a:p>
            <a:pPr indent="0" marL="0">
              <a:buNone/>
            </a:pPr>
            <a:r>
              <a:rPr lang="en-US" sz="1100" b="1" dirty="0">
                <a:solidFill>
                  <a:srgbClr val="7B2FBE"/>
                </a:solidFill>
                <a:latin typeface="Consolas" pitchFamily="34" charset="0"/>
                <a:ea typeface="Consolas" pitchFamily="34" charset="-122"/>
                <a:cs typeface="Consolas" pitchFamily="34" charset="-120"/>
              </a:rPr>
              <a:t>Crash Log Files</a:t>
            </a:r>
            <a:endParaRPr lang="en-US" sz="1100" dirty="0"/>
          </a:p>
        </p:txBody>
      </p:sp>
      <p:sp>
        <p:nvSpPr>
          <p:cNvPr id="22" name="Text 19"/>
          <p:cNvSpPr/>
          <p:nvPr/>
        </p:nvSpPr>
        <p:spPr>
          <a:xfrm>
            <a:off x="685800" y="3063240"/>
            <a:ext cx="8138160" cy="228600"/>
          </a:xfrm>
          <a:prstGeom prst="rect">
            <a:avLst/>
          </a:prstGeom>
          <a:noFill/>
          <a:ln/>
        </p:spPr>
        <p:txBody>
          <a:bodyPr wrap="square" lIns="0" tIns="0" rIns="0" bIns="0" rtlCol="0" anchor="ctr"/>
          <a:lstStyle/>
          <a:p>
            <a:pPr indent="0" marL="0">
              <a:buNone/>
            </a:pPr>
            <a:r>
              <a:rPr lang="en-US" sz="950" dirty="0">
                <a:solidFill>
                  <a:srgbClr val="AABBCC"/>
                </a:solidFill>
                <a:latin typeface="Calibri" pitchFamily="34" charset="0"/>
                <a:ea typeface="Calibri" pitchFamily="34" charset="-122"/>
                <a:cs typeface="Calibri" pitchFamily="34" charset="-120"/>
              </a:rPr>
              <a:t>Αρχεία crash_[tag]_[timestamp].log αποθηκεύονται στο ~/Models_Manager_Pro/Crash_Logs/ με πλήρη thread dump.</a:t>
            </a:r>
            <a:endParaRPr lang="en-US" sz="950" dirty="0"/>
          </a:p>
        </p:txBody>
      </p:sp>
      <p:sp>
        <p:nvSpPr>
          <p:cNvPr id="23" name="Shape 20"/>
          <p:cNvSpPr/>
          <p:nvPr/>
        </p:nvSpPr>
        <p:spPr>
          <a:xfrm>
            <a:off x="182880" y="3401568"/>
            <a:ext cx="8778240" cy="566928"/>
          </a:xfrm>
          <a:prstGeom prst="rect">
            <a:avLst/>
          </a:prstGeom>
          <a:solidFill>
            <a:srgbClr val="0D1F3C"/>
          </a:solidFill>
          <a:ln w="19050">
            <a:solidFill>
              <a:srgbClr val="00FF9D"/>
            </a:solidFill>
            <a:prstDash val="solid"/>
          </a:ln>
        </p:spPr>
      </p:sp>
      <p:sp>
        <p:nvSpPr>
          <p:cNvPr id="24" name="Shape 21"/>
          <p:cNvSpPr/>
          <p:nvPr/>
        </p:nvSpPr>
        <p:spPr>
          <a:xfrm>
            <a:off x="256032" y="3520440"/>
            <a:ext cx="320040" cy="320040"/>
          </a:xfrm>
          <a:prstGeom prst="ellipse">
            <a:avLst/>
          </a:prstGeom>
          <a:solidFill>
            <a:srgbClr val="00FF9D"/>
          </a:solidFill>
          <a:ln/>
        </p:spPr>
      </p:sp>
      <p:sp>
        <p:nvSpPr>
          <p:cNvPr id="25" name="Text 22"/>
          <p:cNvSpPr/>
          <p:nvPr/>
        </p:nvSpPr>
        <p:spPr>
          <a:xfrm>
            <a:off x="256032" y="3520440"/>
            <a:ext cx="320040" cy="320040"/>
          </a:xfrm>
          <a:prstGeom prst="rect">
            <a:avLst/>
          </a:prstGeom>
          <a:noFill/>
          <a:ln/>
        </p:spPr>
        <p:txBody>
          <a:bodyPr wrap="square" lIns="0" tIns="0" rIns="0" bIns="0" rtlCol="0" anchor="ctr"/>
          <a:lstStyle/>
          <a:p>
            <a:pPr algn="ctr" indent="0" marL="0">
              <a:buNone/>
            </a:pPr>
            <a:r>
              <a:rPr lang="en-US" sz="1200" b="1" dirty="0">
                <a:solidFill>
                  <a:srgbClr val="050D1A"/>
                </a:solidFill>
                <a:latin typeface="Consolas" pitchFamily="34" charset="0"/>
                <a:ea typeface="Consolas" pitchFamily="34" charset="-122"/>
                <a:cs typeface="Consolas" pitchFamily="34" charset="-120"/>
              </a:rPr>
              <a:t>4</a:t>
            </a:r>
            <a:endParaRPr lang="en-US" sz="1200" dirty="0"/>
          </a:p>
        </p:txBody>
      </p:sp>
      <p:sp>
        <p:nvSpPr>
          <p:cNvPr id="26" name="Text 23"/>
          <p:cNvSpPr/>
          <p:nvPr/>
        </p:nvSpPr>
        <p:spPr>
          <a:xfrm>
            <a:off x="685800" y="3438144"/>
            <a:ext cx="2286000" cy="256032"/>
          </a:xfrm>
          <a:prstGeom prst="rect">
            <a:avLst/>
          </a:prstGeom>
          <a:noFill/>
          <a:ln/>
        </p:spPr>
        <p:txBody>
          <a:bodyPr wrap="square" lIns="0" tIns="0" rIns="0" bIns="0" rtlCol="0" anchor="ctr"/>
          <a:lstStyle/>
          <a:p>
            <a:pPr indent="0" marL="0">
              <a:buNone/>
            </a:pPr>
            <a:r>
              <a:rPr lang="en-US" sz="1100" b="1" dirty="0">
                <a:solidFill>
                  <a:srgbClr val="00FF9D"/>
                </a:solidFill>
                <a:latin typeface="Consolas" pitchFamily="34" charset="0"/>
                <a:ea typeface="Consolas" pitchFamily="34" charset="-122"/>
                <a:cs typeface="Consolas" pitchFamily="34" charset="-120"/>
              </a:rPr>
              <a:t>safe_log_once()</a:t>
            </a:r>
            <a:endParaRPr lang="en-US" sz="1100" dirty="0"/>
          </a:p>
        </p:txBody>
      </p:sp>
      <p:sp>
        <p:nvSpPr>
          <p:cNvPr id="27" name="Text 24"/>
          <p:cNvSpPr/>
          <p:nvPr/>
        </p:nvSpPr>
        <p:spPr>
          <a:xfrm>
            <a:off x="685800" y="3694176"/>
            <a:ext cx="8138160" cy="228600"/>
          </a:xfrm>
          <a:prstGeom prst="rect">
            <a:avLst/>
          </a:prstGeom>
          <a:noFill/>
          <a:ln/>
        </p:spPr>
        <p:txBody>
          <a:bodyPr wrap="square" lIns="0" tIns="0" rIns="0" bIns="0" rtlCol="0" anchor="ctr"/>
          <a:lstStyle/>
          <a:p>
            <a:pPr indent="0" marL="0">
              <a:buNone/>
            </a:pPr>
            <a:r>
              <a:rPr lang="en-US" sz="950" dirty="0">
                <a:solidFill>
                  <a:srgbClr val="AABBCC"/>
                </a:solidFill>
                <a:latin typeface="Calibri" pitchFamily="34" charset="0"/>
                <a:ea typeface="Calibri" pitchFamily="34" charset="-122"/>
                <a:cs typeface="Calibri" pitchFamily="34" charset="-120"/>
              </a:rPr>
              <a:t>Καταστέλλει επαναλαμβανόμενα warnings (μόνο πρώτη εμφάνιση) με group tracking για καθαρά logs.</a:t>
            </a:r>
            <a:endParaRPr lang="en-US" sz="950" dirty="0"/>
          </a:p>
        </p:txBody>
      </p:sp>
      <p:sp>
        <p:nvSpPr>
          <p:cNvPr id="28" name="Shape 25"/>
          <p:cNvSpPr/>
          <p:nvPr/>
        </p:nvSpPr>
        <p:spPr>
          <a:xfrm>
            <a:off x="182880" y="4032504"/>
            <a:ext cx="8778240" cy="566928"/>
          </a:xfrm>
          <a:prstGeom prst="rect">
            <a:avLst/>
          </a:prstGeom>
          <a:solidFill>
            <a:srgbClr val="0D1F3C"/>
          </a:solidFill>
          <a:ln w="19050">
            <a:solidFill>
              <a:srgbClr val="FF6B35"/>
            </a:solidFill>
            <a:prstDash val="solid"/>
          </a:ln>
        </p:spPr>
      </p:sp>
      <p:sp>
        <p:nvSpPr>
          <p:cNvPr id="29" name="Shape 26"/>
          <p:cNvSpPr/>
          <p:nvPr/>
        </p:nvSpPr>
        <p:spPr>
          <a:xfrm>
            <a:off x="256032" y="4151376"/>
            <a:ext cx="320040" cy="320040"/>
          </a:xfrm>
          <a:prstGeom prst="ellipse">
            <a:avLst/>
          </a:prstGeom>
          <a:solidFill>
            <a:srgbClr val="FF6B35"/>
          </a:solidFill>
          <a:ln/>
        </p:spPr>
      </p:sp>
      <p:sp>
        <p:nvSpPr>
          <p:cNvPr id="30" name="Text 27"/>
          <p:cNvSpPr/>
          <p:nvPr/>
        </p:nvSpPr>
        <p:spPr>
          <a:xfrm>
            <a:off x="256032" y="4151376"/>
            <a:ext cx="320040" cy="320040"/>
          </a:xfrm>
          <a:prstGeom prst="rect">
            <a:avLst/>
          </a:prstGeom>
          <a:noFill/>
          <a:ln/>
        </p:spPr>
        <p:txBody>
          <a:bodyPr wrap="square" lIns="0" tIns="0" rIns="0" bIns="0" rtlCol="0" anchor="ctr"/>
          <a:lstStyle/>
          <a:p>
            <a:pPr algn="ctr" indent="0" marL="0">
              <a:buNone/>
            </a:pPr>
            <a:r>
              <a:rPr lang="en-US" sz="1200" b="1" dirty="0">
                <a:solidFill>
                  <a:srgbClr val="050D1A"/>
                </a:solidFill>
                <a:latin typeface="Consolas" pitchFamily="34" charset="0"/>
                <a:ea typeface="Consolas" pitchFamily="34" charset="-122"/>
                <a:cs typeface="Consolas" pitchFamily="34" charset="-120"/>
              </a:rPr>
              <a:t>5</a:t>
            </a:r>
            <a:endParaRPr lang="en-US" sz="1200" dirty="0"/>
          </a:p>
        </p:txBody>
      </p:sp>
      <p:sp>
        <p:nvSpPr>
          <p:cNvPr id="31" name="Text 28"/>
          <p:cNvSpPr/>
          <p:nvPr/>
        </p:nvSpPr>
        <p:spPr>
          <a:xfrm>
            <a:off x="685800" y="4069080"/>
            <a:ext cx="2286000" cy="256032"/>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Thread Dump</a:t>
            </a:r>
            <a:endParaRPr lang="en-US" sz="1100" dirty="0"/>
          </a:p>
        </p:txBody>
      </p:sp>
      <p:sp>
        <p:nvSpPr>
          <p:cNvPr id="32" name="Text 29"/>
          <p:cNvSpPr/>
          <p:nvPr/>
        </p:nvSpPr>
        <p:spPr>
          <a:xfrm>
            <a:off x="685800" y="4325112"/>
            <a:ext cx="8138160" cy="228600"/>
          </a:xfrm>
          <a:prstGeom prst="rect">
            <a:avLst/>
          </a:prstGeom>
          <a:noFill/>
          <a:ln/>
        </p:spPr>
        <p:txBody>
          <a:bodyPr wrap="square" lIns="0" tIns="0" rIns="0" bIns="0" rtlCol="0" anchor="ctr"/>
          <a:lstStyle/>
          <a:p>
            <a:pPr indent="0" marL="0">
              <a:buNone/>
            </a:pPr>
            <a:r>
              <a:rPr lang="en-US" sz="950" dirty="0">
                <a:solidFill>
                  <a:srgbClr val="AABBCC"/>
                </a:solidFill>
                <a:latin typeface="Calibri" pitchFamily="34" charset="0"/>
                <a:ea typeface="Calibri" pitchFamily="34" charset="-122"/>
                <a:cs typeface="Calibri" pitchFamily="34" charset="-120"/>
              </a:rPr>
              <a:t>sys._current_frames() + threading.enumerate() για snapshot όλων των threads κατά το crash.</a:t>
            </a:r>
            <a:endParaRPr lang="en-US" sz="950" dirty="0"/>
          </a:p>
        </p:txBody>
      </p:sp>
      <p:sp>
        <p:nvSpPr>
          <p:cNvPr id="33" name="Shape 30"/>
          <p:cNvSpPr/>
          <p:nvPr/>
        </p:nvSpPr>
        <p:spPr>
          <a:xfrm>
            <a:off x="182880" y="4663440"/>
            <a:ext cx="8778240" cy="347472"/>
          </a:xfrm>
          <a:prstGeom prst="rect">
            <a:avLst/>
          </a:prstGeom>
          <a:solidFill>
            <a:srgbClr val="001020"/>
          </a:solidFill>
          <a:ln w="12700">
            <a:solidFill>
              <a:srgbClr val="FF2D78"/>
            </a:solidFill>
            <a:prstDash val="solid"/>
          </a:ln>
        </p:spPr>
      </p:sp>
      <p:sp>
        <p:nvSpPr>
          <p:cNvPr id="34" name="Text 31"/>
          <p:cNvSpPr/>
          <p:nvPr/>
        </p:nvSpPr>
        <p:spPr>
          <a:xfrm>
            <a:off x="320040" y="4709160"/>
            <a:ext cx="8412480" cy="256032"/>
          </a:xfrm>
          <a:prstGeom prst="rect">
            <a:avLst/>
          </a:prstGeom>
          <a:noFill/>
          <a:ln/>
        </p:spPr>
        <p:txBody>
          <a:bodyPr wrap="square" lIns="0" tIns="0" rIns="0" bIns="0" rtlCol="0" anchor="ctr"/>
          <a:lstStyle/>
          <a:p>
            <a:pPr indent="0" marL="0">
              <a:buNone/>
            </a:pPr>
            <a:r>
              <a:rPr lang="en-US" sz="950" dirty="0">
                <a:solidFill>
                  <a:srgbClr val="FF2D78"/>
                </a:solidFill>
                <a:latin typeface="Consolas" pitchFamily="34" charset="0"/>
                <a:ea typeface="Consolas" pitchFamily="34" charset="-122"/>
                <a:cs typeface="Consolas" pitchFamily="34" charset="-120"/>
              </a:rPr>
              <a:t>📁 ~/Models_Manager_Pro/Crash_Logs/crash_inference_20260315_143025.log</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FF9D"/>
            </a:solidFill>
            <a:prstDash val="solid"/>
          </a:ln>
        </p:spPr>
      </p:sp>
      <p:sp>
        <p:nvSpPr>
          <p:cNvPr id="3" name="Shape 1"/>
          <p:cNvSpPr/>
          <p:nvPr/>
        </p:nvSpPr>
        <p:spPr>
          <a:xfrm>
            <a:off x="0" y="0"/>
            <a:ext cx="73152" cy="822960"/>
          </a:xfrm>
          <a:prstGeom prst="rect">
            <a:avLst/>
          </a:prstGeom>
          <a:solidFill>
            <a:srgbClr val="00FF9D"/>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22 — Windows Compatibility Wrappers</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FF9D"/>
                </a:solidFill>
                <a:latin typeface="Calibri" pitchFamily="34" charset="0"/>
                <a:ea typeface="Calibri" pitchFamily="34" charset="-122"/>
                <a:cs typeface="Calibri" pitchFamily="34" charset="-120"/>
              </a:rPr>
              <a:t>DirectShow · MSMF · COM · Multiprocessing</a:t>
            </a:r>
            <a:endParaRPr lang="en-US" sz="1100" dirty="0"/>
          </a:p>
        </p:txBody>
      </p:sp>
      <p:pic>
        <p:nvPicPr>
          <p:cNvPr id="6" name="Image 0" descr="preencoded.png">    </p:cNvPr>
          <p:cNvPicPr>
            <a:picLocks noChangeAspect="1"/>
          </p:cNvPicPr>
          <p:nvPr/>
        </p:nvPicPr>
        <p:blipFill>
          <a:blip r:embed="rId1"/>
          <a:stretch>
            <a:fillRect/>
          </a:stretch>
        </p:blipFill>
        <p:spPr>
          <a:xfrm>
            <a:off x="274320" y="960120"/>
            <a:ext cx="502920" cy="502920"/>
          </a:xfrm>
          <a:prstGeom prst="rect">
            <a:avLst/>
          </a:prstGeom>
        </p:spPr>
      </p:pic>
      <p:sp>
        <p:nvSpPr>
          <p:cNvPr id="7" name="Text 4"/>
          <p:cNvSpPr/>
          <p:nvPr/>
        </p:nvSpPr>
        <p:spPr>
          <a:xfrm>
            <a:off x="868680" y="1005840"/>
            <a:ext cx="8046720" cy="365760"/>
          </a:xfrm>
          <a:prstGeom prst="rect">
            <a:avLst/>
          </a:prstGeom>
          <a:noFill/>
          <a:ln/>
        </p:spPr>
        <p:txBody>
          <a:bodyPr wrap="square" lIns="0" tIns="0" rIns="0" bIns="0" rtlCol="0" anchor="ctr"/>
          <a:lstStyle/>
          <a:p>
            <a:pPr indent="0" marL="0">
              <a:buNone/>
            </a:pPr>
            <a:r>
              <a:rPr lang="en-US" sz="1200" dirty="0">
                <a:solidFill>
                  <a:srgbClr val="AABBCC"/>
                </a:solidFill>
                <a:latin typeface="Calibri" pitchFamily="34" charset="0"/>
                <a:ea typeface="Calibri" pitchFamily="34" charset="-122"/>
                <a:cs typeface="Calibri" pitchFamily="34" charset="-120"/>
              </a:rPr>
              <a:t>Η εφαρμογή περιλαμβάνει ειδικούς wrappers για πλήρη συμβατότητα Windows 10/11:</a:t>
            </a:r>
            <a:endParaRPr lang="en-US" sz="1200" dirty="0"/>
          </a:p>
        </p:txBody>
      </p:sp>
      <p:sp>
        <p:nvSpPr>
          <p:cNvPr id="8" name="Shape 5"/>
          <p:cNvSpPr/>
          <p:nvPr/>
        </p:nvSpPr>
        <p:spPr>
          <a:xfrm>
            <a:off x="182880" y="1554480"/>
            <a:ext cx="8778240" cy="713232"/>
          </a:xfrm>
          <a:prstGeom prst="rect">
            <a:avLst/>
          </a:prstGeom>
          <a:solidFill>
            <a:srgbClr val="0D1F3C"/>
          </a:solidFill>
          <a:ln w="19050">
            <a:solidFill>
              <a:srgbClr val="00D4FF"/>
            </a:solidFill>
            <a:prstDash val="solid"/>
          </a:ln>
        </p:spPr>
      </p:sp>
      <p:sp>
        <p:nvSpPr>
          <p:cNvPr id="9" name="Shape 6"/>
          <p:cNvSpPr/>
          <p:nvPr/>
        </p:nvSpPr>
        <p:spPr>
          <a:xfrm>
            <a:off x="182880" y="1554480"/>
            <a:ext cx="54864" cy="713232"/>
          </a:xfrm>
          <a:prstGeom prst="rect">
            <a:avLst/>
          </a:prstGeom>
          <a:solidFill>
            <a:srgbClr val="00D4FF"/>
          </a:solidFill>
          <a:ln/>
        </p:spPr>
      </p:sp>
      <p:sp>
        <p:nvSpPr>
          <p:cNvPr id="10" name="Text 7"/>
          <p:cNvSpPr/>
          <p:nvPr/>
        </p:nvSpPr>
        <p:spPr>
          <a:xfrm>
            <a:off x="347472" y="1609344"/>
            <a:ext cx="841248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OpenCV VideoIO Backends</a:t>
            </a:r>
            <a:endParaRPr lang="en-US" sz="1200" dirty="0"/>
          </a:p>
        </p:txBody>
      </p:sp>
      <p:sp>
        <p:nvSpPr>
          <p:cNvPr id="11" name="Text 8"/>
          <p:cNvSpPr/>
          <p:nvPr/>
        </p:nvSpPr>
        <p:spPr>
          <a:xfrm>
            <a:off x="347472" y="1901952"/>
            <a:ext cx="8412480" cy="32004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Αυτόματη επιλογή μεταξύ DirectShow (CAP_DSHOW) και MediaFoundation (CAP_MSMF) βάσει κάμερας και driver. Fallback chain για μέγιστη συμβατότητα.</a:t>
            </a:r>
            <a:endParaRPr lang="en-US" sz="1000" dirty="0"/>
          </a:p>
        </p:txBody>
      </p:sp>
      <p:sp>
        <p:nvSpPr>
          <p:cNvPr id="12" name="Shape 9"/>
          <p:cNvSpPr/>
          <p:nvPr/>
        </p:nvSpPr>
        <p:spPr>
          <a:xfrm>
            <a:off x="182880" y="2377440"/>
            <a:ext cx="8778240" cy="713232"/>
          </a:xfrm>
          <a:prstGeom prst="rect">
            <a:avLst/>
          </a:prstGeom>
          <a:solidFill>
            <a:srgbClr val="0D1F3C"/>
          </a:solidFill>
          <a:ln w="19050">
            <a:solidFill>
              <a:srgbClr val="00FF9D"/>
            </a:solidFill>
            <a:prstDash val="solid"/>
          </a:ln>
        </p:spPr>
      </p:sp>
      <p:sp>
        <p:nvSpPr>
          <p:cNvPr id="13" name="Shape 10"/>
          <p:cNvSpPr/>
          <p:nvPr/>
        </p:nvSpPr>
        <p:spPr>
          <a:xfrm>
            <a:off x="182880" y="2377440"/>
            <a:ext cx="54864" cy="713232"/>
          </a:xfrm>
          <a:prstGeom prst="rect">
            <a:avLst/>
          </a:prstGeom>
          <a:solidFill>
            <a:srgbClr val="00FF9D"/>
          </a:solidFill>
          <a:ln/>
        </p:spPr>
      </p:sp>
      <p:sp>
        <p:nvSpPr>
          <p:cNvPr id="14" name="Text 11"/>
          <p:cNvSpPr/>
          <p:nvPr/>
        </p:nvSpPr>
        <p:spPr>
          <a:xfrm>
            <a:off x="347472" y="2432304"/>
            <a:ext cx="8412480" cy="274320"/>
          </a:xfrm>
          <a:prstGeom prst="rect">
            <a:avLst/>
          </a:prstGeom>
          <a:noFill/>
          <a:ln/>
        </p:spPr>
        <p:txBody>
          <a:bodyPr wrap="square" lIns="0" tIns="0" rIns="0" bIns="0" rtlCol="0" anchor="ctr"/>
          <a:lstStyle/>
          <a:p>
            <a:pPr indent="0" marL="0">
              <a:buNone/>
            </a:pPr>
            <a:r>
              <a:rPr lang="en-US" sz="1200" b="1" dirty="0">
                <a:solidFill>
                  <a:srgbClr val="00FF9D"/>
                </a:solidFill>
                <a:latin typeface="Calibri" pitchFamily="34" charset="0"/>
                <a:ea typeface="Calibri" pitchFamily="34" charset="-122"/>
                <a:cs typeface="Calibri" pitchFamily="34" charset="-120"/>
              </a:rPr>
              <a:t>COM Initialization</a:t>
            </a:r>
            <a:endParaRPr lang="en-US" sz="1200" dirty="0"/>
          </a:p>
        </p:txBody>
      </p:sp>
      <p:sp>
        <p:nvSpPr>
          <p:cNvPr id="15" name="Text 12"/>
          <p:cNvSpPr/>
          <p:nvPr/>
        </p:nvSpPr>
        <p:spPr>
          <a:xfrm>
            <a:off x="347472" y="2724912"/>
            <a:ext cx="8412480" cy="32004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pythoncom.CoInitialize() wrapper για thread-safe COM object creation. Απαραίτητο για DirectShow camera access σε Windows threads.</a:t>
            </a:r>
            <a:endParaRPr lang="en-US" sz="1000" dirty="0"/>
          </a:p>
        </p:txBody>
      </p:sp>
      <p:sp>
        <p:nvSpPr>
          <p:cNvPr id="16" name="Shape 13"/>
          <p:cNvSpPr/>
          <p:nvPr/>
        </p:nvSpPr>
        <p:spPr>
          <a:xfrm>
            <a:off x="182880" y="3200400"/>
            <a:ext cx="8778240" cy="713232"/>
          </a:xfrm>
          <a:prstGeom prst="rect">
            <a:avLst/>
          </a:prstGeom>
          <a:solidFill>
            <a:srgbClr val="0D1F3C"/>
          </a:solidFill>
          <a:ln w="19050">
            <a:solidFill>
              <a:srgbClr val="FF6B35"/>
            </a:solidFill>
            <a:prstDash val="solid"/>
          </a:ln>
        </p:spPr>
      </p:sp>
      <p:sp>
        <p:nvSpPr>
          <p:cNvPr id="17" name="Shape 14"/>
          <p:cNvSpPr/>
          <p:nvPr/>
        </p:nvSpPr>
        <p:spPr>
          <a:xfrm>
            <a:off x="182880" y="3200400"/>
            <a:ext cx="54864" cy="713232"/>
          </a:xfrm>
          <a:prstGeom prst="rect">
            <a:avLst/>
          </a:prstGeom>
          <a:solidFill>
            <a:srgbClr val="FF6B35"/>
          </a:solidFill>
          <a:ln/>
        </p:spPr>
      </p:sp>
      <p:sp>
        <p:nvSpPr>
          <p:cNvPr id="18" name="Text 15"/>
          <p:cNvSpPr/>
          <p:nvPr/>
        </p:nvSpPr>
        <p:spPr>
          <a:xfrm>
            <a:off x="347472" y="3255264"/>
            <a:ext cx="8412480" cy="274320"/>
          </a:xfrm>
          <a:prstGeom prst="rect">
            <a:avLst/>
          </a:prstGeom>
          <a:noFill/>
          <a:ln/>
        </p:spPr>
        <p:txBody>
          <a:bodyPr wrap="square" lIns="0" tIns="0" rIns="0" bIns="0" rtlCol="0" anchor="ctr"/>
          <a:lstStyle/>
          <a:p>
            <a:pPr indent="0" marL="0">
              <a:buNone/>
            </a:pPr>
            <a:r>
              <a:rPr lang="en-US" sz="1200" b="1" dirty="0">
                <a:solidFill>
                  <a:srgbClr val="FF6B35"/>
                </a:solidFill>
                <a:latin typeface="Calibri" pitchFamily="34" charset="0"/>
                <a:ea typeface="Calibri" pitchFamily="34" charset="-122"/>
                <a:cs typeface="Calibri" pitchFamily="34" charset="-120"/>
              </a:rPr>
              <a:t>freeze_support()</a:t>
            </a:r>
            <a:endParaRPr lang="en-US" sz="1200" dirty="0"/>
          </a:p>
        </p:txBody>
      </p:sp>
      <p:sp>
        <p:nvSpPr>
          <p:cNvPr id="19" name="Text 16"/>
          <p:cNvSpPr/>
          <p:nvPr/>
        </p:nvSpPr>
        <p:spPr>
          <a:xfrm>
            <a:off x="347472" y="3547872"/>
            <a:ext cx="8412480" cy="32004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multiprocessing.freeze_support() στο entry point για σωστή λειτουργία σε PyInstaller executables και frozen environments.</a:t>
            </a:r>
            <a:endParaRPr lang="en-US" sz="1000" dirty="0"/>
          </a:p>
        </p:txBody>
      </p:sp>
      <p:sp>
        <p:nvSpPr>
          <p:cNvPr id="20" name="Shape 17"/>
          <p:cNvSpPr/>
          <p:nvPr/>
        </p:nvSpPr>
        <p:spPr>
          <a:xfrm>
            <a:off x="182880" y="4023360"/>
            <a:ext cx="8778240" cy="713232"/>
          </a:xfrm>
          <a:prstGeom prst="rect">
            <a:avLst/>
          </a:prstGeom>
          <a:solidFill>
            <a:srgbClr val="0D1F3C"/>
          </a:solidFill>
          <a:ln w="19050">
            <a:solidFill>
              <a:srgbClr val="7B2FBE"/>
            </a:solidFill>
            <a:prstDash val="solid"/>
          </a:ln>
        </p:spPr>
      </p:sp>
      <p:sp>
        <p:nvSpPr>
          <p:cNvPr id="21" name="Shape 18"/>
          <p:cNvSpPr/>
          <p:nvPr/>
        </p:nvSpPr>
        <p:spPr>
          <a:xfrm>
            <a:off x="182880" y="4023360"/>
            <a:ext cx="54864" cy="713232"/>
          </a:xfrm>
          <a:prstGeom prst="rect">
            <a:avLst/>
          </a:prstGeom>
          <a:solidFill>
            <a:srgbClr val="7B2FBE"/>
          </a:solidFill>
          <a:ln/>
        </p:spPr>
      </p:sp>
      <p:sp>
        <p:nvSpPr>
          <p:cNvPr id="22" name="Text 19"/>
          <p:cNvSpPr/>
          <p:nvPr/>
        </p:nvSpPr>
        <p:spPr>
          <a:xfrm>
            <a:off x="347472" y="4078224"/>
            <a:ext cx="8412480" cy="274320"/>
          </a:xfrm>
          <a:prstGeom prst="rect">
            <a:avLst/>
          </a:prstGeom>
          <a:noFill/>
          <a:ln/>
        </p:spPr>
        <p:txBody>
          <a:bodyPr wrap="square" lIns="0" tIns="0" rIns="0" bIns="0" rtlCol="0" anchor="ctr"/>
          <a:lstStyle/>
          <a:p>
            <a:pPr indent="0" marL="0">
              <a:buNone/>
            </a:pPr>
            <a:r>
              <a:rPr lang="en-US" sz="1200" b="1" dirty="0">
                <a:solidFill>
                  <a:srgbClr val="7B2FBE"/>
                </a:solidFill>
                <a:latin typeface="Calibri" pitchFamily="34" charset="0"/>
                <a:ea typeface="Calibri" pitchFamily="34" charset="-122"/>
                <a:cs typeface="Calibri" pitchFamily="34" charset="-120"/>
              </a:rPr>
              <a:t>Thread-safe Camera Access</a:t>
            </a:r>
            <a:endParaRPr lang="en-US" sz="1200" dirty="0"/>
          </a:p>
        </p:txBody>
      </p:sp>
      <p:sp>
        <p:nvSpPr>
          <p:cNvPr id="23" name="Text 20"/>
          <p:cNvSpPr/>
          <p:nvPr/>
        </p:nvSpPr>
        <p:spPr>
          <a:xfrm>
            <a:off x="347472" y="4370832"/>
            <a:ext cx="8412480" cy="320040"/>
          </a:xfrm>
          <a:prstGeom prst="rect">
            <a:avLst/>
          </a:prstGeom>
          <a:noFill/>
          <a:ln/>
        </p:spPr>
        <p:txBody>
          <a:bodyPr wrap="square" lIns="0" tIns="0" rIns="0" bIns="0" rtlCol="0" anchor="ctr"/>
          <a:lstStyle/>
          <a:p>
            <a:pPr indent="0" marL="0">
              <a:buNone/>
            </a:pPr>
            <a:r>
              <a:rPr lang="en-US" sz="1000" dirty="0">
                <a:solidFill>
                  <a:srgbClr val="AABBCC"/>
                </a:solidFill>
                <a:latin typeface="Calibri" pitchFamily="34" charset="0"/>
                <a:ea typeface="Calibri" pitchFamily="34" charset="-122"/>
                <a:cs typeface="Calibri" pitchFamily="34" charset="-120"/>
              </a:rPr>
              <a:t>Locking mechanisms για αποφυγή race conditions κατά multi-thread camera reads. Background grab thread + main inference thread.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7B2FBE"/>
            </a:solidFill>
            <a:prstDash val="solid"/>
          </a:ln>
        </p:spPr>
      </p:sp>
      <p:sp>
        <p:nvSpPr>
          <p:cNvPr id="3" name="Shape 1"/>
          <p:cNvSpPr/>
          <p:nvPr/>
        </p:nvSpPr>
        <p:spPr>
          <a:xfrm>
            <a:off x="0" y="0"/>
            <a:ext cx="73152" cy="822960"/>
          </a:xfrm>
          <a:prstGeom prst="rect">
            <a:avLst/>
          </a:prstGeom>
          <a:solidFill>
            <a:srgbClr val="7B2FBE"/>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23 — PySide6 GUI Architecture</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7B2FBE"/>
                </a:solidFill>
                <a:latin typeface="Calibri" pitchFamily="34" charset="0"/>
                <a:ea typeface="Calibri" pitchFamily="34" charset="-122"/>
                <a:cs typeface="Calibri" pitchFamily="34" charset="-120"/>
              </a:rPr>
              <a:t>Qt6 Professional Interface</a:t>
            </a:r>
            <a:endParaRPr lang="en-US" sz="1100" dirty="0"/>
          </a:p>
        </p:txBody>
      </p:sp>
      <p:sp>
        <p:nvSpPr>
          <p:cNvPr id="6" name="Text 4"/>
          <p:cNvSpPr/>
          <p:nvPr/>
        </p:nvSpPr>
        <p:spPr>
          <a:xfrm>
            <a:off x="274320" y="914400"/>
            <a:ext cx="4114800" cy="347472"/>
          </a:xfrm>
          <a:prstGeom prst="rect">
            <a:avLst/>
          </a:prstGeom>
          <a:noFill/>
          <a:ln/>
        </p:spPr>
        <p:txBody>
          <a:bodyPr wrap="square" lIns="0" tIns="0" rIns="0" bIns="0" rtlCol="0" anchor="ctr"/>
          <a:lstStyle/>
          <a:p>
            <a:pPr indent="0" marL="0">
              <a:buNone/>
            </a:pPr>
            <a:r>
              <a:rPr lang="en-US" sz="1400" b="1" dirty="0">
                <a:solidFill>
                  <a:srgbClr val="7B2FBE"/>
                </a:solidFill>
                <a:latin typeface="Calibri" pitchFamily="34" charset="0"/>
                <a:ea typeface="Calibri" pitchFamily="34" charset="-122"/>
                <a:cs typeface="Calibri" pitchFamily="34" charset="-120"/>
              </a:rPr>
              <a:t>Widget Hierarchy</a:t>
            </a:r>
            <a:endParaRPr lang="en-US" sz="1400" dirty="0"/>
          </a:p>
        </p:txBody>
      </p:sp>
      <p:sp>
        <p:nvSpPr>
          <p:cNvPr id="7" name="Shape 5"/>
          <p:cNvSpPr/>
          <p:nvPr/>
        </p:nvSpPr>
        <p:spPr>
          <a:xfrm>
            <a:off x="182880" y="1371600"/>
            <a:ext cx="4297680" cy="292608"/>
          </a:xfrm>
          <a:prstGeom prst="rect">
            <a:avLst/>
          </a:prstGeom>
          <a:solidFill>
            <a:srgbClr val="0D1F3C"/>
          </a:solidFill>
          <a:ln w="12700">
            <a:solidFill>
              <a:srgbClr val="7B2FBE"/>
            </a:solidFill>
            <a:prstDash val="solid"/>
          </a:ln>
        </p:spPr>
      </p:sp>
      <p:sp>
        <p:nvSpPr>
          <p:cNvPr id="8" name="Shape 6"/>
          <p:cNvSpPr/>
          <p:nvPr/>
        </p:nvSpPr>
        <p:spPr>
          <a:xfrm>
            <a:off x="182880" y="1371600"/>
            <a:ext cx="45720" cy="292608"/>
          </a:xfrm>
          <a:prstGeom prst="rect">
            <a:avLst/>
          </a:prstGeom>
          <a:solidFill>
            <a:srgbClr val="7B2FBE"/>
          </a:solidFill>
          <a:ln/>
        </p:spPr>
      </p:sp>
      <p:sp>
        <p:nvSpPr>
          <p:cNvPr id="9" name="Text 7"/>
          <p:cNvSpPr/>
          <p:nvPr/>
        </p:nvSpPr>
        <p:spPr>
          <a:xfrm>
            <a:off x="292608" y="1371600"/>
            <a:ext cx="411480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QMainWindow → YOLOProManager</a:t>
            </a:r>
            <a:endParaRPr lang="en-US" sz="950" dirty="0"/>
          </a:p>
        </p:txBody>
      </p:sp>
      <p:sp>
        <p:nvSpPr>
          <p:cNvPr id="10" name="Shape 8"/>
          <p:cNvSpPr/>
          <p:nvPr/>
        </p:nvSpPr>
        <p:spPr>
          <a:xfrm>
            <a:off x="502920" y="1719072"/>
            <a:ext cx="3977640" cy="292608"/>
          </a:xfrm>
          <a:prstGeom prst="rect">
            <a:avLst/>
          </a:prstGeom>
          <a:solidFill>
            <a:srgbClr val="0D1F3C"/>
          </a:solidFill>
          <a:ln w="12700">
            <a:solidFill>
              <a:srgbClr val="00D4FF"/>
            </a:solidFill>
            <a:prstDash val="solid"/>
          </a:ln>
        </p:spPr>
      </p:sp>
      <p:sp>
        <p:nvSpPr>
          <p:cNvPr id="11" name="Shape 9"/>
          <p:cNvSpPr/>
          <p:nvPr/>
        </p:nvSpPr>
        <p:spPr>
          <a:xfrm>
            <a:off x="502920" y="1719072"/>
            <a:ext cx="45720" cy="292608"/>
          </a:xfrm>
          <a:prstGeom prst="rect">
            <a:avLst/>
          </a:prstGeom>
          <a:solidFill>
            <a:srgbClr val="00D4FF"/>
          </a:solidFill>
          <a:ln/>
        </p:spPr>
      </p:sp>
      <p:sp>
        <p:nvSpPr>
          <p:cNvPr id="12" name="Text 10"/>
          <p:cNvSpPr/>
          <p:nvPr/>
        </p:nvSpPr>
        <p:spPr>
          <a:xfrm>
            <a:off x="612648" y="1719072"/>
            <a:ext cx="379476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QTabWidget (Tabs)</a:t>
            </a:r>
            <a:endParaRPr lang="en-US" sz="950" dirty="0"/>
          </a:p>
        </p:txBody>
      </p:sp>
      <p:sp>
        <p:nvSpPr>
          <p:cNvPr id="13" name="Shape 11"/>
          <p:cNvSpPr/>
          <p:nvPr/>
        </p:nvSpPr>
        <p:spPr>
          <a:xfrm>
            <a:off x="822960" y="2066544"/>
            <a:ext cx="3657600" cy="292608"/>
          </a:xfrm>
          <a:prstGeom prst="rect">
            <a:avLst/>
          </a:prstGeom>
          <a:solidFill>
            <a:srgbClr val="0D1F3C"/>
          </a:solidFill>
          <a:ln w="12700">
            <a:solidFill>
              <a:srgbClr val="00FF9D"/>
            </a:solidFill>
            <a:prstDash val="solid"/>
          </a:ln>
        </p:spPr>
      </p:sp>
      <p:sp>
        <p:nvSpPr>
          <p:cNvPr id="14" name="Shape 12"/>
          <p:cNvSpPr/>
          <p:nvPr/>
        </p:nvSpPr>
        <p:spPr>
          <a:xfrm>
            <a:off x="822960" y="2066544"/>
            <a:ext cx="45720" cy="292608"/>
          </a:xfrm>
          <a:prstGeom prst="rect">
            <a:avLst/>
          </a:prstGeom>
          <a:solidFill>
            <a:srgbClr val="00FF9D"/>
          </a:solidFill>
          <a:ln/>
        </p:spPr>
      </p:sp>
      <p:sp>
        <p:nvSpPr>
          <p:cNvPr id="15" name="Text 13"/>
          <p:cNvSpPr/>
          <p:nvPr/>
        </p:nvSpPr>
        <p:spPr>
          <a:xfrm>
            <a:off x="932688" y="2066544"/>
            <a:ext cx="347472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Tab: Training (YOLO/CNN)</a:t>
            </a:r>
            <a:endParaRPr lang="en-US" sz="950" dirty="0"/>
          </a:p>
        </p:txBody>
      </p:sp>
      <p:sp>
        <p:nvSpPr>
          <p:cNvPr id="16" name="Shape 14"/>
          <p:cNvSpPr/>
          <p:nvPr/>
        </p:nvSpPr>
        <p:spPr>
          <a:xfrm>
            <a:off x="822960" y="2414016"/>
            <a:ext cx="3657600" cy="292608"/>
          </a:xfrm>
          <a:prstGeom prst="rect">
            <a:avLst/>
          </a:prstGeom>
          <a:solidFill>
            <a:srgbClr val="0D1F3C"/>
          </a:solidFill>
          <a:ln w="12700">
            <a:solidFill>
              <a:srgbClr val="FF6B35"/>
            </a:solidFill>
            <a:prstDash val="solid"/>
          </a:ln>
        </p:spPr>
      </p:sp>
      <p:sp>
        <p:nvSpPr>
          <p:cNvPr id="17" name="Shape 15"/>
          <p:cNvSpPr/>
          <p:nvPr/>
        </p:nvSpPr>
        <p:spPr>
          <a:xfrm>
            <a:off x="822960" y="2414016"/>
            <a:ext cx="45720" cy="292608"/>
          </a:xfrm>
          <a:prstGeom prst="rect">
            <a:avLst/>
          </a:prstGeom>
          <a:solidFill>
            <a:srgbClr val="FF6B35"/>
          </a:solidFill>
          <a:ln/>
        </p:spPr>
      </p:sp>
      <p:sp>
        <p:nvSpPr>
          <p:cNvPr id="18" name="Text 16"/>
          <p:cNvSpPr/>
          <p:nvPr/>
        </p:nvSpPr>
        <p:spPr>
          <a:xfrm>
            <a:off x="932688" y="2414016"/>
            <a:ext cx="347472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Tab: Live Detection</a:t>
            </a:r>
            <a:endParaRPr lang="en-US" sz="950" dirty="0"/>
          </a:p>
        </p:txBody>
      </p:sp>
      <p:sp>
        <p:nvSpPr>
          <p:cNvPr id="19" name="Shape 17"/>
          <p:cNvSpPr/>
          <p:nvPr/>
        </p:nvSpPr>
        <p:spPr>
          <a:xfrm>
            <a:off x="822960" y="2761488"/>
            <a:ext cx="3657600" cy="292608"/>
          </a:xfrm>
          <a:prstGeom prst="rect">
            <a:avLst/>
          </a:prstGeom>
          <a:solidFill>
            <a:srgbClr val="0D1F3C"/>
          </a:solidFill>
          <a:ln w="12700">
            <a:solidFill>
              <a:srgbClr val="FF2D78"/>
            </a:solidFill>
            <a:prstDash val="solid"/>
          </a:ln>
        </p:spPr>
      </p:sp>
      <p:sp>
        <p:nvSpPr>
          <p:cNvPr id="20" name="Shape 18"/>
          <p:cNvSpPr/>
          <p:nvPr/>
        </p:nvSpPr>
        <p:spPr>
          <a:xfrm>
            <a:off x="822960" y="2761488"/>
            <a:ext cx="45720" cy="292608"/>
          </a:xfrm>
          <a:prstGeom prst="rect">
            <a:avLst/>
          </a:prstGeom>
          <a:solidFill>
            <a:srgbClr val="FF2D78"/>
          </a:solidFill>
          <a:ln/>
        </p:spPr>
      </p:sp>
      <p:sp>
        <p:nvSpPr>
          <p:cNvPr id="21" name="Text 19"/>
          <p:cNvSpPr/>
          <p:nvPr/>
        </p:nvSpPr>
        <p:spPr>
          <a:xfrm>
            <a:off x="932688" y="2761488"/>
            <a:ext cx="347472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Tab: Export</a:t>
            </a:r>
            <a:endParaRPr lang="en-US" sz="950" dirty="0"/>
          </a:p>
        </p:txBody>
      </p:sp>
      <p:sp>
        <p:nvSpPr>
          <p:cNvPr id="22" name="Shape 20"/>
          <p:cNvSpPr/>
          <p:nvPr/>
        </p:nvSpPr>
        <p:spPr>
          <a:xfrm>
            <a:off x="822960" y="3108960"/>
            <a:ext cx="3657600" cy="292608"/>
          </a:xfrm>
          <a:prstGeom prst="rect">
            <a:avLst/>
          </a:prstGeom>
          <a:solidFill>
            <a:srgbClr val="0D1F3C"/>
          </a:solidFill>
          <a:ln w="12700">
            <a:solidFill>
              <a:srgbClr val="FFD700"/>
            </a:solidFill>
            <a:prstDash val="solid"/>
          </a:ln>
        </p:spPr>
      </p:sp>
      <p:sp>
        <p:nvSpPr>
          <p:cNvPr id="23" name="Shape 21"/>
          <p:cNvSpPr/>
          <p:nvPr/>
        </p:nvSpPr>
        <p:spPr>
          <a:xfrm>
            <a:off x="822960" y="3108960"/>
            <a:ext cx="45720" cy="292608"/>
          </a:xfrm>
          <a:prstGeom prst="rect">
            <a:avLst/>
          </a:prstGeom>
          <a:solidFill>
            <a:srgbClr val="FFD700"/>
          </a:solidFill>
          <a:ln/>
        </p:spPr>
      </p:sp>
      <p:sp>
        <p:nvSpPr>
          <p:cNvPr id="24" name="Text 22"/>
          <p:cNvSpPr/>
          <p:nvPr/>
        </p:nvSpPr>
        <p:spPr>
          <a:xfrm>
            <a:off x="932688" y="3108960"/>
            <a:ext cx="347472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Tab: Diagnostics</a:t>
            </a:r>
            <a:endParaRPr lang="en-US" sz="950" dirty="0"/>
          </a:p>
        </p:txBody>
      </p:sp>
      <p:sp>
        <p:nvSpPr>
          <p:cNvPr id="25" name="Shape 23"/>
          <p:cNvSpPr/>
          <p:nvPr/>
        </p:nvSpPr>
        <p:spPr>
          <a:xfrm>
            <a:off x="822960" y="3456432"/>
            <a:ext cx="3657600" cy="292608"/>
          </a:xfrm>
          <a:prstGeom prst="rect">
            <a:avLst/>
          </a:prstGeom>
          <a:solidFill>
            <a:srgbClr val="0D1F3C"/>
          </a:solidFill>
          <a:ln w="12700">
            <a:solidFill>
              <a:srgbClr val="00D4FF"/>
            </a:solidFill>
            <a:prstDash val="solid"/>
          </a:ln>
        </p:spPr>
      </p:sp>
      <p:sp>
        <p:nvSpPr>
          <p:cNvPr id="26" name="Shape 24"/>
          <p:cNvSpPr/>
          <p:nvPr/>
        </p:nvSpPr>
        <p:spPr>
          <a:xfrm>
            <a:off x="822960" y="3456432"/>
            <a:ext cx="45720" cy="292608"/>
          </a:xfrm>
          <a:prstGeom prst="rect">
            <a:avLst/>
          </a:prstGeom>
          <a:solidFill>
            <a:srgbClr val="00D4FF"/>
          </a:solidFill>
          <a:ln/>
        </p:spPr>
      </p:sp>
      <p:sp>
        <p:nvSpPr>
          <p:cNvPr id="27" name="Text 25"/>
          <p:cNvSpPr/>
          <p:nvPr/>
        </p:nvSpPr>
        <p:spPr>
          <a:xfrm>
            <a:off x="932688" y="3456432"/>
            <a:ext cx="347472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Tab: AI Copilot</a:t>
            </a:r>
            <a:endParaRPr lang="en-US" sz="950" dirty="0"/>
          </a:p>
        </p:txBody>
      </p:sp>
      <p:sp>
        <p:nvSpPr>
          <p:cNvPr id="28" name="Shape 26"/>
          <p:cNvSpPr/>
          <p:nvPr/>
        </p:nvSpPr>
        <p:spPr>
          <a:xfrm>
            <a:off x="822960" y="3803904"/>
            <a:ext cx="3657600" cy="292608"/>
          </a:xfrm>
          <a:prstGeom prst="rect">
            <a:avLst/>
          </a:prstGeom>
          <a:solidFill>
            <a:srgbClr val="0D1F3C"/>
          </a:solidFill>
          <a:ln w="12700">
            <a:solidFill>
              <a:srgbClr val="7B2FBE"/>
            </a:solidFill>
            <a:prstDash val="solid"/>
          </a:ln>
        </p:spPr>
      </p:sp>
      <p:sp>
        <p:nvSpPr>
          <p:cNvPr id="29" name="Shape 27"/>
          <p:cNvSpPr/>
          <p:nvPr/>
        </p:nvSpPr>
        <p:spPr>
          <a:xfrm>
            <a:off x="822960" y="3803904"/>
            <a:ext cx="45720" cy="292608"/>
          </a:xfrm>
          <a:prstGeom prst="rect">
            <a:avLst/>
          </a:prstGeom>
          <a:solidFill>
            <a:srgbClr val="7B2FBE"/>
          </a:solidFill>
          <a:ln/>
        </p:spPr>
      </p:sp>
      <p:sp>
        <p:nvSpPr>
          <p:cNvPr id="30" name="Text 28"/>
          <p:cNvSpPr/>
          <p:nvPr/>
        </p:nvSpPr>
        <p:spPr>
          <a:xfrm>
            <a:off x="932688" y="3803904"/>
            <a:ext cx="347472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Tab: Reports</a:t>
            </a:r>
            <a:endParaRPr lang="en-US" sz="950" dirty="0"/>
          </a:p>
        </p:txBody>
      </p:sp>
      <p:sp>
        <p:nvSpPr>
          <p:cNvPr id="31" name="Shape 29"/>
          <p:cNvSpPr/>
          <p:nvPr/>
        </p:nvSpPr>
        <p:spPr>
          <a:xfrm>
            <a:off x="502920" y="4151376"/>
            <a:ext cx="3977640" cy="292608"/>
          </a:xfrm>
          <a:prstGeom prst="rect">
            <a:avLst/>
          </a:prstGeom>
          <a:solidFill>
            <a:srgbClr val="0D1F3C"/>
          </a:solidFill>
          <a:ln w="12700">
            <a:solidFill>
              <a:srgbClr val="00FF9D"/>
            </a:solidFill>
            <a:prstDash val="solid"/>
          </a:ln>
        </p:spPr>
      </p:sp>
      <p:sp>
        <p:nvSpPr>
          <p:cNvPr id="32" name="Shape 30"/>
          <p:cNvSpPr/>
          <p:nvPr/>
        </p:nvSpPr>
        <p:spPr>
          <a:xfrm>
            <a:off x="502920" y="4151376"/>
            <a:ext cx="45720" cy="292608"/>
          </a:xfrm>
          <a:prstGeom prst="rect">
            <a:avLst/>
          </a:prstGeom>
          <a:solidFill>
            <a:srgbClr val="00FF9D"/>
          </a:solidFill>
          <a:ln/>
        </p:spPr>
      </p:sp>
      <p:sp>
        <p:nvSpPr>
          <p:cNvPr id="33" name="Text 31"/>
          <p:cNvSpPr/>
          <p:nvPr/>
        </p:nvSpPr>
        <p:spPr>
          <a:xfrm>
            <a:off x="612648" y="4151376"/>
            <a:ext cx="379476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Status Bar + Logging Panel</a:t>
            </a:r>
            <a:endParaRPr lang="en-US" sz="950" dirty="0"/>
          </a:p>
        </p:txBody>
      </p:sp>
      <p:sp>
        <p:nvSpPr>
          <p:cNvPr id="34" name="Shape 32"/>
          <p:cNvSpPr/>
          <p:nvPr/>
        </p:nvSpPr>
        <p:spPr>
          <a:xfrm>
            <a:off x="502920" y="4498848"/>
            <a:ext cx="3977640" cy="292608"/>
          </a:xfrm>
          <a:prstGeom prst="rect">
            <a:avLst/>
          </a:prstGeom>
          <a:solidFill>
            <a:srgbClr val="0D1F3C"/>
          </a:solidFill>
          <a:ln w="12700">
            <a:solidFill>
              <a:srgbClr val="FF6B35"/>
            </a:solidFill>
            <a:prstDash val="solid"/>
          </a:ln>
        </p:spPr>
      </p:sp>
      <p:sp>
        <p:nvSpPr>
          <p:cNvPr id="35" name="Shape 33"/>
          <p:cNvSpPr/>
          <p:nvPr/>
        </p:nvSpPr>
        <p:spPr>
          <a:xfrm>
            <a:off x="502920" y="4498848"/>
            <a:ext cx="45720" cy="292608"/>
          </a:xfrm>
          <a:prstGeom prst="rect">
            <a:avLst/>
          </a:prstGeom>
          <a:solidFill>
            <a:srgbClr val="FF6B35"/>
          </a:solidFill>
          <a:ln/>
        </p:spPr>
      </p:sp>
      <p:sp>
        <p:nvSpPr>
          <p:cNvPr id="36" name="Text 34"/>
          <p:cNvSpPr/>
          <p:nvPr/>
        </p:nvSpPr>
        <p:spPr>
          <a:xfrm>
            <a:off x="612648" y="4498848"/>
            <a:ext cx="3794760" cy="292608"/>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Custom Widgets (QThread workers)</a:t>
            </a:r>
            <a:endParaRPr lang="en-US" sz="950" dirty="0"/>
          </a:p>
        </p:txBody>
      </p:sp>
      <p:sp>
        <p:nvSpPr>
          <p:cNvPr id="37" name="Text 35"/>
          <p:cNvSpPr/>
          <p:nvPr/>
        </p:nvSpPr>
        <p:spPr>
          <a:xfrm>
            <a:off x="4754880" y="914400"/>
            <a:ext cx="4114800" cy="347472"/>
          </a:xfrm>
          <a:prstGeom prst="rect">
            <a:avLst/>
          </a:prstGeom>
          <a:noFill/>
          <a:ln/>
        </p:spPr>
        <p:txBody>
          <a:bodyPr wrap="square" lIns="0" tIns="0" rIns="0" bIns="0" rtlCol="0" anchor="ctr"/>
          <a:lstStyle/>
          <a:p>
            <a:pPr indent="0" marL="0">
              <a:buNone/>
            </a:pPr>
            <a:r>
              <a:rPr lang="en-US" sz="1400" b="1" dirty="0">
                <a:solidFill>
                  <a:srgbClr val="7B2FBE"/>
                </a:solidFill>
                <a:latin typeface="Calibri" pitchFamily="34" charset="0"/>
                <a:ea typeface="Calibri" pitchFamily="34" charset="-122"/>
                <a:cs typeface="Calibri" pitchFamily="34" charset="-120"/>
              </a:rPr>
              <a:t>Threading Model (QThread)</a:t>
            </a:r>
            <a:endParaRPr lang="en-US" sz="1400" dirty="0"/>
          </a:p>
        </p:txBody>
      </p:sp>
      <p:sp>
        <p:nvSpPr>
          <p:cNvPr id="38" name="Shape 36"/>
          <p:cNvSpPr/>
          <p:nvPr/>
        </p:nvSpPr>
        <p:spPr>
          <a:xfrm>
            <a:off x="4754880" y="1417320"/>
            <a:ext cx="4206240" cy="804672"/>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39" name="Shape 37"/>
          <p:cNvSpPr/>
          <p:nvPr/>
        </p:nvSpPr>
        <p:spPr>
          <a:xfrm>
            <a:off x="4754880" y="1417320"/>
            <a:ext cx="4206240" cy="64008"/>
          </a:xfrm>
          <a:prstGeom prst="rect">
            <a:avLst/>
          </a:prstGeom>
          <a:solidFill>
            <a:srgbClr val="7B2FBE"/>
          </a:solidFill>
          <a:ln/>
        </p:spPr>
      </p:sp>
      <p:sp>
        <p:nvSpPr>
          <p:cNvPr id="40" name="Text 38"/>
          <p:cNvSpPr/>
          <p:nvPr/>
        </p:nvSpPr>
        <p:spPr>
          <a:xfrm>
            <a:off x="4892040" y="1508760"/>
            <a:ext cx="397764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Main Thread</a:t>
            </a:r>
            <a:endParaRPr lang="en-US" sz="1300" dirty="0"/>
          </a:p>
          <a:p>
            <a:pPr indent="0" marL="0">
              <a:buNone/>
            </a:pPr>
            <a:r>
              <a:rPr lang="en-US" sz="1300" b="1" dirty="0">
                <a:solidFill>
                  <a:srgbClr val="7B2FBE"/>
                </a:solidFill>
                <a:latin typeface="Calibri" pitchFamily="34" charset="0"/>
                <a:ea typeface="Calibri" pitchFamily="34" charset="-122"/>
                <a:cs typeface="Calibri" pitchFamily="34" charset="-120"/>
              </a:rPr>
              <a:t>(GUI)</a:t>
            </a:r>
            <a:endParaRPr lang="en-US" sz="1300" dirty="0"/>
          </a:p>
        </p:txBody>
      </p:sp>
      <p:sp>
        <p:nvSpPr>
          <p:cNvPr id="41" name="Text 39"/>
          <p:cNvSpPr/>
          <p:nvPr/>
        </p:nvSpPr>
        <p:spPr>
          <a:xfrm>
            <a:off x="4892040" y="1892808"/>
            <a:ext cx="3931920" cy="23774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Qt event loop, UI updates,</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slot/signal connections</a:t>
            </a:r>
            <a:endParaRPr lang="en-US" sz="1050" dirty="0"/>
          </a:p>
        </p:txBody>
      </p:sp>
      <p:sp>
        <p:nvSpPr>
          <p:cNvPr id="42" name="Shape 40"/>
          <p:cNvSpPr/>
          <p:nvPr/>
        </p:nvSpPr>
        <p:spPr>
          <a:xfrm>
            <a:off x="4754880" y="2331720"/>
            <a:ext cx="4206240" cy="804672"/>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43" name="Shape 41"/>
          <p:cNvSpPr/>
          <p:nvPr/>
        </p:nvSpPr>
        <p:spPr>
          <a:xfrm>
            <a:off x="4754880" y="2331720"/>
            <a:ext cx="4206240" cy="64008"/>
          </a:xfrm>
          <a:prstGeom prst="rect">
            <a:avLst/>
          </a:prstGeom>
          <a:solidFill>
            <a:srgbClr val="00D4FF"/>
          </a:solidFill>
          <a:ln/>
        </p:spPr>
      </p:sp>
      <p:sp>
        <p:nvSpPr>
          <p:cNvPr id="44" name="Text 42"/>
          <p:cNvSpPr/>
          <p:nvPr/>
        </p:nvSpPr>
        <p:spPr>
          <a:xfrm>
            <a:off x="4892040" y="2423160"/>
            <a:ext cx="397764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Training Worker</a:t>
            </a:r>
            <a:endParaRPr lang="en-US" sz="1300" dirty="0"/>
          </a:p>
          <a:p>
            <a:pPr indent="0" marL="0">
              <a:buNone/>
            </a:pPr>
            <a:r>
              <a:rPr lang="en-US" sz="1300" b="1" dirty="0">
                <a:solidFill>
                  <a:srgbClr val="00D4FF"/>
                </a:solidFill>
                <a:latin typeface="Calibri" pitchFamily="34" charset="0"/>
                <a:ea typeface="Calibri" pitchFamily="34" charset="-122"/>
                <a:cs typeface="Calibri" pitchFamily="34" charset="-120"/>
              </a:rPr>
              <a:t>(QThread)</a:t>
            </a:r>
            <a:endParaRPr lang="en-US" sz="1300" dirty="0"/>
          </a:p>
        </p:txBody>
      </p:sp>
      <p:sp>
        <p:nvSpPr>
          <p:cNvPr id="45" name="Text 43"/>
          <p:cNvSpPr/>
          <p:nvPr/>
        </p:nvSpPr>
        <p:spPr>
          <a:xfrm>
            <a:off x="4892040" y="2807208"/>
            <a:ext cx="3931920" cy="23774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YOLOTrainingWorker /</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CNNTrainingWorker</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 μακροχρόνιες εργασίες</a:t>
            </a:r>
            <a:endParaRPr lang="en-US" sz="1050" dirty="0"/>
          </a:p>
        </p:txBody>
      </p:sp>
      <p:sp>
        <p:nvSpPr>
          <p:cNvPr id="46" name="Shape 44"/>
          <p:cNvSpPr/>
          <p:nvPr/>
        </p:nvSpPr>
        <p:spPr>
          <a:xfrm>
            <a:off x="4754880" y="3246120"/>
            <a:ext cx="4206240" cy="804672"/>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47" name="Shape 45"/>
          <p:cNvSpPr/>
          <p:nvPr/>
        </p:nvSpPr>
        <p:spPr>
          <a:xfrm>
            <a:off x="4754880" y="3246120"/>
            <a:ext cx="4206240" cy="64008"/>
          </a:xfrm>
          <a:prstGeom prst="rect">
            <a:avLst/>
          </a:prstGeom>
          <a:solidFill>
            <a:srgbClr val="00FF9D"/>
          </a:solidFill>
          <a:ln/>
        </p:spPr>
      </p:sp>
      <p:sp>
        <p:nvSpPr>
          <p:cNvPr id="48" name="Text 46"/>
          <p:cNvSpPr/>
          <p:nvPr/>
        </p:nvSpPr>
        <p:spPr>
          <a:xfrm>
            <a:off x="4892040" y="3337560"/>
            <a:ext cx="397764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Camera Thread</a:t>
            </a:r>
            <a:endParaRPr lang="en-US" sz="1300" dirty="0"/>
          </a:p>
          <a:p>
            <a:pPr indent="0" marL="0">
              <a:buNone/>
            </a:pPr>
            <a:r>
              <a:rPr lang="en-US" sz="1300" b="1" dirty="0">
                <a:solidFill>
                  <a:srgbClr val="00FF9D"/>
                </a:solidFill>
                <a:latin typeface="Calibri" pitchFamily="34" charset="0"/>
                <a:ea typeface="Calibri" pitchFamily="34" charset="-122"/>
                <a:cs typeface="Calibri" pitchFamily="34" charset="-120"/>
              </a:rPr>
              <a:t>(background)</a:t>
            </a:r>
            <a:endParaRPr lang="en-US" sz="1300" dirty="0"/>
          </a:p>
        </p:txBody>
      </p:sp>
      <p:sp>
        <p:nvSpPr>
          <p:cNvPr id="49" name="Text 47"/>
          <p:cNvSpPr/>
          <p:nvPr/>
        </p:nvSpPr>
        <p:spPr>
          <a:xfrm>
            <a:off x="4892040" y="3721608"/>
            <a:ext cx="3931920" cy="23774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Background frame capture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για non-blocking camera</a:t>
            </a:r>
            <a:endParaRPr lang="en-US" sz="1050" dirty="0"/>
          </a:p>
        </p:txBody>
      </p:sp>
      <p:sp>
        <p:nvSpPr>
          <p:cNvPr id="50" name="Shape 48"/>
          <p:cNvSpPr/>
          <p:nvPr/>
        </p:nvSpPr>
        <p:spPr>
          <a:xfrm>
            <a:off x="4754880" y="4160520"/>
            <a:ext cx="4206240" cy="804672"/>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51" name="Shape 49"/>
          <p:cNvSpPr/>
          <p:nvPr/>
        </p:nvSpPr>
        <p:spPr>
          <a:xfrm>
            <a:off x="4754880" y="4160520"/>
            <a:ext cx="4206240" cy="64008"/>
          </a:xfrm>
          <a:prstGeom prst="rect">
            <a:avLst/>
          </a:prstGeom>
          <a:solidFill>
            <a:srgbClr val="FF6B35"/>
          </a:solidFill>
          <a:ln/>
        </p:spPr>
      </p:sp>
      <p:sp>
        <p:nvSpPr>
          <p:cNvPr id="52" name="Text 50"/>
          <p:cNvSpPr/>
          <p:nvPr/>
        </p:nvSpPr>
        <p:spPr>
          <a:xfrm>
            <a:off x="4892040" y="4251960"/>
            <a:ext cx="397764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Inference Thread</a:t>
            </a:r>
            <a:endParaRPr lang="en-US" sz="1300" dirty="0"/>
          </a:p>
        </p:txBody>
      </p:sp>
      <p:sp>
        <p:nvSpPr>
          <p:cNvPr id="53" name="Text 51"/>
          <p:cNvSpPr/>
          <p:nvPr/>
        </p:nvSpPr>
        <p:spPr>
          <a:xfrm>
            <a:off x="4892040" y="4636008"/>
            <a:ext cx="3931920" cy="23774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Model inference χωριστά</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από capture για 60fps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D4FF"/>
            </a:solidFill>
            <a:prstDash val="solid"/>
          </a:ln>
        </p:spPr>
      </p:sp>
      <p:sp>
        <p:nvSpPr>
          <p:cNvPr id="3" name="Shape 1"/>
          <p:cNvSpPr/>
          <p:nvPr/>
        </p:nvSpPr>
        <p:spPr>
          <a:xfrm>
            <a:off x="0" y="0"/>
            <a:ext cx="73152" cy="822960"/>
          </a:xfrm>
          <a:prstGeom prst="rect">
            <a:avLst/>
          </a:prstGeom>
          <a:solidFill>
            <a:srgbClr val="00D4FF"/>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25 — Logging System</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D4FF"/>
                </a:solidFill>
                <a:latin typeface="Calibri" pitchFamily="34" charset="0"/>
                <a:ea typeface="Calibri" pitchFamily="34" charset="-122"/>
                <a:cs typeface="Calibri" pitchFamily="34" charset="-120"/>
              </a:rPr>
              <a:t>MMPro Logger – Ενιαίο Σύστημα Καταγραφής</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Κεντρικός Logger (singleton pattern):</a:t>
            </a:r>
            <a:endParaRPr lang="en-US" sz="1400" dirty="0"/>
          </a:p>
        </p:txBody>
      </p:sp>
      <p:sp>
        <p:nvSpPr>
          <p:cNvPr id="7" name="Shape 5"/>
          <p:cNvSpPr/>
          <p:nvPr/>
        </p:nvSpPr>
        <p:spPr>
          <a:xfrm>
            <a:off x="182880" y="1325880"/>
            <a:ext cx="8778240" cy="1097280"/>
          </a:xfrm>
          <a:prstGeom prst="rect">
            <a:avLst/>
          </a:prstGeom>
          <a:solidFill>
            <a:srgbClr val="001020"/>
          </a:solidFill>
          <a:ln w="12700">
            <a:solidFill>
              <a:srgbClr val="00D4FF"/>
            </a:solidFill>
            <a:prstDash val="solid"/>
          </a:ln>
        </p:spPr>
      </p:sp>
      <p:sp>
        <p:nvSpPr>
          <p:cNvPr id="8" name="Text 6"/>
          <p:cNvSpPr/>
          <p:nvPr/>
        </p:nvSpPr>
        <p:spPr>
          <a:xfrm>
            <a:off x="320040" y="1417320"/>
            <a:ext cx="8412480" cy="914400"/>
          </a:xfrm>
          <a:prstGeom prst="rect">
            <a:avLst/>
          </a:prstGeom>
          <a:noFill/>
          <a:ln/>
        </p:spPr>
        <p:txBody>
          <a:bodyPr wrap="square" lIns="0" tIns="0" rIns="0" bIns="0" rtlCol="0" anchor="ctr"/>
          <a:lstStyle/>
          <a:p>
            <a:pPr indent="0" marL="0">
              <a:buNone/>
            </a:pPr>
            <a:r>
              <a:rPr lang="en-US" sz="1000" dirty="0">
                <a:solidFill>
                  <a:srgbClr val="00FF9D"/>
                </a:solidFill>
                <a:latin typeface="Consolas" pitchFamily="34" charset="0"/>
                <a:ea typeface="Consolas" pitchFamily="34" charset="-122"/>
                <a:cs typeface="Consolas" pitchFamily="34" charset="-120"/>
              </a:rPr>
              <a:t># Singleton MMPro Logger</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_MMPRO_LOGGER = _setup_mmpro_logging()</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format = "%(asctime)s [%(levelname)s] %(name)s — %(message)s"</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 Χρήση: _mmpro_get_logger().info("Training started")</a:t>
            </a:r>
            <a:endParaRPr lang="en-US" sz="1000" dirty="0"/>
          </a:p>
        </p:txBody>
      </p:sp>
      <p:sp>
        <p:nvSpPr>
          <p:cNvPr id="9" name="Text 7"/>
          <p:cNvSpPr/>
          <p:nvPr/>
        </p:nvSpPr>
        <p:spPr>
          <a:xfrm>
            <a:off x="274320" y="2578608"/>
            <a:ext cx="8595360" cy="292608"/>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Log Levels:</a:t>
            </a:r>
            <a:endParaRPr lang="en-US" sz="1300" dirty="0"/>
          </a:p>
        </p:txBody>
      </p:sp>
      <p:sp>
        <p:nvSpPr>
          <p:cNvPr id="10" name="Shape 8"/>
          <p:cNvSpPr/>
          <p:nvPr/>
        </p:nvSpPr>
        <p:spPr>
          <a:xfrm>
            <a:off x="182880" y="2944368"/>
            <a:ext cx="8778240" cy="347472"/>
          </a:xfrm>
          <a:prstGeom prst="rect">
            <a:avLst/>
          </a:prstGeom>
          <a:solidFill>
            <a:srgbClr val="0D1F3C"/>
          </a:solidFill>
          <a:ln w="12700">
            <a:solidFill>
              <a:srgbClr val="8899BB"/>
            </a:solidFill>
            <a:prstDash val="solid"/>
          </a:ln>
        </p:spPr>
      </p:sp>
      <p:sp>
        <p:nvSpPr>
          <p:cNvPr id="11" name="Shape 9"/>
          <p:cNvSpPr/>
          <p:nvPr/>
        </p:nvSpPr>
        <p:spPr>
          <a:xfrm>
            <a:off x="182880" y="2944368"/>
            <a:ext cx="1234440" cy="347472"/>
          </a:xfrm>
          <a:prstGeom prst="rect">
            <a:avLst/>
          </a:prstGeom>
          <a:solidFill>
            <a:srgbClr val="8899BB">
              <a:alpha val="80000"/>
            </a:srgbClr>
          </a:solidFill>
          <a:ln/>
        </p:spPr>
      </p:sp>
      <p:sp>
        <p:nvSpPr>
          <p:cNvPr id="12" name="Text 10"/>
          <p:cNvSpPr/>
          <p:nvPr/>
        </p:nvSpPr>
        <p:spPr>
          <a:xfrm>
            <a:off x="182880" y="2944368"/>
            <a:ext cx="12344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DEBUG</a:t>
            </a:r>
            <a:endParaRPr lang="en-US" sz="1100" dirty="0"/>
          </a:p>
        </p:txBody>
      </p:sp>
      <p:sp>
        <p:nvSpPr>
          <p:cNvPr id="13" name="Text 11"/>
          <p:cNvSpPr/>
          <p:nvPr/>
        </p:nvSpPr>
        <p:spPr>
          <a:xfrm>
            <a:off x="1508760" y="2944368"/>
            <a:ext cx="7406640" cy="347472"/>
          </a:xfrm>
          <a:prstGeom prst="rect">
            <a:avLst/>
          </a:prstGeom>
          <a:noFill/>
          <a:ln/>
        </p:spPr>
        <p:txBody>
          <a:bodyPr wrap="square" lIns="0" tIns="0" rIns="0" bIns="0" rtlCol="0" anchor="ctr"/>
          <a:lstStyle/>
          <a:p>
            <a:pPr indent="0" marL="0">
              <a:buNone/>
            </a:pPr>
            <a:r>
              <a:rPr lang="en-US" sz="1050" dirty="0">
                <a:solidFill>
                  <a:srgbClr val="AABBCC"/>
                </a:solidFill>
                <a:latin typeface="Calibri" pitchFamily="34" charset="0"/>
                <a:ea typeface="Calibri" pitchFamily="34" charset="-122"/>
                <a:cs typeface="Calibri" pitchFamily="34" charset="-120"/>
              </a:rPr>
              <a:t>Λεπτομερείς πληροφορίες ανάπτυξης</a:t>
            </a:r>
            <a:endParaRPr lang="en-US" sz="1050" dirty="0"/>
          </a:p>
        </p:txBody>
      </p:sp>
      <p:sp>
        <p:nvSpPr>
          <p:cNvPr id="14" name="Shape 12"/>
          <p:cNvSpPr/>
          <p:nvPr/>
        </p:nvSpPr>
        <p:spPr>
          <a:xfrm>
            <a:off x="182880" y="3346704"/>
            <a:ext cx="8778240" cy="347472"/>
          </a:xfrm>
          <a:prstGeom prst="rect">
            <a:avLst/>
          </a:prstGeom>
          <a:solidFill>
            <a:srgbClr val="0D1F3C"/>
          </a:solidFill>
          <a:ln w="12700">
            <a:solidFill>
              <a:srgbClr val="00FF9D"/>
            </a:solidFill>
            <a:prstDash val="solid"/>
          </a:ln>
        </p:spPr>
      </p:sp>
      <p:sp>
        <p:nvSpPr>
          <p:cNvPr id="15" name="Shape 13"/>
          <p:cNvSpPr/>
          <p:nvPr/>
        </p:nvSpPr>
        <p:spPr>
          <a:xfrm>
            <a:off x="182880" y="3346704"/>
            <a:ext cx="1234440" cy="347472"/>
          </a:xfrm>
          <a:prstGeom prst="rect">
            <a:avLst/>
          </a:prstGeom>
          <a:solidFill>
            <a:srgbClr val="00FF9D">
              <a:alpha val="80000"/>
            </a:srgbClr>
          </a:solidFill>
          <a:ln/>
        </p:spPr>
      </p:sp>
      <p:sp>
        <p:nvSpPr>
          <p:cNvPr id="16" name="Text 14"/>
          <p:cNvSpPr/>
          <p:nvPr/>
        </p:nvSpPr>
        <p:spPr>
          <a:xfrm>
            <a:off x="182880" y="3346704"/>
            <a:ext cx="12344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INFO</a:t>
            </a:r>
            <a:endParaRPr lang="en-US" sz="1100" dirty="0"/>
          </a:p>
        </p:txBody>
      </p:sp>
      <p:sp>
        <p:nvSpPr>
          <p:cNvPr id="17" name="Text 15"/>
          <p:cNvSpPr/>
          <p:nvPr/>
        </p:nvSpPr>
        <p:spPr>
          <a:xfrm>
            <a:off x="1508760" y="3346704"/>
            <a:ext cx="7406640" cy="347472"/>
          </a:xfrm>
          <a:prstGeom prst="rect">
            <a:avLst/>
          </a:prstGeom>
          <a:noFill/>
          <a:ln/>
        </p:spPr>
        <p:txBody>
          <a:bodyPr wrap="square" lIns="0" tIns="0" rIns="0" bIns="0" rtlCol="0" anchor="ctr"/>
          <a:lstStyle/>
          <a:p>
            <a:pPr indent="0" marL="0">
              <a:buNone/>
            </a:pPr>
            <a:r>
              <a:rPr lang="en-US" sz="1050" dirty="0">
                <a:solidFill>
                  <a:srgbClr val="AABBCC"/>
                </a:solidFill>
                <a:latin typeface="Calibri" pitchFamily="34" charset="0"/>
                <a:ea typeface="Calibri" pitchFamily="34" charset="-122"/>
                <a:cs typeface="Calibri" pitchFamily="34" charset="-120"/>
              </a:rPr>
              <a:t>Κανονική ροή εκτέλεσης</a:t>
            </a:r>
            <a:endParaRPr lang="en-US" sz="1050" dirty="0"/>
          </a:p>
        </p:txBody>
      </p:sp>
      <p:sp>
        <p:nvSpPr>
          <p:cNvPr id="18" name="Shape 16"/>
          <p:cNvSpPr/>
          <p:nvPr/>
        </p:nvSpPr>
        <p:spPr>
          <a:xfrm>
            <a:off x="182880" y="3749040"/>
            <a:ext cx="8778240" cy="347472"/>
          </a:xfrm>
          <a:prstGeom prst="rect">
            <a:avLst/>
          </a:prstGeom>
          <a:solidFill>
            <a:srgbClr val="0D1F3C"/>
          </a:solidFill>
          <a:ln w="12700">
            <a:solidFill>
              <a:srgbClr val="FFD700"/>
            </a:solidFill>
            <a:prstDash val="solid"/>
          </a:ln>
        </p:spPr>
      </p:sp>
      <p:sp>
        <p:nvSpPr>
          <p:cNvPr id="19" name="Shape 17"/>
          <p:cNvSpPr/>
          <p:nvPr/>
        </p:nvSpPr>
        <p:spPr>
          <a:xfrm>
            <a:off x="182880" y="3749040"/>
            <a:ext cx="1234440" cy="347472"/>
          </a:xfrm>
          <a:prstGeom prst="rect">
            <a:avLst/>
          </a:prstGeom>
          <a:solidFill>
            <a:srgbClr val="FFD700">
              <a:alpha val="80000"/>
            </a:srgbClr>
          </a:solidFill>
          <a:ln/>
        </p:spPr>
      </p:sp>
      <p:sp>
        <p:nvSpPr>
          <p:cNvPr id="20" name="Text 18"/>
          <p:cNvSpPr/>
          <p:nvPr/>
        </p:nvSpPr>
        <p:spPr>
          <a:xfrm>
            <a:off x="182880" y="3749040"/>
            <a:ext cx="12344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WARNING</a:t>
            </a:r>
            <a:endParaRPr lang="en-US" sz="1100" dirty="0"/>
          </a:p>
        </p:txBody>
      </p:sp>
      <p:sp>
        <p:nvSpPr>
          <p:cNvPr id="21" name="Text 19"/>
          <p:cNvSpPr/>
          <p:nvPr/>
        </p:nvSpPr>
        <p:spPr>
          <a:xfrm>
            <a:off x="1508760" y="3749040"/>
            <a:ext cx="7406640" cy="347472"/>
          </a:xfrm>
          <a:prstGeom prst="rect">
            <a:avLst/>
          </a:prstGeom>
          <a:noFill/>
          <a:ln/>
        </p:spPr>
        <p:txBody>
          <a:bodyPr wrap="square" lIns="0" tIns="0" rIns="0" bIns="0" rtlCol="0" anchor="ctr"/>
          <a:lstStyle/>
          <a:p>
            <a:pPr indent="0" marL="0">
              <a:buNone/>
            </a:pPr>
            <a:r>
              <a:rPr lang="en-US" sz="1050" dirty="0">
                <a:solidFill>
                  <a:srgbClr val="AABBCC"/>
                </a:solidFill>
                <a:latin typeface="Calibri" pitchFamily="34" charset="0"/>
                <a:ea typeface="Calibri" pitchFamily="34" charset="-122"/>
                <a:cs typeface="Calibri" pitchFamily="34" charset="-120"/>
              </a:rPr>
              <a:t>Ανησυχητικές αλλά μη-κρίσιμες καταστάσεις</a:t>
            </a:r>
            <a:endParaRPr lang="en-US" sz="1050" dirty="0"/>
          </a:p>
        </p:txBody>
      </p:sp>
      <p:sp>
        <p:nvSpPr>
          <p:cNvPr id="22" name="Shape 20"/>
          <p:cNvSpPr/>
          <p:nvPr/>
        </p:nvSpPr>
        <p:spPr>
          <a:xfrm>
            <a:off x="182880" y="4151376"/>
            <a:ext cx="8778240" cy="347472"/>
          </a:xfrm>
          <a:prstGeom prst="rect">
            <a:avLst/>
          </a:prstGeom>
          <a:solidFill>
            <a:srgbClr val="0D1F3C"/>
          </a:solidFill>
          <a:ln w="12700">
            <a:solidFill>
              <a:srgbClr val="FF2D78"/>
            </a:solidFill>
            <a:prstDash val="solid"/>
          </a:ln>
        </p:spPr>
      </p:sp>
      <p:sp>
        <p:nvSpPr>
          <p:cNvPr id="23" name="Shape 21"/>
          <p:cNvSpPr/>
          <p:nvPr/>
        </p:nvSpPr>
        <p:spPr>
          <a:xfrm>
            <a:off x="182880" y="4151376"/>
            <a:ext cx="1234440" cy="347472"/>
          </a:xfrm>
          <a:prstGeom prst="rect">
            <a:avLst/>
          </a:prstGeom>
          <a:solidFill>
            <a:srgbClr val="FF2D78">
              <a:alpha val="80000"/>
            </a:srgbClr>
          </a:solidFill>
          <a:ln/>
        </p:spPr>
      </p:sp>
      <p:sp>
        <p:nvSpPr>
          <p:cNvPr id="24" name="Text 22"/>
          <p:cNvSpPr/>
          <p:nvPr/>
        </p:nvSpPr>
        <p:spPr>
          <a:xfrm>
            <a:off x="182880" y="4151376"/>
            <a:ext cx="12344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ERROR</a:t>
            </a:r>
            <a:endParaRPr lang="en-US" sz="1100" dirty="0"/>
          </a:p>
        </p:txBody>
      </p:sp>
      <p:sp>
        <p:nvSpPr>
          <p:cNvPr id="25" name="Text 23"/>
          <p:cNvSpPr/>
          <p:nvPr/>
        </p:nvSpPr>
        <p:spPr>
          <a:xfrm>
            <a:off x="1508760" y="4151376"/>
            <a:ext cx="7406640" cy="347472"/>
          </a:xfrm>
          <a:prstGeom prst="rect">
            <a:avLst/>
          </a:prstGeom>
          <a:noFill/>
          <a:ln/>
        </p:spPr>
        <p:txBody>
          <a:bodyPr wrap="square" lIns="0" tIns="0" rIns="0" bIns="0" rtlCol="0" anchor="ctr"/>
          <a:lstStyle/>
          <a:p>
            <a:pPr indent="0" marL="0">
              <a:buNone/>
            </a:pPr>
            <a:r>
              <a:rPr lang="en-US" sz="1050" dirty="0">
                <a:solidFill>
                  <a:srgbClr val="AABBCC"/>
                </a:solidFill>
                <a:latin typeface="Calibri" pitchFamily="34" charset="0"/>
                <a:ea typeface="Calibri" pitchFamily="34" charset="-122"/>
                <a:cs typeface="Calibri" pitchFamily="34" charset="-120"/>
              </a:rPr>
              <a:t>Σφάλματα — η εφαρμογή συνεχίζει</a:t>
            </a:r>
            <a:endParaRPr lang="en-US" sz="1050" dirty="0"/>
          </a:p>
        </p:txBody>
      </p:sp>
      <p:sp>
        <p:nvSpPr>
          <p:cNvPr id="26" name="Shape 24"/>
          <p:cNvSpPr/>
          <p:nvPr/>
        </p:nvSpPr>
        <p:spPr>
          <a:xfrm>
            <a:off x="182880" y="4553712"/>
            <a:ext cx="8778240" cy="347472"/>
          </a:xfrm>
          <a:prstGeom prst="rect">
            <a:avLst/>
          </a:prstGeom>
          <a:solidFill>
            <a:srgbClr val="0D1F3C"/>
          </a:solidFill>
          <a:ln w="12700">
            <a:solidFill>
              <a:srgbClr val="7B2FBE"/>
            </a:solidFill>
            <a:prstDash val="solid"/>
          </a:ln>
        </p:spPr>
      </p:sp>
      <p:sp>
        <p:nvSpPr>
          <p:cNvPr id="27" name="Shape 25"/>
          <p:cNvSpPr/>
          <p:nvPr/>
        </p:nvSpPr>
        <p:spPr>
          <a:xfrm>
            <a:off x="182880" y="4553712"/>
            <a:ext cx="1234440" cy="347472"/>
          </a:xfrm>
          <a:prstGeom prst="rect">
            <a:avLst/>
          </a:prstGeom>
          <a:solidFill>
            <a:srgbClr val="7B2FBE">
              <a:alpha val="80000"/>
            </a:srgbClr>
          </a:solidFill>
          <a:ln/>
        </p:spPr>
      </p:sp>
      <p:sp>
        <p:nvSpPr>
          <p:cNvPr id="28" name="Text 26"/>
          <p:cNvSpPr/>
          <p:nvPr/>
        </p:nvSpPr>
        <p:spPr>
          <a:xfrm>
            <a:off x="182880" y="4553712"/>
            <a:ext cx="12344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CRITICAL</a:t>
            </a:r>
            <a:endParaRPr lang="en-US" sz="1100" dirty="0"/>
          </a:p>
        </p:txBody>
      </p:sp>
      <p:sp>
        <p:nvSpPr>
          <p:cNvPr id="29" name="Text 27"/>
          <p:cNvSpPr/>
          <p:nvPr/>
        </p:nvSpPr>
        <p:spPr>
          <a:xfrm>
            <a:off x="1508760" y="4553712"/>
            <a:ext cx="7406640" cy="347472"/>
          </a:xfrm>
          <a:prstGeom prst="rect">
            <a:avLst/>
          </a:prstGeom>
          <a:noFill/>
          <a:ln/>
        </p:spPr>
        <p:txBody>
          <a:bodyPr wrap="square" lIns="0" tIns="0" rIns="0" bIns="0" rtlCol="0" anchor="ctr"/>
          <a:lstStyle/>
          <a:p>
            <a:pPr indent="0" marL="0">
              <a:buNone/>
            </a:pPr>
            <a:r>
              <a:rPr lang="en-US" sz="1050" dirty="0">
                <a:solidFill>
                  <a:srgbClr val="AABBCC"/>
                </a:solidFill>
                <a:latin typeface="Calibri" pitchFamily="34" charset="0"/>
                <a:ea typeface="Calibri" pitchFamily="34" charset="-122"/>
                <a:cs typeface="Calibri" pitchFamily="34" charset="-120"/>
              </a:rPr>
              <a:t>Σοβαρά σφάλματα — πιθανή τερματισμός</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FF9D"/>
            </a:solidFill>
            <a:prstDash val="solid"/>
          </a:ln>
        </p:spPr>
      </p:sp>
      <p:sp>
        <p:nvSpPr>
          <p:cNvPr id="3" name="Shape 1"/>
          <p:cNvSpPr/>
          <p:nvPr/>
        </p:nvSpPr>
        <p:spPr>
          <a:xfrm>
            <a:off x="0" y="0"/>
            <a:ext cx="73152" cy="822960"/>
          </a:xfrm>
          <a:prstGeom prst="rect">
            <a:avLst/>
          </a:prstGeom>
          <a:solidFill>
            <a:srgbClr val="00FF9D"/>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26 — Benchmark &amp; Statistics</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FF9D"/>
                </a:solidFill>
                <a:latin typeface="Calibri" pitchFamily="34" charset="0"/>
                <a:ea typeface="Calibri" pitchFamily="34" charset="-122"/>
                <a:cs typeface="Calibri" pitchFamily="34" charset="-120"/>
              </a:rPr>
              <a:t>calculate_safe_statistics()</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200" i="1" dirty="0">
                <a:solidFill>
                  <a:srgbClr val="AABBCC"/>
                </a:solidFill>
                <a:latin typeface="Calibri" pitchFamily="34" charset="0"/>
                <a:ea typeface="Calibri" pitchFamily="34" charset="-122"/>
                <a:cs typeface="Calibri" pitchFamily="34" charset="-120"/>
              </a:rPr>
              <a:t>Αυτόματος υπολογισμός στατιστικών inference με NumPy ή pure-Python fallback:</a:t>
            </a:r>
            <a:endParaRPr lang="en-US" sz="1200" dirty="0"/>
          </a:p>
        </p:txBody>
      </p:sp>
      <p:sp>
        <p:nvSpPr>
          <p:cNvPr id="7" name="Shape 5"/>
          <p:cNvSpPr/>
          <p:nvPr/>
        </p:nvSpPr>
        <p:spPr>
          <a:xfrm>
            <a:off x="182880" y="1417320"/>
            <a:ext cx="2834640" cy="109728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8" name="Shape 6"/>
          <p:cNvSpPr/>
          <p:nvPr/>
        </p:nvSpPr>
        <p:spPr>
          <a:xfrm>
            <a:off x="182880" y="1417320"/>
            <a:ext cx="2834640" cy="64008"/>
          </a:xfrm>
          <a:prstGeom prst="rect">
            <a:avLst/>
          </a:prstGeom>
          <a:solidFill>
            <a:srgbClr val="00D4FF"/>
          </a:solidFill>
          <a:ln/>
        </p:spPr>
      </p:sp>
      <p:sp>
        <p:nvSpPr>
          <p:cNvPr id="9" name="Text 7"/>
          <p:cNvSpPr/>
          <p:nvPr/>
        </p:nvSpPr>
        <p:spPr>
          <a:xfrm>
            <a:off x="320040" y="1508760"/>
            <a:ext cx="260604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Mean Inference Time</a:t>
            </a:r>
            <a:endParaRPr lang="en-US" sz="1300" dirty="0"/>
          </a:p>
        </p:txBody>
      </p:sp>
      <p:sp>
        <p:nvSpPr>
          <p:cNvPr id="10" name="Text 8"/>
          <p:cNvSpPr/>
          <p:nvPr/>
        </p:nvSpPr>
        <p:spPr>
          <a:xfrm>
            <a:off x="320040" y="189280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Μέσος χρόνος ανίχνευσης</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ανά frame σε ms</a:t>
            </a:r>
            <a:endParaRPr lang="en-US" sz="1050" dirty="0"/>
          </a:p>
        </p:txBody>
      </p:sp>
      <p:sp>
        <p:nvSpPr>
          <p:cNvPr id="11" name="Shape 9"/>
          <p:cNvSpPr/>
          <p:nvPr/>
        </p:nvSpPr>
        <p:spPr>
          <a:xfrm>
            <a:off x="3154680" y="1417320"/>
            <a:ext cx="2834640" cy="109728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12" name="Shape 10"/>
          <p:cNvSpPr/>
          <p:nvPr/>
        </p:nvSpPr>
        <p:spPr>
          <a:xfrm>
            <a:off x="3154680" y="1417320"/>
            <a:ext cx="2834640" cy="64008"/>
          </a:xfrm>
          <a:prstGeom prst="rect">
            <a:avLst/>
          </a:prstGeom>
          <a:solidFill>
            <a:srgbClr val="00FF9D"/>
          </a:solidFill>
          <a:ln/>
        </p:spPr>
      </p:sp>
      <p:sp>
        <p:nvSpPr>
          <p:cNvPr id="13" name="Text 11"/>
          <p:cNvSpPr/>
          <p:nvPr/>
        </p:nvSpPr>
        <p:spPr>
          <a:xfrm>
            <a:off x="3291840" y="1508760"/>
            <a:ext cx="260604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Std Deviation</a:t>
            </a:r>
            <a:endParaRPr lang="en-US" sz="1300" dirty="0"/>
          </a:p>
        </p:txBody>
      </p:sp>
      <p:sp>
        <p:nvSpPr>
          <p:cNvPr id="14" name="Text 12"/>
          <p:cNvSpPr/>
          <p:nvPr/>
        </p:nvSpPr>
        <p:spPr>
          <a:xfrm>
            <a:off x="3291840" y="189280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Τυπική απόκλιση</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για consistency check</a:t>
            </a:r>
            <a:endParaRPr lang="en-US" sz="1050" dirty="0"/>
          </a:p>
        </p:txBody>
      </p:sp>
      <p:sp>
        <p:nvSpPr>
          <p:cNvPr id="15" name="Shape 13"/>
          <p:cNvSpPr/>
          <p:nvPr/>
        </p:nvSpPr>
        <p:spPr>
          <a:xfrm>
            <a:off x="6126480" y="1417320"/>
            <a:ext cx="2834640" cy="109728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16" name="Shape 14"/>
          <p:cNvSpPr/>
          <p:nvPr/>
        </p:nvSpPr>
        <p:spPr>
          <a:xfrm>
            <a:off x="6126480" y="1417320"/>
            <a:ext cx="2834640" cy="64008"/>
          </a:xfrm>
          <a:prstGeom prst="rect">
            <a:avLst/>
          </a:prstGeom>
          <a:solidFill>
            <a:srgbClr val="FF6B35"/>
          </a:solidFill>
          <a:ln/>
        </p:spPr>
      </p:sp>
      <p:sp>
        <p:nvSpPr>
          <p:cNvPr id="17" name="Text 15"/>
          <p:cNvSpPr/>
          <p:nvPr/>
        </p:nvSpPr>
        <p:spPr>
          <a:xfrm>
            <a:off x="6263640" y="1508760"/>
            <a:ext cx="260604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Min / Max Time</a:t>
            </a:r>
            <a:endParaRPr lang="en-US" sz="1300" dirty="0"/>
          </a:p>
        </p:txBody>
      </p:sp>
      <p:sp>
        <p:nvSpPr>
          <p:cNvPr id="18" name="Text 16"/>
          <p:cNvSpPr/>
          <p:nvPr/>
        </p:nvSpPr>
        <p:spPr>
          <a:xfrm>
            <a:off x="6263640" y="189280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Γρηγορότερο &amp;</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αργότερο frame</a:t>
            </a:r>
            <a:endParaRPr lang="en-US" sz="1050" dirty="0"/>
          </a:p>
        </p:txBody>
      </p:sp>
      <p:sp>
        <p:nvSpPr>
          <p:cNvPr id="19" name="Shape 17"/>
          <p:cNvSpPr/>
          <p:nvPr/>
        </p:nvSpPr>
        <p:spPr>
          <a:xfrm>
            <a:off x="182880" y="2606040"/>
            <a:ext cx="2834640" cy="109728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20" name="Shape 18"/>
          <p:cNvSpPr/>
          <p:nvPr/>
        </p:nvSpPr>
        <p:spPr>
          <a:xfrm>
            <a:off x="182880" y="2606040"/>
            <a:ext cx="2834640" cy="64008"/>
          </a:xfrm>
          <a:prstGeom prst="rect">
            <a:avLst/>
          </a:prstGeom>
          <a:solidFill>
            <a:srgbClr val="7B2FBE"/>
          </a:solidFill>
          <a:ln/>
        </p:spPr>
      </p:sp>
      <p:sp>
        <p:nvSpPr>
          <p:cNvPr id="21" name="Text 19"/>
          <p:cNvSpPr/>
          <p:nvPr/>
        </p:nvSpPr>
        <p:spPr>
          <a:xfrm>
            <a:off x="320040" y="2697480"/>
            <a:ext cx="260604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Avg Confidence</a:t>
            </a:r>
            <a:endParaRPr lang="en-US" sz="1300" dirty="0"/>
          </a:p>
        </p:txBody>
      </p:sp>
      <p:sp>
        <p:nvSpPr>
          <p:cNvPr id="22" name="Text 20"/>
          <p:cNvSpPr/>
          <p:nvPr/>
        </p:nvSpPr>
        <p:spPr>
          <a:xfrm>
            <a:off x="320040" y="308152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Μέσο confidence score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όλων των detections</a:t>
            </a:r>
            <a:endParaRPr lang="en-US" sz="1050" dirty="0"/>
          </a:p>
        </p:txBody>
      </p:sp>
      <p:sp>
        <p:nvSpPr>
          <p:cNvPr id="23" name="Shape 21"/>
          <p:cNvSpPr/>
          <p:nvPr/>
        </p:nvSpPr>
        <p:spPr>
          <a:xfrm>
            <a:off x="3154680" y="2606040"/>
            <a:ext cx="2834640" cy="109728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24" name="Shape 22"/>
          <p:cNvSpPr/>
          <p:nvPr/>
        </p:nvSpPr>
        <p:spPr>
          <a:xfrm>
            <a:off x="3154680" y="2606040"/>
            <a:ext cx="2834640" cy="64008"/>
          </a:xfrm>
          <a:prstGeom prst="rect">
            <a:avLst/>
          </a:prstGeom>
          <a:solidFill>
            <a:srgbClr val="FF2D78"/>
          </a:solidFill>
          <a:ln/>
        </p:spPr>
      </p:sp>
      <p:sp>
        <p:nvSpPr>
          <p:cNvPr id="25" name="Text 23"/>
          <p:cNvSpPr/>
          <p:nvPr/>
        </p:nvSpPr>
        <p:spPr>
          <a:xfrm>
            <a:off x="3291840" y="2697480"/>
            <a:ext cx="260604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Total Detections</a:t>
            </a:r>
            <a:endParaRPr lang="en-US" sz="1300" dirty="0"/>
          </a:p>
        </p:txBody>
      </p:sp>
      <p:sp>
        <p:nvSpPr>
          <p:cNvPr id="26" name="Text 24"/>
          <p:cNvSpPr/>
          <p:nvPr/>
        </p:nvSpPr>
        <p:spPr>
          <a:xfrm>
            <a:off x="3291840" y="308152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Συνολικές ανιχνεύσεις</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κατά session</a:t>
            </a:r>
            <a:endParaRPr lang="en-US" sz="1050" dirty="0"/>
          </a:p>
        </p:txBody>
      </p:sp>
      <p:sp>
        <p:nvSpPr>
          <p:cNvPr id="27" name="Shape 25"/>
          <p:cNvSpPr/>
          <p:nvPr/>
        </p:nvSpPr>
        <p:spPr>
          <a:xfrm>
            <a:off x="6126480" y="2606040"/>
            <a:ext cx="2834640" cy="1097280"/>
          </a:xfrm>
          <a:prstGeom prst="rect">
            <a:avLst/>
          </a:prstGeom>
          <a:solidFill>
            <a:srgbClr val="0D1F3C"/>
          </a:solidFill>
          <a:ln w="19050">
            <a:solidFill>
              <a:srgbClr val="FFD700"/>
            </a:solidFill>
            <a:prstDash val="solid"/>
          </a:ln>
          <a:effectLst>
            <a:outerShdw sx="100000" sy="100000" kx="0" ky="0" algn="bl" rotWithShape="0" blurRad="127000" dist="38100" dir="8100000">
              <a:srgbClr val="000000">
                <a:alpha val="40000"/>
              </a:srgbClr>
            </a:outerShdw>
          </a:effectLst>
        </p:spPr>
      </p:sp>
      <p:sp>
        <p:nvSpPr>
          <p:cNvPr id="28" name="Shape 26"/>
          <p:cNvSpPr/>
          <p:nvPr/>
        </p:nvSpPr>
        <p:spPr>
          <a:xfrm>
            <a:off x="6126480" y="2606040"/>
            <a:ext cx="2834640" cy="64008"/>
          </a:xfrm>
          <a:prstGeom prst="rect">
            <a:avLst/>
          </a:prstGeom>
          <a:solidFill>
            <a:srgbClr val="FFD700"/>
          </a:solidFill>
          <a:ln/>
        </p:spPr>
      </p:sp>
      <p:sp>
        <p:nvSpPr>
          <p:cNvPr id="29" name="Text 27"/>
          <p:cNvSpPr/>
          <p:nvPr/>
        </p:nvSpPr>
        <p:spPr>
          <a:xfrm>
            <a:off x="6263640" y="2697480"/>
            <a:ext cx="2606040" cy="320040"/>
          </a:xfrm>
          <a:prstGeom prst="rect">
            <a:avLst/>
          </a:prstGeom>
          <a:noFill/>
          <a:ln/>
        </p:spPr>
        <p:txBody>
          <a:bodyPr wrap="square" lIns="0" tIns="0" rIns="0" bIns="0"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FPS Calculation</a:t>
            </a:r>
            <a:endParaRPr lang="en-US" sz="1300" dirty="0"/>
          </a:p>
        </p:txBody>
      </p:sp>
      <p:sp>
        <p:nvSpPr>
          <p:cNvPr id="30" name="Text 28"/>
          <p:cNvSpPr/>
          <p:nvPr/>
        </p:nvSpPr>
        <p:spPr>
          <a:xfrm>
            <a:off x="6263640" y="3081528"/>
            <a:ext cx="2560320" cy="5303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Live FPS = 1000ms /</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mean_inference_time</a:t>
            </a:r>
            <a:endParaRPr lang="en-US" sz="1050" dirty="0"/>
          </a:p>
        </p:txBody>
      </p:sp>
      <p:sp>
        <p:nvSpPr>
          <p:cNvPr id="31" name="Text 29"/>
          <p:cNvSpPr/>
          <p:nvPr/>
        </p:nvSpPr>
        <p:spPr>
          <a:xfrm>
            <a:off x="274320" y="3840480"/>
            <a:ext cx="8595360" cy="320040"/>
          </a:xfrm>
          <a:prstGeom prst="rect">
            <a:avLst/>
          </a:prstGeom>
          <a:noFill/>
          <a:ln/>
        </p:spPr>
        <p:txBody>
          <a:bodyPr wrap="square" lIns="0" tIns="0" rIns="0" bIns="0" rtlCol="0" anchor="ctr"/>
          <a:lstStyle/>
          <a:p>
            <a:pPr indent="0" marL="0">
              <a:buNone/>
            </a:pPr>
            <a:r>
              <a:rPr lang="en-US" sz="1200" b="1" dirty="0">
                <a:solidFill>
                  <a:srgbClr val="00FF9D"/>
                </a:solidFill>
                <a:latin typeface="Calibri" pitchFamily="34" charset="0"/>
                <a:ea typeface="Calibri" pitchFamily="34" charset="-122"/>
                <a:cs typeface="Calibri" pitchFamily="34" charset="-120"/>
              </a:rPr>
              <a:t>Παράδειγμα Training Metrics (mAP50 vs Epochs)</a:t>
            </a:r>
            <a:endParaRPr lang="en-US" sz="1200" dirty="0"/>
          </a:p>
        </p:txBody>
      </p:sp>
      <p:graphicFrame>
        <p:nvGraphicFramePr>
          <p:cNvPr id="32" name="Chart 0" descr=""/>
          <p:cNvGraphicFramePr/>
          <p:nvPr/>
        </p:nvGraphicFramePr>
        <p:xfrm>
          <a:off x="182880" y="4206240"/>
          <a:ext cx="8778240" cy="8229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6B35"/>
            </a:solidFill>
            <a:prstDash val="solid"/>
          </a:ln>
        </p:spPr>
      </p:sp>
      <p:sp>
        <p:nvSpPr>
          <p:cNvPr id="3" name="Shape 1"/>
          <p:cNvSpPr/>
          <p:nvPr/>
        </p:nvSpPr>
        <p:spPr>
          <a:xfrm>
            <a:off x="0" y="0"/>
            <a:ext cx="73152" cy="822960"/>
          </a:xfrm>
          <a:prstGeom prst="rect">
            <a:avLst/>
          </a:prstGeom>
          <a:solidFill>
            <a:srgbClr val="FF6B35"/>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27 — Auto Image Resize (imgsz)</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6B35"/>
                </a:solidFill>
                <a:latin typeface="Calibri" pitchFamily="34" charset="0"/>
                <a:ea typeface="Calibri" pitchFamily="34" charset="-122"/>
                <a:cs typeface="Calibri" pitchFamily="34" charset="-120"/>
              </a:rPr>
              <a:t>Έξυπνο Preprocessing Pipeline</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200" i="1" dirty="0">
                <a:solidFill>
                  <a:srgbClr val="AABBCC"/>
                </a:solidFill>
                <a:latin typeface="Calibri" pitchFamily="34" charset="0"/>
                <a:ea typeface="Calibri" pitchFamily="34" charset="-122"/>
                <a:cs typeface="Calibri" pitchFamily="34" charset="-120"/>
              </a:rPr>
              <a:t>Το σύστημα αλλάζει αυτόματα το μέγεθος των εικόνων στο απαιτούμενο imgsz:</a:t>
            </a:r>
            <a:endParaRPr lang="en-US" sz="1200" dirty="0"/>
          </a:p>
        </p:txBody>
      </p:sp>
      <p:sp>
        <p:nvSpPr>
          <p:cNvPr id="7" name="Shape 5"/>
          <p:cNvSpPr/>
          <p:nvPr/>
        </p:nvSpPr>
        <p:spPr>
          <a:xfrm>
            <a:off x="365760" y="1417320"/>
            <a:ext cx="1645920" cy="1463040"/>
          </a:xfrm>
          <a:prstGeom prst="rect">
            <a:avLst/>
          </a:prstGeom>
          <a:solidFill>
            <a:srgbClr val="0D1F3C"/>
          </a:solidFill>
          <a:ln w="25400">
            <a:solidFill>
              <a:srgbClr val="00D4FF"/>
            </a:solidFill>
            <a:prstDash val="solid"/>
          </a:ln>
        </p:spPr>
      </p:sp>
      <p:sp>
        <p:nvSpPr>
          <p:cNvPr id="8" name="Text 6"/>
          <p:cNvSpPr/>
          <p:nvPr/>
        </p:nvSpPr>
        <p:spPr>
          <a:xfrm>
            <a:off x="365760" y="1463040"/>
            <a:ext cx="1645920" cy="45720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Original</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Input</a:t>
            </a:r>
            <a:endParaRPr lang="en-US" sz="1000" dirty="0"/>
          </a:p>
        </p:txBody>
      </p:sp>
      <p:sp>
        <p:nvSpPr>
          <p:cNvPr id="9" name="Text 7"/>
          <p:cNvSpPr/>
          <p:nvPr/>
        </p:nvSpPr>
        <p:spPr>
          <a:xfrm>
            <a:off x="365760" y="1965960"/>
            <a:ext cx="1645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1920×1080</a:t>
            </a:r>
            <a:endParaRPr lang="en-US" sz="1100" dirty="0"/>
          </a:p>
        </p:txBody>
      </p:sp>
      <p:sp>
        <p:nvSpPr>
          <p:cNvPr id="10" name="Shape 8"/>
          <p:cNvSpPr/>
          <p:nvPr/>
        </p:nvSpPr>
        <p:spPr>
          <a:xfrm>
            <a:off x="2743200" y="1417320"/>
            <a:ext cx="1645920" cy="1463040"/>
          </a:xfrm>
          <a:prstGeom prst="rect">
            <a:avLst/>
          </a:prstGeom>
          <a:solidFill>
            <a:srgbClr val="0D1F3C"/>
          </a:solidFill>
          <a:ln w="25400">
            <a:solidFill>
              <a:srgbClr val="00FF9D"/>
            </a:solidFill>
            <a:prstDash val="solid"/>
          </a:ln>
        </p:spPr>
      </p:sp>
      <p:sp>
        <p:nvSpPr>
          <p:cNvPr id="11" name="Text 9"/>
          <p:cNvSpPr/>
          <p:nvPr/>
        </p:nvSpPr>
        <p:spPr>
          <a:xfrm>
            <a:off x="2743200" y="1463040"/>
            <a:ext cx="1645920" cy="457200"/>
          </a:xfrm>
          <a:prstGeom prst="rect">
            <a:avLst/>
          </a:prstGeom>
          <a:noFill/>
          <a:ln/>
        </p:spPr>
        <p:txBody>
          <a:bodyPr wrap="square" lIns="0" tIns="0" rIns="0" bIns="0" rtlCol="0" anchor="ctr"/>
          <a:lstStyle/>
          <a:p>
            <a:pPr algn="ctr" indent="0" marL="0">
              <a:buNone/>
            </a:pPr>
            <a:r>
              <a:rPr lang="en-US" sz="1000" b="1" dirty="0">
                <a:solidFill>
                  <a:srgbClr val="00FF9D"/>
                </a:solidFill>
                <a:latin typeface="Calibri" pitchFamily="34" charset="0"/>
                <a:ea typeface="Calibri" pitchFamily="34" charset="-122"/>
                <a:cs typeface="Calibri" pitchFamily="34" charset="-120"/>
              </a:rPr>
              <a:t>imgsz=640</a:t>
            </a:r>
            <a:endParaRPr lang="en-US" sz="1000" dirty="0"/>
          </a:p>
          <a:p>
            <a:pPr algn="ctr" indent="0" marL="0">
              <a:buNone/>
            </a:pPr>
            <a:r>
              <a:rPr lang="en-US" sz="1000" b="1" dirty="0">
                <a:solidFill>
                  <a:srgbClr val="00FF9D"/>
                </a:solidFill>
                <a:latin typeface="Calibri" pitchFamily="34" charset="0"/>
                <a:ea typeface="Calibri" pitchFamily="34" charset="-122"/>
                <a:cs typeface="Calibri" pitchFamily="34" charset="-120"/>
              </a:rPr>
              <a:t>(Default)</a:t>
            </a:r>
            <a:endParaRPr lang="en-US" sz="1000" dirty="0"/>
          </a:p>
        </p:txBody>
      </p:sp>
      <p:sp>
        <p:nvSpPr>
          <p:cNvPr id="12" name="Text 10"/>
          <p:cNvSpPr/>
          <p:nvPr/>
        </p:nvSpPr>
        <p:spPr>
          <a:xfrm>
            <a:off x="2743200" y="1965960"/>
            <a:ext cx="1645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640×640</a:t>
            </a:r>
            <a:endParaRPr lang="en-US" sz="1100" dirty="0"/>
          </a:p>
        </p:txBody>
      </p:sp>
      <p:sp>
        <p:nvSpPr>
          <p:cNvPr id="13" name="Shape 11"/>
          <p:cNvSpPr/>
          <p:nvPr/>
        </p:nvSpPr>
        <p:spPr>
          <a:xfrm>
            <a:off x="5120640" y="1417320"/>
            <a:ext cx="1645920" cy="1463040"/>
          </a:xfrm>
          <a:prstGeom prst="rect">
            <a:avLst/>
          </a:prstGeom>
          <a:solidFill>
            <a:srgbClr val="0D1F3C"/>
          </a:solidFill>
          <a:ln w="25400">
            <a:solidFill>
              <a:srgbClr val="FF6B35"/>
            </a:solidFill>
            <a:prstDash val="solid"/>
          </a:ln>
        </p:spPr>
      </p:sp>
      <p:sp>
        <p:nvSpPr>
          <p:cNvPr id="14" name="Text 12"/>
          <p:cNvSpPr/>
          <p:nvPr/>
        </p:nvSpPr>
        <p:spPr>
          <a:xfrm>
            <a:off x="5120640" y="1463040"/>
            <a:ext cx="1645920" cy="457200"/>
          </a:xfrm>
          <a:prstGeom prst="rect">
            <a:avLst/>
          </a:prstGeom>
          <a:noFill/>
          <a:ln/>
        </p:spPr>
        <p:txBody>
          <a:bodyPr wrap="square" lIns="0" tIns="0" rIns="0" bIns="0" rtlCol="0" anchor="ctr"/>
          <a:lstStyle/>
          <a:p>
            <a:pPr algn="ctr" indent="0" marL="0">
              <a:buNone/>
            </a:pPr>
            <a:r>
              <a:rPr lang="en-US" sz="1000" b="1" dirty="0">
                <a:solidFill>
                  <a:srgbClr val="FF6B35"/>
                </a:solidFill>
                <a:latin typeface="Calibri" pitchFamily="34" charset="0"/>
                <a:ea typeface="Calibri" pitchFamily="34" charset="-122"/>
                <a:cs typeface="Calibri" pitchFamily="34" charset="-120"/>
              </a:rPr>
              <a:t>imgsz=320</a:t>
            </a:r>
            <a:endParaRPr lang="en-US" sz="1000" dirty="0"/>
          </a:p>
          <a:p>
            <a:pPr algn="ctr" indent="0" marL="0">
              <a:buNone/>
            </a:pPr>
            <a:r>
              <a:rPr lang="en-US" sz="1000" b="1" dirty="0">
                <a:solidFill>
                  <a:srgbClr val="FF6B35"/>
                </a:solidFill>
                <a:latin typeface="Calibri" pitchFamily="34" charset="0"/>
                <a:ea typeface="Calibri" pitchFamily="34" charset="-122"/>
                <a:cs typeface="Calibri" pitchFamily="34" charset="-120"/>
              </a:rPr>
              <a:t>(Mobile)</a:t>
            </a:r>
            <a:endParaRPr lang="en-US" sz="1000" dirty="0"/>
          </a:p>
        </p:txBody>
      </p:sp>
      <p:sp>
        <p:nvSpPr>
          <p:cNvPr id="15" name="Text 13"/>
          <p:cNvSpPr/>
          <p:nvPr/>
        </p:nvSpPr>
        <p:spPr>
          <a:xfrm>
            <a:off x="5120640" y="1965960"/>
            <a:ext cx="1645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320×320</a:t>
            </a:r>
            <a:endParaRPr lang="en-US" sz="1100" dirty="0"/>
          </a:p>
        </p:txBody>
      </p:sp>
      <p:sp>
        <p:nvSpPr>
          <p:cNvPr id="16" name="Shape 14"/>
          <p:cNvSpPr/>
          <p:nvPr/>
        </p:nvSpPr>
        <p:spPr>
          <a:xfrm>
            <a:off x="7315200" y="1417320"/>
            <a:ext cx="1645920" cy="1463040"/>
          </a:xfrm>
          <a:prstGeom prst="rect">
            <a:avLst/>
          </a:prstGeom>
          <a:solidFill>
            <a:srgbClr val="0D1F3C"/>
          </a:solidFill>
          <a:ln w="25400">
            <a:solidFill>
              <a:srgbClr val="7B2FBE"/>
            </a:solidFill>
            <a:prstDash val="solid"/>
          </a:ln>
        </p:spPr>
      </p:sp>
      <p:sp>
        <p:nvSpPr>
          <p:cNvPr id="17" name="Text 15"/>
          <p:cNvSpPr/>
          <p:nvPr/>
        </p:nvSpPr>
        <p:spPr>
          <a:xfrm>
            <a:off x="7315200" y="1463040"/>
            <a:ext cx="1645920" cy="457200"/>
          </a:xfrm>
          <a:prstGeom prst="rect">
            <a:avLst/>
          </a:prstGeom>
          <a:noFill/>
          <a:ln/>
        </p:spPr>
        <p:txBody>
          <a:bodyPr wrap="square" lIns="0" tIns="0" rIns="0" bIns="0" rtlCol="0" anchor="ctr"/>
          <a:lstStyle/>
          <a:p>
            <a:pPr algn="ctr" indent="0" marL="0">
              <a:buNone/>
            </a:pPr>
            <a:r>
              <a:rPr lang="en-US" sz="1000" b="1" dirty="0">
                <a:solidFill>
                  <a:srgbClr val="7B2FBE"/>
                </a:solidFill>
                <a:latin typeface="Calibri" pitchFamily="34" charset="0"/>
                <a:ea typeface="Calibri" pitchFamily="34" charset="-122"/>
                <a:cs typeface="Calibri" pitchFamily="34" charset="-120"/>
              </a:rPr>
              <a:t>imgsz=1280</a:t>
            </a:r>
            <a:endParaRPr lang="en-US" sz="1000" dirty="0"/>
          </a:p>
          <a:p>
            <a:pPr algn="ctr" indent="0" marL="0">
              <a:buNone/>
            </a:pPr>
            <a:r>
              <a:rPr lang="en-US" sz="1000" b="1" dirty="0">
                <a:solidFill>
                  <a:srgbClr val="7B2FBE"/>
                </a:solidFill>
                <a:latin typeface="Calibri" pitchFamily="34" charset="0"/>
                <a:ea typeface="Calibri" pitchFamily="34" charset="-122"/>
                <a:cs typeface="Calibri" pitchFamily="34" charset="-120"/>
              </a:rPr>
              <a:t>(High-Res)</a:t>
            </a:r>
            <a:endParaRPr lang="en-US" sz="1000" dirty="0"/>
          </a:p>
        </p:txBody>
      </p:sp>
      <p:sp>
        <p:nvSpPr>
          <p:cNvPr id="18" name="Text 16"/>
          <p:cNvSpPr/>
          <p:nvPr/>
        </p:nvSpPr>
        <p:spPr>
          <a:xfrm>
            <a:off x="7315200" y="1965960"/>
            <a:ext cx="1645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1280×1280</a:t>
            </a:r>
            <a:endParaRPr lang="en-US" sz="1100" dirty="0"/>
          </a:p>
        </p:txBody>
      </p:sp>
      <p:sp>
        <p:nvSpPr>
          <p:cNvPr id="19" name="Shape 17"/>
          <p:cNvSpPr/>
          <p:nvPr/>
        </p:nvSpPr>
        <p:spPr>
          <a:xfrm>
            <a:off x="1115568" y="2148840"/>
            <a:ext cx="502920" cy="0"/>
          </a:xfrm>
          <a:prstGeom prst="line">
            <a:avLst/>
          </a:prstGeom>
          <a:noFill/>
          <a:ln w="25400">
            <a:solidFill>
              <a:srgbClr val="8899BB"/>
            </a:solidFill>
            <a:prstDash val="solid"/>
          </a:ln>
        </p:spPr>
      </p:sp>
      <p:sp>
        <p:nvSpPr>
          <p:cNvPr id="20" name="Shape 18"/>
          <p:cNvSpPr/>
          <p:nvPr/>
        </p:nvSpPr>
        <p:spPr>
          <a:xfrm>
            <a:off x="4434840" y="2148840"/>
            <a:ext cx="502920" cy="0"/>
          </a:xfrm>
          <a:prstGeom prst="line">
            <a:avLst/>
          </a:prstGeom>
          <a:noFill/>
          <a:ln w="25400">
            <a:solidFill>
              <a:srgbClr val="8899BB"/>
            </a:solidFill>
            <a:prstDash val="solid"/>
          </a:ln>
        </p:spPr>
      </p:sp>
      <p:sp>
        <p:nvSpPr>
          <p:cNvPr id="21" name="Text 19"/>
          <p:cNvSpPr/>
          <p:nvPr/>
        </p:nvSpPr>
        <p:spPr>
          <a:xfrm>
            <a:off x="274320" y="3063240"/>
            <a:ext cx="8595360" cy="320040"/>
          </a:xfrm>
          <a:prstGeom prst="rect">
            <a:avLst/>
          </a:prstGeom>
          <a:noFill/>
          <a:ln/>
        </p:spPr>
        <p:txBody>
          <a:bodyPr wrap="square" lIns="0" tIns="0" rIns="0" bIns="0" rtlCol="0" anchor="ctr"/>
          <a:lstStyle/>
          <a:p>
            <a:pPr indent="0" marL="0">
              <a:buNone/>
            </a:pPr>
            <a:r>
              <a:rPr lang="en-US" sz="1400" b="1" dirty="0">
                <a:solidFill>
                  <a:srgbClr val="FF6B35"/>
                </a:solidFill>
                <a:latin typeface="Calibri" pitchFamily="34" charset="0"/>
                <a:ea typeface="Calibri" pitchFamily="34" charset="-122"/>
                <a:cs typeface="Calibri" pitchFamily="34" charset="-120"/>
              </a:rPr>
              <a:t>Αυτόματος Υπολογισμός imgsz</a:t>
            </a:r>
            <a:endParaRPr lang="en-US" sz="1400" dirty="0"/>
          </a:p>
        </p:txBody>
      </p:sp>
      <p:sp>
        <p:nvSpPr>
          <p:cNvPr id="22" name="Shape 20"/>
          <p:cNvSpPr/>
          <p:nvPr/>
        </p:nvSpPr>
        <p:spPr>
          <a:xfrm>
            <a:off x="182880" y="3520440"/>
            <a:ext cx="4114800" cy="667512"/>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23" name="Shape 21"/>
          <p:cNvSpPr/>
          <p:nvPr/>
        </p:nvSpPr>
        <p:spPr>
          <a:xfrm>
            <a:off x="182880" y="3520440"/>
            <a:ext cx="4114800" cy="64008"/>
          </a:xfrm>
          <a:prstGeom prst="rect">
            <a:avLst/>
          </a:prstGeom>
          <a:solidFill>
            <a:srgbClr val="00D4FF"/>
          </a:solidFill>
          <a:ln/>
        </p:spPr>
      </p:sp>
      <p:sp>
        <p:nvSpPr>
          <p:cNvPr id="24" name="Text 22"/>
          <p:cNvSpPr/>
          <p:nvPr/>
        </p:nvSpPr>
        <p:spPr>
          <a:xfrm>
            <a:off x="320040" y="3611880"/>
            <a:ext cx="388620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Aspect Ratio</a:t>
            </a:r>
            <a:endParaRPr lang="en-US" sz="1300" dirty="0"/>
          </a:p>
          <a:p>
            <a:pPr indent="0" marL="0">
              <a:buNone/>
            </a:pPr>
            <a:r>
              <a:rPr lang="en-US" sz="1300" b="1" dirty="0">
                <a:solidFill>
                  <a:srgbClr val="00D4FF"/>
                </a:solidFill>
                <a:latin typeface="Calibri" pitchFamily="34" charset="0"/>
                <a:ea typeface="Calibri" pitchFamily="34" charset="-122"/>
                <a:cs typeface="Calibri" pitchFamily="34" charset="-120"/>
              </a:rPr>
              <a:t>Preservation</a:t>
            </a:r>
            <a:endParaRPr lang="en-US" sz="1300" dirty="0"/>
          </a:p>
        </p:txBody>
      </p:sp>
      <p:sp>
        <p:nvSpPr>
          <p:cNvPr id="25" name="Text 23"/>
          <p:cNvSpPr/>
          <p:nvPr/>
        </p:nvSpPr>
        <p:spPr>
          <a:xfrm>
            <a:off x="320040" y="3995928"/>
            <a:ext cx="384048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Letterboxing για διατήρηση</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aναλογίας χωρίς distortion</a:t>
            </a:r>
            <a:endParaRPr lang="en-US" sz="1050" dirty="0"/>
          </a:p>
        </p:txBody>
      </p:sp>
      <p:sp>
        <p:nvSpPr>
          <p:cNvPr id="26" name="Shape 24"/>
          <p:cNvSpPr/>
          <p:nvPr/>
        </p:nvSpPr>
        <p:spPr>
          <a:xfrm>
            <a:off x="4526280" y="3520440"/>
            <a:ext cx="4114800" cy="667512"/>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27" name="Shape 25"/>
          <p:cNvSpPr/>
          <p:nvPr/>
        </p:nvSpPr>
        <p:spPr>
          <a:xfrm>
            <a:off x="4526280" y="3520440"/>
            <a:ext cx="4114800" cy="64008"/>
          </a:xfrm>
          <a:prstGeom prst="rect">
            <a:avLst/>
          </a:prstGeom>
          <a:solidFill>
            <a:srgbClr val="00FF9D"/>
          </a:solidFill>
          <a:ln/>
        </p:spPr>
      </p:sp>
      <p:sp>
        <p:nvSpPr>
          <p:cNvPr id="28" name="Text 26"/>
          <p:cNvSpPr/>
          <p:nvPr/>
        </p:nvSpPr>
        <p:spPr>
          <a:xfrm>
            <a:off x="4663440" y="3611880"/>
            <a:ext cx="388620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Stride Alignment</a:t>
            </a:r>
            <a:endParaRPr lang="en-US" sz="1300" dirty="0"/>
          </a:p>
        </p:txBody>
      </p:sp>
      <p:sp>
        <p:nvSpPr>
          <p:cNvPr id="29" name="Text 27"/>
          <p:cNvSpPr/>
          <p:nvPr/>
        </p:nvSpPr>
        <p:spPr>
          <a:xfrm>
            <a:off x="4663440" y="3995928"/>
            <a:ext cx="384048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imgsz πάντα πολλαπλάσιο</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του 32 (YOLO requirement)</a:t>
            </a:r>
            <a:endParaRPr lang="en-US" sz="1050" dirty="0"/>
          </a:p>
        </p:txBody>
      </p:sp>
      <p:sp>
        <p:nvSpPr>
          <p:cNvPr id="30" name="Shape 28"/>
          <p:cNvSpPr/>
          <p:nvPr/>
        </p:nvSpPr>
        <p:spPr>
          <a:xfrm>
            <a:off x="182880" y="4270248"/>
            <a:ext cx="4114800" cy="667512"/>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31" name="Shape 29"/>
          <p:cNvSpPr/>
          <p:nvPr/>
        </p:nvSpPr>
        <p:spPr>
          <a:xfrm>
            <a:off x="182880" y="4270248"/>
            <a:ext cx="4114800" cy="64008"/>
          </a:xfrm>
          <a:prstGeom prst="rect">
            <a:avLst/>
          </a:prstGeom>
          <a:solidFill>
            <a:srgbClr val="FF6B35"/>
          </a:solidFill>
          <a:ln/>
        </p:spPr>
      </p:sp>
      <p:sp>
        <p:nvSpPr>
          <p:cNvPr id="32" name="Text 30"/>
          <p:cNvSpPr/>
          <p:nvPr/>
        </p:nvSpPr>
        <p:spPr>
          <a:xfrm>
            <a:off x="320040" y="4361688"/>
            <a:ext cx="388620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Batch Padding</a:t>
            </a:r>
            <a:endParaRPr lang="en-US" sz="1300" dirty="0"/>
          </a:p>
        </p:txBody>
      </p:sp>
      <p:sp>
        <p:nvSpPr>
          <p:cNvPr id="33" name="Text 31"/>
          <p:cNvSpPr/>
          <p:nvPr/>
        </p:nvSpPr>
        <p:spPr>
          <a:xfrm>
            <a:off x="320040" y="4745736"/>
            <a:ext cx="384048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Ομοιόμορφο padding σε</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batch για GPU efficiency</a:t>
            </a:r>
            <a:endParaRPr lang="en-US" sz="1050" dirty="0"/>
          </a:p>
        </p:txBody>
      </p:sp>
      <p:sp>
        <p:nvSpPr>
          <p:cNvPr id="34" name="Shape 32"/>
          <p:cNvSpPr/>
          <p:nvPr/>
        </p:nvSpPr>
        <p:spPr>
          <a:xfrm>
            <a:off x="4526280" y="4270248"/>
            <a:ext cx="4114800" cy="667512"/>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35" name="Shape 33"/>
          <p:cNvSpPr/>
          <p:nvPr/>
        </p:nvSpPr>
        <p:spPr>
          <a:xfrm>
            <a:off x="4526280" y="4270248"/>
            <a:ext cx="4114800" cy="64008"/>
          </a:xfrm>
          <a:prstGeom prst="rect">
            <a:avLst/>
          </a:prstGeom>
          <a:solidFill>
            <a:srgbClr val="7B2FBE"/>
          </a:solidFill>
          <a:ln/>
        </p:spPr>
      </p:sp>
      <p:sp>
        <p:nvSpPr>
          <p:cNvPr id="36" name="Text 34"/>
          <p:cNvSpPr/>
          <p:nvPr/>
        </p:nvSpPr>
        <p:spPr>
          <a:xfrm>
            <a:off x="4663440" y="4361688"/>
            <a:ext cx="388620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Dynamic Shapes</a:t>
            </a:r>
            <a:endParaRPr lang="en-US" sz="1300" dirty="0"/>
          </a:p>
        </p:txBody>
      </p:sp>
      <p:sp>
        <p:nvSpPr>
          <p:cNvPr id="37" name="Text 35"/>
          <p:cNvSpPr/>
          <p:nvPr/>
        </p:nvSpPr>
        <p:spPr>
          <a:xfrm>
            <a:off x="4663440" y="4745736"/>
            <a:ext cx="3840480" cy="100584"/>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ONNX export με dynamic</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axes για ευέλικτο input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7B2FBE"/>
            </a:solidFill>
            <a:prstDash val="solid"/>
          </a:ln>
        </p:spPr>
      </p:sp>
      <p:sp>
        <p:nvSpPr>
          <p:cNvPr id="3" name="Shape 1"/>
          <p:cNvSpPr/>
          <p:nvPr/>
        </p:nvSpPr>
        <p:spPr>
          <a:xfrm>
            <a:off x="0" y="0"/>
            <a:ext cx="73152" cy="822960"/>
          </a:xfrm>
          <a:prstGeom prst="rect">
            <a:avLst/>
          </a:prstGeom>
          <a:solidFill>
            <a:srgbClr val="7B2FBE"/>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28 — Αυτόματη Ανίχνευση Hardware</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7B2FBE"/>
                </a:solidFill>
                <a:latin typeface="Calibri" pitchFamily="34" charset="0"/>
                <a:ea typeface="Calibri" pitchFamily="34" charset="-122"/>
                <a:cs typeface="Calibri" pitchFamily="34" charset="-120"/>
              </a:rPr>
              <a:t>GPU Detection &amp; CUDA Configuration</a:t>
            </a:r>
            <a:endParaRPr lang="en-US" sz="1100" dirty="0"/>
          </a:p>
        </p:txBody>
      </p:sp>
      <p:sp>
        <p:nvSpPr>
          <p:cNvPr id="6" name="Shape 4"/>
          <p:cNvSpPr/>
          <p:nvPr/>
        </p:nvSpPr>
        <p:spPr>
          <a:xfrm>
            <a:off x="365760" y="960120"/>
            <a:ext cx="1463040" cy="777240"/>
          </a:xfrm>
          <a:prstGeom prst="rect">
            <a:avLst/>
          </a:prstGeom>
          <a:solidFill>
            <a:srgbClr val="0D1F3C"/>
          </a:solidFill>
          <a:ln w="25400">
            <a:solidFill>
              <a:srgbClr val="00D4FF"/>
            </a:solidFill>
            <a:prstDash val="solid"/>
          </a:ln>
        </p:spPr>
      </p:sp>
      <p:sp>
        <p:nvSpPr>
          <p:cNvPr id="7" name="Text 5"/>
          <p:cNvSpPr/>
          <p:nvPr/>
        </p:nvSpPr>
        <p:spPr>
          <a:xfrm>
            <a:off x="365760" y="960120"/>
            <a:ext cx="1463040" cy="77724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torch.cuda</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.is_available()</a:t>
            </a:r>
            <a:endParaRPr lang="en-US" sz="1000" dirty="0"/>
          </a:p>
        </p:txBody>
      </p:sp>
      <p:sp>
        <p:nvSpPr>
          <p:cNvPr id="8" name="Shape 6"/>
          <p:cNvSpPr/>
          <p:nvPr/>
        </p:nvSpPr>
        <p:spPr>
          <a:xfrm>
            <a:off x="1828800" y="1344168"/>
            <a:ext cx="228600" cy="0"/>
          </a:xfrm>
          <a:prstGeom prst="line">
            <a:avLst/>
          </a:prstGeom>
          <a:noFill/>
          <a:ln w="25400">
            <a:solidFill>
              <a:srgbClr val="8899BB"/>
            </a:solidFill>
            <a:prstDash val="solid"/>
          </a:ln>
        </p:spPr>
      </p:sp>
      <p:sp>
        <p:nvSpPr>
          <p:cNvPr id="9" name="Shape 7"/>
          <p:cNvSpPr/>
          <p:nvPr/>
        </p:nvSpPr>
        <p:spPr>
          <a:xfrm>
            <a:off x="2057400" y="960120"/>
            <a:ext cx="1463040" cy="777240"/>
          </a:xfrm>
          <a:prstGeom prst="rect">
            <a:avLst/>
          </a:prstGeom>
          <a:solidFill>
            <a:srgbClr val="0D1F3C"/>
          </a:solidFill>
          <a:ln w="25400">
            <a:solidFill>
              <a:srgbClr val="00FF9D"/>
            </a:solidFill>
            <a:prstDash val="solid"/>
          </a:ln>
        </p:spPr>
      </p:sp>
      <p:sp>
        <p:nvSpPr>
          <p:cNvPr id="10" name="Text 8"/>
          <p:cNvSpPr/>
          <p:nvPr/>
        </p:nvSpPr>
        <p:spPr>
          <a:xfrm>
            <a:off x="2057400" y="960120"/>
            <a:ext cx="1463040" cy="777240"/>
          </a:xfrm>
          <a:prstGeom prst="rect">
            <a:avLst/>
          </a:prstGeom>
          <a:noFill/>
          <a:ln/>
        </p:spPr>
        <p:txBody>
          <a:bodyPr wrap="square" lIns="0" tIns="0" rIns="0" bIns="0" rtlCol="0" anchor="ctr"/>
          <a:lstStyle/>
          <a:p>
            <a:pPr algn="ctr" indent="0" marL="0">
              <a:buNone/>
            </a:pPr>
            <a:r>
              <a:rPr lang="en-US" sz="1000" b="1" dirty="0">
                <a:solidFill>
                  <a:srgbClr val="00FF9D"/>
                </a:solidFill>
                <a:latin typeface="Calibri" pitchFamily="34" charset="0"/>
                <a:ea typeface="Calibri" pitchFamily="34" charset="-122"/>
                <a:cs typeface="Calibri" pitchFamily="34" charset="-120"/>
              </a:rPr>
              <a:t>GPU Name &amp;</a:t>
            </a:r>
            <a:endParaRPr lang="en-US" sz="1000" dirty="0"/>
          </a:p>
          <a:p>
            <a:pPr algn="ctr" indent="0" marL="0">
              <a:buNone/>
            </a:pPr>
            <a:r>
              <a:rPr lang="en-US" sz="1000" b="1" dirty="0">
                <a:solidFill>
                  <a:srgbClr val="00FF9D"/>
                </a:solidFill>
                <a:latin typeface="Calibri" pitchFamily="34" charset="0"/>
                <a:ea typeface="Calibri" pitchFamily="34" charset="-122"/>
                <a:cs typeface="Calibri" pitchFamily="34" charset="-120"/>
              </a:rPr>
              <a:t>Compute Cap.</a:t>
            </a:r>
            <a:endParaRPr lang="en-US" sz="1000" dirty="0"/>
          </a:p>
        </p:txBody>
      </p:sp>
      <p:sp>
        <p:nvSpPr>
          <p:cNvPr id="11" name="Shape 9"/>
          <p:cNvSpPr/>
          <p:nvPr/>
        </p:nvSpPr>
        <p:spPr>
          <a:xfrm>
            <a:off x="3520440" y="1344168"/>
            <a:ext cx="228600" cy="0"/>
          </a:xfrm>
          <a:prstGeom prst="line">
            <a:avLst/>
          </a:prstGeom>
          <a:noFill/>
          <a:ln w="25400">
            <a:solidFill>
              <a:srgbClr val="8899BB"/>
            </a:solidFill>
            <a:prstDash val="solid"/>
          </a:ln>
        </p:spPr>
      </p:sp>
      <p:sp>
        <p:nvSpPr>
          <p:cNvPr id="12" name="Shape 10"/>
          <p:cNvSpPr/>
          <p:nvPr/>
        </p:nvSpPr>
        <p:spPr>
          <a:xfrm>
            <a:off x="3749040" y="960120"/>
            <a:ext cx="1463040" cy="777240"/>
          </a:xfrm>
          <a:prstGeom prst="rect">
            <a:avLst/>
          </a:prstGeom>
          <a:solidFill>
            <a:srgbClr val="0D1F3C"/>
          </a:solidFill>
          <a:ln w="25400">
            <a:solidFill>
              <a:srgbClr val="FF6B35"/>
            </a:solidFill>
            <a:prstDash val="solid"/>
          </a:ln>
        </p:spPr>
      </p:sp>
      <p:sp>
        <p:nvSpPr>
          <p:cNvPr id="13" name="Text 11"/>
          <p:cNvSpPr/>
          <p:nvPr/>
        </p:nvSpPr>
        <p:spPr>
          <a:xfrm>
            <a:off x="3749040" y="960120"/>
            <a:ext cx="1463040" cy="777240"/>
          </a:xfrm>
          <a:prstGeom prst="rect">
            <a:avLst/>
          </a:prstGeom>
          <a:noFill/>
          <a:ln/>
        </p:spPr>
        <p:txBody>
          <a:bodyPr wrap="square" lIns="0" tIns="0" rIns="0" bIns="0" rtlCol="0" anchor="ctr"/>
          <a:lstStyle/>
          <a:p>
            <a:pPr algn="ctr" indent="0" marL="0">
              <a:buNone/>
            </a:pPr>
            <a:r>
              <a:rPr lang="en-US" sz="1000" b="1" dirty="0">
                <a:solidFill>
                  <a:srgbClr val="FF6B35"/>
                </a:solidFill>
                <a:latin typeface="Calibri" pitchFamily="34" charset="0"/>
                <a:ea typeface="Calibri" pitchFamily="34" charset="-122"/>
                <a:cs typeface="Calibri" pitchFamily="34" charset="-120"/>
              </a:rPr>
              <a:t>VRAM</a:t>
            </a:r>
            <a:endParaRPr lang="en-US" sz="1000" dirty="0"/>
          </a:p>
          <a:p>
            <a:pPr algn="ctr" indent="0" marL="0">
              <a:buNone/>
            </a:pPr>
            <a:r>
              <a:rPr lang="en-US" sz="1000" b="1" dirty="0">
                <a:solidFill>
                  <a:srgbClr val="FF6B35"/>
                </a:solidFill>
                <a:latin typeface="Calibri" pitchFamily="34" charset="0"/>
                <a:ea typeface="Calibri" pitchFamily="34" charset="-122"/>
                <a:cs typeface="Calibri" pitchFamily="34" charset="-120"/>
              </a:rPr>
              <a:t>Υπολογισμός</a:t>
            </a:r>
            <a:endParaRPr lang="en-US" sz="1000" dirty="0"/>
          </a:p>
        </p:txBody>
      </p:sp>
      <p:sp>
        <p:nvSpPr>
          <p:cNvPr id="14" name="Shape 12"/>
          <p:cNvSpPr/>
          <p:nvPr/>
        </p:nvSpPr>
        <p:spPr>
          <a:xfrm>
            <a:off x="5212080" y="1344168"/>
            <a:ext cx="228600" cy="0"/>
          </a:xfrm>
          <a:prstGeom prst="line">
            <a:avLst/>
          </a:prstGeom>
          <a:noFill/>
          <a:ln w="25400">
            <a:solidFill>
              <a:srgbClr val="8899BB"/>
            </a:solidFill>
            <a:prstDash val="solid"/>
          </a:ln>
        </p:spPr>
      </p:sp>
      <p:sp>
        <p:nvSpPr>
          <p:cNvPr id="15" name="Shape 13"/>
          <p:cNvSpPr/>
          <p:nvPr/>
        </p:nvSpPr>
        <p:spPr>
          <a:xfrm>
            <a:off x="5440680" y="960120"/>
            <a:ext cx="1463040" cy="777240"/>
          </a:xfrm>
          <a:prstGeom prst="rect">
            <a:avLst/>
          </a:prstGeom>
          <a:solidFill>
            <a:srgbClr val="0D1F3C"/>
          </a:solidFill>
          <a:ln w="25400">
            <a:solidFill>
              <a:srgbClr val="7B2FBE"/>
            </a:solidFill>
            <a:prstDash val="solid"/>
          </a:ln>
        </p:spPr>
      </p:sp>
      <p:sp>
        <p:nvSpPr>
          <p:cNvPr id="16" name="Text 14"/>
          <p:cNvSpPr/>
          <p:nvPr/>
        </p:nvSpPr>
        <p:spPr>
          <a:xfrm>
            <a:off x="5440680" y="960120"/>
            <a:ext cx="1463040" cy="777240"/>
          </a:xfrm>
          <a:prstGeom prst="rect">
            <a:avLst/>
          </a:prstGeom>
          <a:noFill/>
          <a:ln/>
        </p:spPr>
        <p:txBody>
          <a:bodyPr wrap="square" lIns="0" tIns="0" rIns="0" bIns="0" rtlCol="0" anchor="ctr"/>
          <a:lstStyle/>
          <a:p>
            <a:pPr algn="ctr" indent="0" marL="0">
              <a:buNone/>
            </a:pPr>
            <a:r>
              <a:rPr lang="en-US" sz="1000" b="1" dirty="0">
                <a:solidFill>
                  <a:srgbClr val="7B2FBE"/>
                </a:solidFill>
                <a:latin typeface="Calibri" pitchFamily="34" charset="0"/>
                <a:ea typeface="Calibri" pitchFamily="34" charset="-122"/>
                <a:cs typeface="Calibri" pitchFamily="34" charset="-120"/>
              </a:rPr>
              <a:t>Select</a:t>
            </a:r>
            <a:endParaRPr lang="en-US" sz="1000" dirty="0"/>
          </a:p>
          <a:p>
            <a:pPr algn="ctr" indent="0" marL="0">
              <a:buNone/>
            </a:pPr>
            <a:r>
              <a:rPr lang="en-US" sz="1000" b="1" dirty="0">
                <a:solidFill>
                  <a:srgbClr val="7B2FBE"/>
                </a:solidFill>
                <a:latin typeface="Calibri" pitchFamily="34" charset="0"/>
                <a:ea typeface="Calibri" pitchFamily="34" charset="-122"/>
                <a:cs typeface="Calibri" pitchFamily="34" charset="-120"/>
              </a:rPr>
              <a:t>Device</a:t>
            </a:r>
            <a:endParaRPr lang="en-US" sz="1000" dirty="0"/>
          </a:p>
        </p:txBody>
      </p:sp>
      <p:sp>
        <p:nvSpPr>
          <p:cNvPr id="17" name="Shape 15"/>
          <p:cNvSpPr/>
          <p:nvPr/>
        </p:nvSpPr>
        <p:spPr>
          <a:xfrm>
            <a:off x="6903720" y="1344168"/>
            <a:ext cx="228600" cy="0"/>
          </a:xfrm>
          <a:prstGeom prst="line">
            <a:avLst/>
          </a:prstGeom>
          <a:noFill/>
          <a:ln w="25400">
            <a:solidFill>
              <a:srgbClr val="8899BB"/>
            </a:solidFill>
            <a:prstDash val="solid"/>
          </a:ln>
        </p:spPr>
      </p:sp>
      <p:sp>
        <p:nvSpPr>
          <p:cNvPr id="18" name="Shape 16"/>
          <p:cNvSpPr/>
          <p:nvPr/>
        </p:nvSpPr>
        <p:spPr>
          <a:xfrm>
            <a:off x="7132320" y="960120"/>
            <a:ext cx="1463040" cy="777240"/>
          </a:xfrm>
          <a:prstGeom prst="rect">
            <a:avLst/>
          </a:prstGeom>
          <a:solidFill>
            <a:srgbClr val="0D1F3C"/>
          </a:solidFill>
          <a:ln w="25400">
            <a:solidFill>
              <a:srgbClr val="FF2D78"/>
            </a:solidFill>
            <a:prstDash val="solid"/>
          </a:ln>
        </p:spPr>
      </p:sp>
      <p:sp>
        <p:nvSpPr>
          <p:cNvPr id="19" name="Text 17"/>
          <p:cNvSpPr/>
          <p:nvPr/>
        </p:nvSpPr>
        <p:spPr>
          <a:xfrm>
            <a:off x="7132320" y="960120"/>
            <a:ext cx="1463040" cy="777240"/>
          </a:xfrm>
          <a:prstGeom prst="rect">
            <a:avLst/>
          </a:prstGeom>
          <a:noFill/>
          <a:ln/>
        </p:spPr>
        <p:txBody>
          <a:bodyPr wrap="square" lIns="0" tIns="0" rIns="0" bIns="0" rtlCol="0" anchor="ctr"/>
          <a:lstStyle/>
          <a:p>
            <a:pPr algn="ctr" indent="0" marL="0">
              <a:buNone/>
            </a:pPr>
            <a:r>
              <a:rPr lang="en-US" sz="1000" b="1" dirty="0">
                <a:solidFill>
                  <a:srgbClr val="FF2D78"/>
                </a:solidFill>
                <a:latin typeface="Calibri" pitchFamily="34" charset="0"/>
                <a:ea typeface="Calibri" pitchFamily="34" charset="-122"/>
                <a:cs typeface="Calibri" pitchFamily="34" charset="-120"/>
              </a:rPr>
              <a:t>Configure</a:t>
            </a:r>
            <a:endParaRPr lang="en-US" sz="1000" dirty="0"/>
          </a:p>
          <a:p>
            <a:pPr algn="ctr" indent="0" marL="0">
              <a:buNone/>
            </a:pPr>
            <a:r>
              <a:rPr lang="en-US" sz="1000" b="1" dirty="0">
                <a:solidFill>
                  <a:srgbClr val="FF2D78"/>
                </a:solidFill>
                <a:latin typeface="Calibri" pitchFamily="34" charset="0"/>
                <a:ea typeface="Calibri" pitchFamily="34" charset="-122"/>
                <a:cs typeface="Calibri" pitchFamily="34" charset="-120"/>
              </a:rPr>
              <a:t>Backend</a:t>
            </a:r>
            <a:endParaRPr lang="en-US" sz="1000" dirty="0"/>
          </a:p>
        </p:txBody>
      </p:sp>
      <p:sp>
        <p:nvSpPr>
          <p:cNvPr id="20" name="Text 18"/>
          <p:cNvSpPr/>
          <p:nvPr/>
        </p:nvSpPr>
        <p:spPr>
          <a:xfrm>
            <a:off x="274320" y="1920240"/>
            <a:ext cx="859536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Device Decision Logic:</a:t>
            </a:r>
            <a:endParaRPr lang="en-US" sz="1300" dirty="0"/>
          </a:p>
        </p:txBody>
      </p:sp>
      <p:sp>
        <p:nvSpPr>
          <p:cNvPr id="21" name="Shape 19"/>
          <p:cNvSpPr/>
          <p:nvPr/>
        </p:nvSpPr>
        <p:spPr>
          <a:xfrm>
            <a:off x="182880" y="2286000"/>
            <a:ext cx="8778240" cy="1280160"/>
          </a:xfrm>
          <a:prstGeom prst="rect">
            <a:avLst/>
          </a:prstGeom>
          <a:solidFill>
            <a:srgbClr val="001020"/>
          </a:solidFill>
          <a:ln w="12700">
            <a:solidFill>
              <a:srgbClr val="7B2FBE"/>
            </a:solidFill>
            <a:prstDash val="solid"/>
          </a:ln>
        </p:spPr>
      </p:sp>
      <p:sp>
        <p:nvSpPr>
          <p:cNvPr id="22" name="Text 20"/>
          <p:cNvSpPr/>
          <p:nvPr/>
        </p:nvSpPr>
        <p:spPr>
          <a:xfrm>
            <a:off x="320040" y="2377440"/>
            <a:ext cx="8412480" cy="1097280"/>
          </a:xfrm>
          <a:prstGeom prst="rect">
            <a:avLst/>
          </a:prstGeom>
          <a:noFill/>
          <a:ln/>
        </p:spPr>
        <p:txBody>
          <a:bodyPr wrap="square" lIns="0" tIns="0" rIns="0" bIns="0" rtlCol="0" anchor="ctr"/>
          <a:lstStyle/>
          <a:p>
            <a:pPr indent="0" marL="0">
              <a:buNone/>
            </a:pPr>
            <a:r>
              <a:rPr lang="en-US" sz="1000" dirty="0">
                <a:solidFill>
                  <a:srgbClr val="00FF9D"/>
                </a:solidFill>
                <a:latin typeface="Consolas" pitchFamily="34" charset="0"/>
                <a:ea typeface="Consolas" pitchFamily="34" charset="-122"/>
                <a:cs typeface="Consolas" pitchFamily="34" charset="-120"/>
              </a:rPr>
              <a:t>if torch.cuda.is_available():</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    device = "cuda:0"</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    vram = torch.cuda.get_device_properties(0).total_memory / 1e9</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    gpu_name = torch.cuda.get_device_name(0)</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    # Auto configure batch size based on VRAM</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    batch = 32 if vram &gt;= 12 else (16 if vram &gt;= 8 else 8)</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else:</a:t>
            </a:r>
            <a:endParaRPr lang="en-US" sz="1000" dirty="0"/>
          </a:p>
          <a:p>
            <a:pPr indent="0" marL="0">
              <a:buNone/>
            </a:pPr>
            <a:r>
              <a:rPr lang="en-US" sz="1000" dirty="0">
                <a:solidFill>
                  <a:srgbClr val="00FF9D"/>
                </a:solidFill>
                <a:latin typeface="Consolas" pitchFamily="34" charset="0"/>
                <a:ea typeface="Consolas" pitchFamily="34" charset="-122"/>
                <a:cs typeface="Consolas" pitchFamily="34" charset="-120"/>
              </a:rPr>
              <a:t>    device = "cpu"  # CPU fallback</a:t>
            </a:r>
            <a:endParaRPr lang="en-US" sz="1000" dirty="0"/>
          </a:p>
        </p:txBody>
      </p:sp>
      <p:sp>
        <p:nvSpPr>
          <p:cNvPr id="23" name="Text 21"/>
          <p:cNvSpPr/>
          <p:nvPr/>
        </p:nvSpPr>
        <p:spPr>
          <a:xfrm>
            <a:off x="274320" y="3749040"/>
            <a:ext cx="859536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Υποστηριζόμενο Hardware:</a:t>
            </a:r>
            <a:endParaRPr lang="en-US" sz="1300" dirty="0"/>
          </a:p>
        </p:txBody>
      </p:sp>
      <p:sp>
        <p:nvSpPr>
          <p:cNvPr id="24" name="Shape 22"/>
          <p:cNvSpPr/>
          <p:nvPr/>
        </p:nvSpPr>
        <p:spPr>
          <a:xfrm>
            <a:off x="182880" y="4160520"/>
            <a:ext cx="4114800" cy="411480"/>
          </a:xfrm>
          <a:prstGeom prst="rect">
            <a:avLst/>
          </a:prstGeom>
          <a:solidFill>
            <a:srgbClr val="0D1F3C"/>
          </a:solidFill>
          <a:ln w="12700">
            <a:solidFill>
              <a:srgbClr val="FF6B35"/>
            </a:solidFill>
            <a:prstDash val="solid"/>
          </a:ln>
        </p:spPr>
      </p:sp>
      <p:sp>
        <p:nvSpPr>
          <p:cNvPr id="25" name="Shape 23"/>
          <p:cNvSpPr/>
          <p:nvPr/>
        </p:nvSpPr>
        <p:spPr>
          <a:xfrm>
            <a:off x="182880" y="4160520"/>
            <a:ext cx="54864" cy="411480"/>
          </a:xfrm>
          <a:prstGeom prst="rect">
            <a:avLst/>
          </a:prstGeom>
          <a:solidFill>
            <a:srgbClr val="FF6B35"/>
          </a:solidFill>
          <a:ln/>
        </p:spPr>
      </p:sp>
      <p:sp>
        <p:nvSpPr>
          <p:cNvPr id="26" name="Text 24"/>
          <p:cNvSpPr/>
          <p:nvPr/>
        </p:nvSpPr>
        <p:spPr>
          <a:xfrm>
            <a:off x="320040" y="4178808"/>
            <a:ext cx="1828800" cy="182880"/>
          </a:xfrm>
          <a:prstGeom prst="rect">
            <a:avLst/>
          </a:prstGeom>
          <a:noFill/>
          <a:ln/>
        </p:spPr>
        <p:txBody>
          <a:bodyPr wrap="square" lIns="0" tIns="0" rIns="0" bIns="0" rtlCol="0" anchor="ctr"/>
          <a:lstStyle/>
          <a:p>
            <a:pPr indent="0" marL="0">
              <a:buNone/>
            </a:pPr>
            <a:r>
              <a:rPr lang="en-US" sz="1000" b="1" dirty="0">
                <a:solidFill>
                  <a:srgbClr val="FF6B35"/>
                </a:solidFill>
                <a:latin typeface="Calibri" pitchFamily="34" charset="0"/>
                <a:ea typeface="Calibri" pitchFamily="34" charset="-122"/>
                <a:cs typeface="Calibri" pitchFamily="34" charset="-120"/>
              </a:rPr>
              <a:t>NVIDIA RTX 30/40xx</a:t>
            </a:r>
            <a:endParaRPr lang="en-US" sz="1000" dirty="0"/>
          </a:p>
        </p:txBody>
      </p:sp>
      <p:sp>
        <p:nvSpPr>
          <p:cNvPr id="27" name="Text 25"/>
          <p:cNvSpPr/>
          <p:nvPr/>
        </p:nvSpPr>
        <p:spPr>
          <a:xfrm>
            <a:off x="320040" y="4370832"/>
            <a:ext cx="3840480" cy="164592"/>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CUDA 12.x, TensorRT, FP16/INT8</a:t>
            </a:r>
            <a:endParaRPr lang="en-US" sz="900" dirty="0"/>
          </a:p>
        </p:txBody>
      </p:sp>
      <p:sp>
        <p:nvSpPr>
          <p:cNvPr id="28" name="Shape 26"/>
          <p:cNvSpPr/>
          <p:nvPr/>
        </p:nvSpPr>
        <p:spPr>
          <a:xfrm>
            <a:off x="4526280" y="4160520"/>
            <a:ext cx="4114800" cy="411480"/>
          </a:xfrm>
          <a:prstGeom prst="rect">
            <a:avLst/>
          </a:prstGeom>
          <a:solidFill>
            <a:srgbClr val="0D1F3C"/>
          </a:solidFill>
          <a:ln w="12700">
            <a:solidFill>
              <a:srgbClr val="00D4FF"/>
            </a:solidFill>
            <a:prstDash val="solid"/>
          </a:ln>
        </p:spPr>
      </p:sp>
      <p:sp>
        <p:nvSpPr>
          <p:cNvPr id="29" name="Shape 27"/>
          <p:cNvSpPr/>
          <p:nvPr/>
        </p:nvSpPr>
        <p:spPr>
          <a:xfrm>
            <a:off x="4526280" y="4160520"/>
            <a:ext cx="54864" cy="411480"/>
          </a:xfrm>
          <a:prstGeom prst="rect">
            <a:avLst/>
          </a:prstGeom>
          <a:solidFill>
            <a:srgbClr val="00D4FF"/>
          </a:solidFill>
          <a:ln/>
        </p:spPr>
      </p:sp>
      <p:sp>
        <p:nvSpPr>
          <p:cNvPr id="30" name="Text 28"/>
          <p:cNvSpPr/>
          <p:nvPr/>
        </p:nvSpPr>
        <p:spPr>
          <a:xfrm>
            <a:off x="4663440" y="4178808"/>
            <a:ext cx="1828800" cy="18288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NVIDIA GTX 10/16xx</a:t>
            </a:r>
            <a:endParaRPr lang="en-US" sz="1000" dirty="0"/>
          </a:p>
        </p:txBody>
      </p:sp>
      <p:sp>
        <p:nvSpPr>
          <p:cNvPr id="31" name="Text 29"/>
          <p:cNvSpPr/>
          <p:nvPr/>
        </p:nvSpPr>
        <p:spPr>
          <a:xfrm>
            <a:off x="4663440" y="4370832"/>
            <a:ext cx="3840480" cy="164592"/>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CUDA 11.x, TensorRT, FP32</a:t>
            </a:r>
            <a:endParaRPr lang="en-US" sz="900" dirty="0"/>
          </a:p>
        </p:txBody>
      </p:sp>
      <p:sp>
        <p:nvSpPr>
          <p:cNvPr id="32" name="Shape 30"/>
          <p:cNvSpPr/>
          <p:nvPr/>
        </p:nvSpPr>
        <p:spPr>
          <a:xfrm>
            <a:off x="182880" y="4636008"/>
            <a:ext cx="4114800" cy="411480"/>
          </a:xfrm>
          <a:prstGeom prst="rect">
            <a:avLst/>
          </a:prstGeom>
          <a:solidFill>
            <a:srgbClr val="0D1F3C"/>
          </a:solidFill>
          <a:ln w="12700">
            <a:solidFill>
              <a:srgbClr val="00FF9D"/>
            </a:solidFill>
            <a:prstDash val="solid"/>
          </a:ln>
        </p:spPr>
      </p:sp>
      <p:sp>
        <p:nvSpPr>
          <p:cNvPr id="33" name="Shape 31"/>
          <p:cNvSpPr/>
          <p:nvPr/>
        </p:nvSpPr>
        <p:spPr>
          <a:xfrm>
            <a:off x="182880" y="4636008"/>
            <a:ext cx="54864" cy="411480"/>
          </a:xfrm>
          <a:prstGeom prst="rect">
            <a:avLst/>
          </a:prstGeom>
          <a:solidFill>
            <a:srgbClr val="00FF9D"/>
          </a:solidFill>
          <a:ln/>
        </p:spPr>
      </p:sp>
      <p:sp>
        <p:nvSpPr>
          <p:cNvPr id="34" name="Text 32"/>
          <p:cNvSpPr/>
          <p:nvPr/>
        </p:nvSpPr>
        <p:spPr>
          <a:xfrm>
            <a:off x="320040" y="4654296"/>
            <a:ext cx="1828800" cy="182880"/>
          </a:xfrm>
          <a:prstGeom prst="rect">
            <a:avLst/>
          </a:prstGeom>
          <a:noFill/>
          <a:ln/>
        </p:spPr>
        <p:txBody>
          <a:bodyPr wrap="square" lIns="0" tIns="0" rIns="0" bIns="0" rtlCol="0" anchor="ctr"/>
          <a:lstStyle/>
          <a:p>
            <a:pPr indent="0" marL="0">
              <a:buNone/>
            </a:pPr>
            <a:r>
              <a:rPr lang="en-US" sz="1000" b="1" dirty="0">
                <a:solidFill>
                  <a:srgbClr val="00FF9D"/>
                </a:solidFill>
                <a:latin typeface="Calibri" pitchFamily="34" charset="0"/>
                <a:ea typeface="Calibri" pitchFamily="34" charset="-122"/>
                <a:cs typeface="Calibri" pitchFamily="34" charset="-120"/>
              </a:rPr>
              <a:t>Intel CPU</a:t>
            </a:r>
            <a:endParaRPr lang="en-US" sz="1000" dirty="0"/>
          </a:p>
        </p:txBody>
      </p:sp>
      <p:sp>
        <p:nvSpPr>
          <p:cNvPr id="35" name="Text 33"/>
          <p:cNvSpPr/>
          <p:nvPr/>
        </p:nvSpPr>
        <p:spPr>
          <a:xfrm>
            <a:off x="320040" y="4846320"/>
            <a:ext cx="3840480" cy="164592"/>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ONNX CPU Provider, OpenCV CPU</a:t>
            </a:r>
            <a:endParaRPr lang="en-US" sz="900" dirty="0"/>
          </a:p>
        </p:txBody>
      </p:sp>
      <p:sp>
        <p:nvSpPr>
          <p:cNvPr id="36" name="Shape 34"/>
          <p:cNvSpPr/>
          <p:nvPr/>
        </p:nvSpPr>
        <p:spPr>
          <a:xfrm>
            <a:off x="4526280" y="4636008"/>
            <a:ext cx="4114800" cy="411480"/>
          </a:xfrm>
          <a:prstGeom prst="rect">
            <a:avLst/>
          </a:prstGeom>
          <a:solidFill>
            <a:srgbClr val="0D1F3C"/>
          </a:solidFill>
          <a:ln w="12700">
            <a:solidFill>
              <a:srgbClr val="7B2FBE"/>
            </a:solidFill>
            <a:prstDash val="solid"/>
          </a:ln>
        </p:spPr>
      </p:sp>
      <p:sp>
        <p:nvSpPr>
          <p:cNvPr id="37" name="Shape 35"/>
          <p:cNvSpPr/>
          <p:nvPr/>
        </p:nvSpPr>
        <p:spPr>
          <a:xfrm>
            <a:off x="4526280" y="4636008"/>
            <a:ext cx="54864" cy="411480"/>
          </a:xfrm>
          <a:prstGeom prst="rect">
            <a:avLst/>
          </a:prstGeom>
          <a:solidFill>
            <a:srgbClr val="7B2FBE"/>
          </a:solidFill>
          <a:ln/>
        </p:spPr>
      </p:sp>
      <p:sp>
        <p:nvSpPr>
          <p:cNvPr id="38" name="Text 36"/>
          <p:cNvSpPr/>
          <p:nvPr/>
        </p:nvSpPr>
        <p:spPr>
          <a:xfrm>
            <a:off x="4663440" y="4654296"/>
            <a:ext cx="1828800" cy="182880"/>
          </a:xfrm>
          <a:prstGeom prst="rect">
            <a:avLst/>
          </a:prstGeom>
          <a:noFill/>
          <a:ln/>
        </p:spPr>
        <p:txBody>
          <a:bodyPr wrap="square" lIns="0" tIns="0" rIns="0" bIns="0" rtlCol="0" anchor="ctr"/>
          <a:lstStyle/>
          <a:p>
            <a:pPr indent="0" marL="0">
              <a:buNone/>
            </a:pPr>
            <a:r>
              <a:rPr lang="en-US" sz="1000" b="1" dirty="0">
                <a:solidFill>
                  <a:srgbClr val="7B2FBE"/>
                </a:solidFill>
                <a:latin typeface="Calibri" pitchFamily="34" charset="0"/>
                <a:ea typeface="Calibri" pitchFamily="34" charset="-122"/>
                <a:cs typeface="Calibri" pitchFamily="34" charset="-120"/>
              </a:rPr>
              <a:t>AMD CPU</a:t>
            </a:r>
            <a:endParaRPr lang="en-US" sz="1000" dirty="0"/>
          </a:p>
        </p:txBody>
      </p:sp>
      <p:sp>
        <p:nvSpPr>
          <p:cNvPr id="39" name="Text 37"/>
          <p:cNvSpPr/>
          <p:nvPr/>
        </p:nvSpPr>
        <p:spPr>
          <a:xfrm>
            <a:off x="4663440" y="4846320"/>
            <a:ext cx="3840480" cy="164592"/>
          </a:xfrm>
          <a:prstGeom prst="rect">
            <a:avLst/>
          </a:prstGeom>
          <a:noFill/>
          <a:ln/>
        </p:spPr>
        <p:txBody>
          <a:bodyPr wrap="square" lIns="0" tIns="0" rIns="0" bIns="0" rtlCol="0" anchor="ctr"/>
          <a:lstStyle/>
          <a:p>
            <a:pPr indent="0" marL="0">
              <a:buNone/>
            </a:pPr>
            <a:r>
              <a:rPr lang="en-US" sz="900" dirty="0">
                <a:solidFill>
                  <a:srgbClr val="8899BB"/>
                </a:solidFill>
                <a:latin typeface="Calibri" pitchFamily="34" charset="0"/>
                <a:ea typeface="Calibri" pitchFamily="34" charset="-122"/>
                <a:cs typeface="Calibri" pitchFamily="34" charset="-120"/>
              </a:rPr>
              <a:t>ONNX CPU Provider (limited)</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D4FF"/>
            </a:solidFill>
            <a:prstDash val="solid"/>
          </a:ln>
        </p:spPr>
      </p:sp>
      <p:sp>
        <p:nvSpPr>
          <p:cNvPr id="3" name="Shape 1"/>
          <p:cNvSpPr/>
          <p:nvPr/>
        </p:nvSpPr>
        <p:spPr>
          <a:xfrm>
            <a:off x="0" y="0"/>
            <a:ext cx="73152" cy="822960"/>
          </a:xfrm>
          <a:prstGeom prst="rect">
            <a:avLst/>
          </a:prstGeom>
          <a:solidFill>
            <a:srgbClr val="00D4FF"/>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29 — Performance Comparison</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D4FF"/>
                </a:solidFill>
                <a:latin typeface="Calibri" pitchFamily="34" charset="0"/>
                <a:ea typeface="Calibri" pitchFamily="34" charset="-122"/>
                <a:cs typeface="Calibri" pitchFamily="34" charset="-120"/>
              </a:rPr>
              <a:t>Μοντέλα vs Metrics vs Hardware</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Σύγκριση mAP@0.5 — COCO Dataset (YOLO variants):</a:t>
            </a:r>
            <a:endParaRPr lang="en-US" sz="1300" dirty="0"/>
          </a:p>
        </p:txBody>
      </p:sp>
      <p:graphicFrame>
        <p:nvGraphicFramePr>
          <p:cNvPr id="7" name="Chart 0" descr=""/>
          <p:cNvGraphicFramePr/>
          <p:nvPr/>
        </p:nvGraphicFramePr>
        <p:xfrm>
          <a:off x="182880" y="1298448"/>
          <a:ext cx="8778240" cy="1600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274320" y="3017520"/>
            <a:ext cx="859536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Σύγκριση Ταχύτητας (FPS) — RTX 3060 — imgsz=640:</a:t>
            </a:r>
            <a:endParaRPr lang="en-US" sz="1300" dirty="0"/>
          </a:p>
        </p:txBody>
      </p:sp>
      <p:graphicFrame>
        <p:nvGraphicFramePr>
          <p:cNvPr id="9" name="Chart 1" descr=""/>
          <p:cNvGraphicFramePr/>
          <p:nvPr/>
        </p:nvGraphicFramePr>
        <p:xfrm>
          <a:off x="182880" y="3401568"/>
          <a:ext cx="8778240" cy="14630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00FF9D"/>
            </a:solidFill>
            <a:prstDash val="solid"/>
          </a:ln>
        </p:spPr>
      </p:sp>
      <p:sp>
        <p:nvSpPr>
          <p:cNvPr id="3" name="Shape 1"/>
          <p:cNvSpPr/>
          <p:nvPr/>
        </p:nvSpPr>
        <p:spPr>
          <a:xfrm>
            <a:off x="0" y="0"/>
            <a:ext cx="73152" cy="822960"/>
          </a:xfrm>
          <a:prstGeom prst="rect">
            <a:avLst/>
          </a:prstGeom>
          <a:solidFill>
            <a:srgbClr val="00FF9D"/>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Δομή Αρχείου — 15 Ενότητες</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00FF9D"/>
                </a:solidFill>
                <a:latin typeface="Calibri" pitchFamily="34" charset="0"/>
                <a:ea typeface="Calibri" pitchFamily="34" charset="-122"/>
                <a:cs typeface="Calibri" pitchFamily="34" charset="-120"/>
              </a:rPr>
              <a:t>Models_Manager_Pro_Ver_4_0.py</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200" i="1" dirty="0">
                <a:solidFill>
                  <a:srgbClr val="AABBCC"/>
                </a:solidFill>
                <a:latin typeface="Calibri" pitchFamily="34" charset="0"/>
                <a:ea typeface="Calibri" pitchFamily="34" charset="-122"/>
                <a:cs typeface="Calibri" pitchFamily="34" charset="-120"/>
              </a:rPr>
              <a:t>Το αρχείο αποτελείται από 15 οργανωμένες ενότητες:</a:t>
            </a:r>
            <a:endParaRPr lang="en-US" sz="1200" dirty="0"/>
          </a:p>
        </p:txBody>
      </p:sp>
      <p:sp>
        <p:nvSpPr>
          <p:cNvPr id="7" name="Shape 5"/>
          <p:cNvSpPr/>
          <p:nvPr/>
        </p:nvSpPr>
        <p:spPr>
          <a:xfrm>
            <a:off x="182880" y="1298448"/>
            <a:ext cx="4206240" cy="393192"/>
          </a:xfrm>
          <a:prstGeom prst="rect">
            <a:avLst/>
          </a:prstGeom>
          <a:solidFill>
            <a:srgbClr val="0D1F3C"/>
          </a:solidFill>
          <a:ln w="12700">
            <a:solidFill>
              <a:srgbClr val="00D4FF"/>
            </a:solidFill>
            <a:prstDash val="solid"/>
          </a:ln>
        </p:spPr>
      </p:sp>
      <p:sp>
        <p:nvSpPr>
          <p:cNvPr id="8" name="Shape 6"/>
          <p:cNvSpPr/>
          <p:nvPr/>
        </p:nvSpPr>
        <p:spPr>
          <a:xfrm>
            <a:off x="182880" y="1298448"/>
            <a:ext cx="292608" cy="393192"/>
          </a:xfrm>
          <a:prstGeom prst="rect">
            <a:avLst/>
          </a:prstGeom>
          <a:solidFill>
            <a:srgbClr val="00D4FF">
              <a:alpha val="80000"/>
            </a:srgbClr>
          </a:solidFill>
          <a:ln/>
        </p:spPr>
      </p:sp>
      <p:sp>
        <p:nvSpPr>
          <p:cNvPr id="9" name="Text 7"/>
          <p:cNvSpPr/>
          <p:nvPr/>
        </p:nvSpPr>
        <p:spPr>
          <a:xfrm>
            <a:off x="182880" y="12984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1</a:t>
            </a:r>
            <a:endParaRPr lang="en-US" sz="1000" dirty="0"/>
          </a:p>
        </p:txBody>
      </p:sp>
      <p:sp>
        <p:nvSpPr>
          <p:cNvPr id="10" name="Text 8"/>
          <p:cNvSpPr/>
          <p:nvPr/>
        </p:nvSpPr>
        <p:spPr>
          <a:xfrm>
            <a:off x="530352" y="1316736"/>
            <a:ext cx="3749040" cy="18288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Imports &amp; Αρχικοποίηση Περιβάλλοντος</a:t>
            </a:r>
            <a:endParaRPr lang="en-US" sz="950" dirty="0"/>
          </a:p>
        </p:txBody>
      </p:sp>
      <p:sp>
        <p:nvSpPr>
          <p:cNvPr id="11" name="Text 9"/>
          <p:cNvSpPr/>
          <p:nvPr/>
        </p:nvSpPr>
        <p:spPr>
          <a:xfrm>
            <a:off x="530352" y="15087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sys, os, platform guards, threading limits, OpenCV VideoIO</a:t>
            </a:r>
            <a:endParaRPr lang="en-US" sz="800" dirty="0"/>
          </a:p>
        </p:txBody>
      </p:sp>
      <p:sp>
        <p:nvSpPr>
          <p:cNvPr id="12" name="Shape 10"/>
          <p:cNvSpPr/>
          <p:nvPr/>
        </p:nvSpPr>
        <p:spPr>
          <a:xfrm>
            <a:off x="182880" y="1755648"/>
            <a:ext cx="4206240" cy="393192"/>
          </a:xfrm>
          <a:prstGeom prst="rect">
            <a:avLst/>
          </a:prstGeom>
          <a:solidFill>
            <a:srgbClr val="0D1F3C"/>
          </a:solidFill>
          <a:ln w="12700">
            <a:solidFill>
              <a:srgbClr val="7B2FBE"/>
            </a:solidFill>
            <a:prstDash val="solid"/>
          </a:ln>
        </p:spPr>
      </p:sp>
      <p:sp>
        <p:nvSpPr>
          <p:cNvPr id="13" name="Shape 11"/>
          <p:cNvSpPr/>
          <p:nvPr/>
        </p:nvSpPr>
        <p:spPr>
          <a:xfrm>
            <a:off x="182880" y="1755648"/>
            <a:ext cx="292608" cy="393192"/>
          </a:xfrm>
          <a:prstGeom prst="rect">
            <a:avLst/>
          </a:prstGeom>
          <a:solidFill>
            <a:srgbClr val="7B2FBE">
              <a:alpha val="80000"/>
            </a:srgbClr>
          </a:solidFill>
          <a:ln/>
        </p:spPr>
      </p:sp>
      <p:sp>
        <p:nvSpPr>
          <p:cNvPr id="14" name="Text 12"/>
          <p:cNvSpPr/>
          <p:nvPr/>
        </p:nvSpPr>
        <p:spPr>
          <a:xfrm>
            <a:off x="182880" y="17556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2</a:t>
            </a:r>
            <a:endParaRPr lang="en-US" sz="1000" dirty="0"/>
          </a:p>
        </p:txBody>
      </p:sp>
      <p:sp>
        <p:nvSpPr>
          <p:cNvPr id="15" name="Text 13"/>
          <p:cNvSpPr/>
          <p:nvPr/>
        </p:nvSpPr>
        <p:spPr>
          <a:xfrm>
            <a:off x="530352" y="1773936"/>
            <a:ext cx="3749040" cy="182880"/>
          </a:xfrm>
          <a:prstGeom prst="rect">
            <a:avLst/>
          </a:prstGeom>
          <a:noFill/>
          <a:ln/>
        </p:spPr>
        <p:txBody>
          <a:bodyPr wrap="square" lIns="0" tIns="0" rIns="0" bIns="0" rtlCol="0" anchor="ctr"/>
          <a:lstStyle/>
          <a:p>
            <a:pPr indent="0" marL="0">
              <a:buNone/>
            </a:pPr>
            <a:r>
              <a:rPr lang="en-US" sz="950" b="1" dirty="0">
                <a:solidFill>
                  <a:srgbClr val="7B2FBE"/>
                </a:solidFill>
                <a:latin typeface="Calibri" pitchFamily="34" charset="0"/>
                <a:ea typeface="Calibri" pitchFamily="34" charset="-122"/>
                <a:cs typeface="Calibri" pitchFamily="34" charset="-120"/>
              </a:rPr>
              <a:t>Logging &amp; Crash-log Utilities</a:t>
            </a:r>
            <a:endParaRPr lang="en-US" sz="950" dirty="0"/>
          </a:p>
        </p:txBody>
      </p:sp>
      <p:sp>
        <p:nvSpPr>
          <p:cNvPr id="16" name="Text 14"/>
          <p:cNvSpPr/>
          <p:nvPr/>
        </p:nvSpPr>
        <p:spPr>
          <a:xfrm>
            <a:off x="530352" y="19659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safe_log_error(), faulthandler, _mmpro_write_crash_log()</a:t>
            </a:r>
            <a:endParaRPr lang="en-US" sz="800" dirty="0"/>
          </a:p>
        </p:txBody>
      </p:sp>
      <p:sp>
        <p:nvSpPr>
          <p:cNvPr id="17" name="Shape 15"/>
          <p:cNvSpPr/>
          <p:nvPr/>
        </p:nvSpPr>
        <p:spPr>
          <a:xfrm>
            <a:off x="182880" y="2212848"/>
            <a:ext cx="4206240" cy="393192"/>
          </a:xfrm>
          <a:prstGeom prst="rect">
            <a:avLst/>
          </a:prstGeom>
          <a:solidFill>
            <a:srgbClr val="0D1F3C"/>
          </a:solidFill>
          <a:ln w="12700">
            <a:solidFill>
              <a:srgbClr val="00FF9D"/>
            </a:solidFill>
            <a:prstDash val="solid"/>
          </a:ln>
        </p:spPr>
      </p:sp>
      <p:sp>
        <p:nvSpPr>
          <p:cNvPr id="18" name="Shape 16"/>
          <p:cNvSpPr/>
          <p:nvPr/>
        </p:nvSpPr>
        <p:spPr>
          <a:xfrm>
            <a:off x="182880" y="2212848"/>
            <a:ext cx="292608" cy="393192"/>
          </a:xfrm>
          <a:prstGeom prst="rect">
            <a:avLst/>
          </a:prstGeom>
          <a:solidFill>
            <a:srgbClr val="00FF9D">
              <a:alpha val="80000"/>
            </a:srgbClr>
          </a:solidFill>
          <a:ln/>
        </p:spPr>
      </p:sp>
      <p:sp>
        <p:nvSpPr>
          <p:cNvPr id="19" name="Text 17"/>
          <p:cNvSpPr/>
          <p:nvPr/>
        </p:nvSpPr>
        <p:spPr>
          <a:xfrm>
            <a:off x="182880" y="22128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3</a:t>
            </a:r>
            <a:endParaRPr lang="en-US" sz="1000" dirty="0"/>
          </a:p>
        </p:txBody>
      </p:sp>
      <p:sp>
        <p:nvSpPr>
          <p:cNvPr id="20" name="Text 18"/>
          <p:cNvSpPr/>
          <p:nvPr/>
        </p:nvSpPr>
        <p:spPr>
          <a:xfrm>
            <a:off x="530352" y="2231136"/>
            <a:ext cx="3749040" cy="182880"/>
          </a:xfrm>
          <a:prstGeom prst="rect">
            <a:avLst/>
          </a:prstGeom>
          <a:noFill/>
          <a:ln/>
        </p:spPr>
        <p:txBody>
          <a:bodyPr wrap="square" lIns="0" tIns="0" rIns="0" bIns="0" rtlCol="0" anchor="ctr"/>
          <a:lstStyle/>
          <a:p>
            <a:pPr indent="0" marL="0">
              <a:buNone/>
            </a:pPr>
            <a:r>
              <a:rPr lang="en-US" sz="950" b="1" dirty="0">
                <a:solidFill>
                  <a:srgbClr val="00FF9D"/>
                </a:solidFill>
                <a:latin typeface="Calibri" pitchFamily="34" charset="0"/>
                <a:ea typeface="Calibri" pitchFamily="34" charset="-122"/>
                <a:cs typeface="Calibri" pitchFamily="34" charset="-120"/>
              </a:rPr>
              <a:t>Runner / Subprocess Helpers</a:t>
            </a:r>
            <a:endParaRPr lang="en-US" sz="950" dirty="0"/>
          </a:p>
        </p:txBody>
      </p:sp>
      <p:sp>
        <p:nvSpPr>
          <p:cNvPr id="21" name="Text 19"/>
          <p:cNvSpPr/>
          <p:nvPr/>
        </p:nvSpPr>
        <p:spPr>
          <a:xfrm>
            <a:off x="530352" y="24231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Ασφαλής εκτέλεση subprocesses για pip, YOLO CLI</a:t>
            </a:r>
            <a:endParaRPr lang="en-US" sz="800" dirty="0"/>
          </a:p>
        </p:txBody>
      </p:sp>
      <p:sp>
        <p:nvSpPr>
          <p:cNvPr id="22" name="Shape 20"/>
          <p:cNvSpPr/>
          <p:nvPr/>
        </p:nvSpPr>
        <p:spPr>
          <a:xfrm>
            <a:off x="182880" y="2670048"/>
            <a:ext cx="4206240" cy="393192"/>
          </a:xfrm>
          <a:prstGeom prst="rect">
            <a:avLst/>
          </a:prstGeom>
          <a:solidFill>
            <a:srgbClr val="0D1F3C"/>
          </a:solidFill>
          <a:ln w="12700">
            <a:solidFill>
              <a:srgbClr val="FF6B35"/>
            </a:solidFill>
            <a:prstDash val="solid"/>
          </a:ln>
        </p:spPr>
      </p:sp>
      <p:sp>
        <p:nvSpPr>
          <p:cNvPr id="23" name="Shape 21"/>
          <p:cNvSpPr/>
          <p:nvPr/>
        </p:nvSpPr>
        <p:spPr>
          <a:xfrm>
            <a:off x="182880" y="2670048"/>
            <a:ext cx="292608" cy="393192"/>
          </a:xfrm>
          <a:prstGeom prst="rect">
            <a:avLst/>
          </a:prstGeom>
          <a:solidFill>
            <a:srgbClr val="FF6B35">
              <a:alpha val="80000"/>
            </a:srgbClr>
          </a:solidFill>
          <a:ln/>
        </p:spPr>
      </p:sp>
      <p:sp>
        <p:nvSpPr>
          <p:cNvPr id="24" name="Text 22"/>
          <p:cNvSpPr/>
          <p:nvPr/>
        </p:nvSpPr>
        <p:spPr>
          <a:xfrm>
            <a:off x="182880" y="26700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4</a:t>
            </a:r>
            <a:endParaRPr lang="en-US" sz="1000" dirty="0"/>
          </a:p>
        </p:txBody>
      </p:sp>
      <p:sp>
        <p:nvSpPr>
          <p:cNvPr id="25" name="Text 23"/>
          <p:cNvSpPr/>
          <p:nvPr/>
        </p:nvSpPr>
        <p:spPr>
          <a:xfrm>
            <a:off x="530352" y="2688336"/>
            <a:ext cx="3749040" cy="182880"/>
          </a:xfrm>
          <a:prstGeom prst="rect">
            <a:avLst/>
          </a:prstGeom>
          <a:noFill/>
          <a:ln/>
        </p:spPr>
        <p:txBody>
          <a:bodyPr wrap="square" lIns="0" tIns="0" rIns="0" bIns="0" rtlCol="0" anchor="ctr"/>
          <a:lstStyle/>
          <a:p>
            <a:pPr indent="0" marL="0">
              <a:buNone/>
            </a:pPr>
            <a:r>
              <a:rPr lang="en-US" sz="950" b="1" dirty="0">
                <a:solidFill>
                  <a:srgbClr val="FF6B35"/>
                </a:solidFill>
                <a:latin typeface="Calibri" pitchFamily="34" charset="0"/>
                <a:ea typeface="Calibri" pitchFamily="34" charset="-122"/>
                <a:cs typeface="Calibri" pitchFamily="34" charset="-120"/>
              </a:rPr>
              <a:t>Path Constants</a:t>
            </a:r>
            <a:endParaRPr lang="en-US" sz="950" dirty="0"/>
          </a:p>
        </p:txBody>
      </p:sp>
      <p:sp>
        <p:nvSpPr>
          <p:cNvPr id="26" name="Text 24"/>
          <p:cNvSpPr/>
          <p:nvPr/>
        </p:nvSpPr>
        <p:spPr>
          <a:xfrm>
            <a:off x="530352" y="28803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ROOT_DIR, MODELS_DIR, DATASETS_DIR, CRASH_LOGS_DIR</a:t>
            </a:r>
            <a:endParaRPr lang="en-US" sz="800" dirty="0"/>
          </a:p>
        </p:txBody>
      </p:sp>
      <p:sp>
        <p:nvSpPr>
          <p:cNvPr id="27" name="Shape 25"/>
          <p:cNvSpPr/>
          <p:nvPr/>
        </p:nvSpPr>
        <p:spPr>
          <a:xfrm>
            <a:off x="182880" y="3127248"/>
            <a:ext cx="4206240" cy="393192"/>
          </a:xfrm>
          <a:prstGeom prst="rect">
            <a:avLst/>
          </a:prstGeom>
          <a:solidFill>
            <a:srgbClr val="0D1F3C"/>
          </a:solidFill>
          <a:ln w="12700">
            <a:solidFill>
              <a:srgbClr val="FF2D78"/>
            </a:solidFill>
            <a:prstDash val="solid"/>
          </a:ln>
        </p:spPr>
      </p:sp>
      <p:sp>
        <p:nvSpPr>
          <p:cNvPr id="28" name="Shape 26"/>
          <p:cNvSpPr/>
          <p:nvPr/>
        </p:nvSpPr>
        <p:spPr>
          <a:xfrm>
            <a:off x="182880" y="3127248"/>
            <a:ext cx="292608" cy="393192"/>
          </a:xfrm>
          <a:prstGeom prst="rect">
            <a:avLst/>
          </a:prstGeom>
          <a:solidFill>
            <a:srgbClr val="FF2D78">
              <a:alpha val="80000"/>
            </a:srgbClr>
          </a:solidFill>
          <a:ln/>
        </p:spPr>
      </p:sp>
      <p:sp>
        <p:nvSpPr>
          <p:cNvPr id="29" name="Text 27"/>
          <p:cNvSpPr/>
          <p:nvPr/>
        </p:nvSpPr>
        <p:spPr>
          <a:xfrm>
            <a:off x="182880" y="31272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5</a:t>
            </a:r>
            <a:endParaRPr lang="en-US" sz="1000" dirty="0"/>
          </a:p>
        </p:txBody>
      </p:sp>
      <p:sp>
        <p:nvSpPr>
          <p:cNvPr id="30" name="Text 28"/>
          <p:cNvSpPr/>
          <p:nvPr/>
        </p:nvSpPr>
        <p:spPr>
          <a:xfrm>
            <a:off x="530352" y="3145536"/>
            <a:ext cx="3749040" cy="182880"/>
          </a:xfrm>
          <a:prstGeom prst="rect">
            <a:avLst/>
          </a:prstGeom>
          <a:noFill/>
          <a:ln/>
        </p:spPr>
        <p:txBody>
          <a:bodyPr wrap="square" lIns="0" tIns="0" rIns="0" bIns="0" rtlCol="0" anchor="ctr"/>
          <a:lstStyle/>
          <a:p>
            <a:pPr indent="0" marL="0">
              <a:buNone/>
            </a:pPr>
            <a:r>
              <a:rPr lang="en-US" sz="950" b="1" dirty="0">
                <a:solidFill>
                  <a:srgbClr val="FF2D78"/>
                </a:solidFill>
                <a:latin typeface="Calibri" pitchFamily="34" charset="0"/>
                <a:ea typeface="Calibri" pitchFamily="34" charset="-122"/>
                <a:cs typeface="Calibri" pitchFamily="34" charset="-120"/>
              </a:rPr>
              <a:t>Export Target Helpers</a:t>
            </a:r>
            <a:endParaRPr lang="en-US" sz="950" dirty="0"/>
          </a:p>
        </p:txBody>
      </p:sp>
      <p:sp>
        <p:nvSpPr>
          <p:cNvPr id="31" name="Text 29"/>
          <p:cNvSpPr/>
          <p:nvPr/>
        </p:nvSpPr>
        <p:spPr>
          <a:xfrm>
            <a:off x="530352" y="33375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ONNX, TensorRT (.engine), NCNN export logic &amp; validation</a:t>
            </a:r>
            <a:endParaRPr lang="en-US" sz="800" dirty="0"/>
          </a:p>
        </p:txBody>
      </p:sp>
      <p:sp>
        <p:nvSpPr>
          <p:cNvPr id="32" name="Shape 30"/>
          <p:cNvSpPr/>
          <p:nvPr/>
        </p:nvSpPr>
        <p:spPr>
          <a:xfrm>
            <a:off x="182880" y="3584448"/>
            <a:ext cx="4206240" cy="393192"/>
          </a:xfrm>
          <a:prstGeom prst="rect">
            <a:avLst/>
          </a:prstGeom>
          <a:solidFill>
            <a:srgbClr val="0D1F3C"/>
          </a:solidFill>
          <a:ln w="12700">
            <a:solidFill>
              <a:srgbClr val="FFD700"/>
            </a:solidFill>
            <a:prstDash val="solid"/>
          </a:ln>
        </p:spPr>
      </p:sp>
      <p:sp>
        <p:nvSpPr>
          <p:cNvPr id="33" name="Shape 31"/>
          <p:cNvSpPr/>
          <p:nvPr/>
        </p:nvSpPr>
        <p:spPr>
          <a:xfrm>
            <a:off x="182880" y="3584448"/>
            <a:ext cx="292608" cy="393192"/>
          </a:xfrm>
          <a:prstGeom prst="rect">
            <a:avLst/>
          </a:prstGeom>
          <a:solidFill>
            <a:srgbClr val="FFD700">
              <a:alpha val="80000"/>
            </a:srgbClr>
          </a:solidFill>
          <a:ln/>
        </p:spPr>
      </p:sp>
      <p:sp>
        <p:nvSpPr>
          <p:cNvPr id="34" name="Text 32"/>
          <p:cNvSpPr/>
          <p:nvPr/>
        </p:nvSpPr>
        <p:spPr>
          <a:xfrm>
            <a:off x="182880" y="35844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6</a:t>
            </a:r>
            <a:endParaRPr lang="en-US" sz="1000" dirty="0"/>
          </a:p>
        </p:txBody>
      </p:sp>
      <p:sp>
        <p:nvSpPr>
          <p:cNvPr id="35" name="Text 33"/>
          <p:cNvSpPr/>
          <p:nvPr/>
        </p:nvSpPr>
        <p:spPr>
          <a:xfrm>
            <a:off x="530352" y="3602736"/>
            <a:ext cx="3749040" cy="182880"/>
          </a:xfrm>
          <a:prstGeom prst="rect">
            <a:avLst/>
          </a:prstGeom>
          <a:noFill/>
          <a:ln/>
        </p:spPr>
        <p:txBody>
          <a:bodyPr wrap="square" lIns="0" tIns="0" rIns="0" bIns="0" rtlCol="0" anchor="ctr"/>
          <a:lstStyle/>
          <a:p>
            <a:pPr indent="0" marL="0">
              <a:buNone/>
            </a:pPr>
            <a:r>
              <a:rPr lang="en-US" sz="950" b="1" dirty="0">
                <a:solidFill>
                  <a:srgbClr val="FFD700"/>
                </a:solidFill>
                <a:latin typeface="Calibri" pitchFamily="34" charset="0"/>
                <a:ea typeface="Calibri" pitchFamily="34" charset="-122"/>
                <a:cs typeface="Calibri" pitchFamily="34" charset="-120"/>
              </a:rPr>
              <a:t>PDF Report Generation</a:t>
            </a:r>
            <a:endParaRPr lang="en-US" sz="950" dirty="0"/>
          </a:p>
        </p:txBody>
      </p:sp>
      <p:sp>
        <p:nvSpPr>
          <p:cNvPr id="36" name="Text 34"/>
          <p:cNvSpPr/>
          <p:nvPr/>
        </p:nvSpPr>
        <p:spPr>
          <a:xfrm>
            <a:off x="530352" y="37947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ReportLab integration, charts, metrics, system info</a:t>
            </a:r>
            <a:endParaRPr lang="en-US" sz="800" dirty="0"/>
          </a:p>
        </p:txBody>
      </p:sp>
      <p:sp>
        <p:nvSpPr>
          <p:cNvPr id="37" name="Shape 35"/>
          <p:cNvSpPr/>
          <p:nvPr/>
        </p:nvSpPr>
        <p:spPr>
          <a:xfrm>
            <a:off x="182880" y="4041648"/>
            <a:ext cx="4206240" cy="393192"/>
          </a:xfrm>
          <a:prstGeom prst="rect">
            <a:avLst/>
          </a:prstGeom>
          <a:solidFill>
            <a:srgbClr val="0D1F3C"/>
          </a:solidFill>
          <a:ln w="12700">
            <a:solidFill>
              <a:srgbClr val="00D4FF"/>
            </a:solidFill>
            <a:prstDash val="solid"/>
          </a:ln>
        </p:spPr>
      </p:sp>
      <p:sp>
        <p:nvSpPr>
          <p:cNvPr id="38" name="Shape 36"/>
          <p:cNvSpPr/>
          <p:nvPr/>
        </p:nvSpPr>
        <p:spPr>
          <a:xfrm>
            <a:off x="182880" y="4041648"/>
            <a:ext cx="292608" cy="393192"/>
          </a:xfrm>
          <a:prstGeom prst="rect">
            <a:avLst/>
          </a:prstGeom>
          <a:solidFill>
            <a:srgbClr val="00D4FF">
              <a:alpha val="80000"/>
            </a:srgbClr>
          </a:solidFill>
          <a:ln/>
        </p:spPr>
      </p:sp>
      <p:sp>
        <p:nvSpPr>
          <p:cNvPr id="39" name="Text 37"/>
          <p:cNvSpPr/>
          <p:nvPr/>
        </p:nvSpPr>
        <p:spPr>
          <a:xfrm>
            <a:off x="182880" y="40416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7</a:t>
            </a:r>
            <a:endParaRPr lang="en-US" sz="1000" dirty="0"/>
          </a:p>
        </p:txBody>
      </p:sp>
      <p:sp>
        <p:nvSpPr>
          <p:cNvPr id="40" name="Text 38"/>
          <p:cNvSpPr/>
          <p:nvPr/>
        </p:nvSpPr>
        <p:spPr>
          <a:xfrm>
            <a:off x="530352" y="4059936"/>
            <a:ext cx="3749040" cy="18288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Diagnostics Utilities</a:t>
            </a:r>
            <a:endParaRPr lang="en-US" sz="950" dirty="0"/>
          </a:p>
        </p:txBody>
      </p:sp>
      <p:sp>
        <p:nvSpPr>
          <p:cNvPr id="41" name="Text 39"/>
          <p:cNvSpPr/>
          <p:nvPr/>
        </p:nvSpPr>
        <p:spPr>
          <a:xfrm>
            <a:off x="530352" y="42519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Hardware detection, pip freeze, compatibility checks</a:t>
            </a:r>
            <a:endParaRPr lang="en-US" sz="800" dirty="0"/>
          </a:p>
        </p:txBody>
      </p:sp>
      <p:sp>
        <p:nvSpPr>
          <p:cNvPr id="42" name="Shape 40"/>
          <p:cNvSpPr/>
          <p:nvPr/>
        </p:nvSpPr>
        <p:spPr>
          <a:xfrm>
            <a:off x="182880" y="4498848"/>
            <a:ext cx="4206240" cy="393192"/>
          </a:xfrm>
          <a:prstGeom prst="rect">
            <a:avLst/>
          </a:prstGeom>
          <a:solidFill>
            <a:srgbClr val="0D1F3C"/>
          </a:solidFill>
          <a:ln w="12700">
            <a:solidFill>
              <a:srgbClr val="7B2FBE"/>
            </a:solidFill>
            <a:prstDash val="solid"/>
          </a:ln>
        </p:spPr>
      </p:sp>
      <p:sp>
        <p:nvSpPr>
          <p:cNvPr id="43" name="Shape 41"/>
          <p:cNvSpPr/>
          <p:nvPr/>
        </p:nvSpPr>
        <p:spPr>
          <a:xfrm>
            <a:off x="182880" y="4498848"/>
            <a:ext cx="292608" cy="393192"/>
          </a:xfrm>
          <a:prstGeom prst="rect">
            <a:avLst/>
          </a:prstGeom>
          <a:solidFill>
            <a:srgbClr val="7B2FBE">
              <a:alpha val="80000"/>
            </a:srgbClr>
          </a:solidFill>
          <a:ln/>
        </p:spPr>
      </p:sp>
      <p:sp>
        <p:nvSpPr>
          <p:cNvPr id="44" name="Text 42"/>
          <p:cNvSpPr/>
          <p:nvPr/>
        </p:nvSpPr>
        <p:spPr>
          <a:xfrm>
            <a:off x="182880" y="44988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8</a:t>
            </a:r>
            <a:endParaRPr lang="en-US" sz="1000" dirty="0"/>
          </a:p>
        </p:txBody>
      </p:sp>
      <p:sp>
        <p:nvSpPr>
          <p:cNvPr id="45" name="Text 43"/>
          <p:cNvSpPr/>
          <p:nvPr/>
        </p:nvSpPr>
        <p:spPr>
          <a:xfrm>
            <a:off x="530352" y="4517136"/>
            <a:ext cx="3749040" cy="182880"/>
          </a:xfrm>
          <a:prstGeom prst="rect">
            <a:avLst/>
          </a:prstGeom>
          <a:noFill/>
          <a:ln/>
        </p:spPr>
        <p:txBody>
          <a:bodyPr wrap="square" lIns="0" tIns="0" rIns="0" bIns="0" rtlCol="0" anchor="ctr"/>
          <a:lstStyle/>
          <a:p>
            <a:pPr indent="0" marL="0">
              <a:buNone/>
            </a:pPr>
            <a:r>
              <a:rPr lang="en-US" sz="950" b="1" dirty="0">
                <a:solidFill>
                  <a:srgbClr val="7B2FBE"/>
                </a:solidFill>
                <a:latin typeface="Calibri" pitchFamily="34" charset="0"/>
                <a:ea typeface="Calibri" pitchFamily="34" charset="-122"/>
                <a:cs typeface="Calibri" pitchFamily="34" charset="-120"/>
              </a:rPr>
              <a:t>TensorRT Cache Management</a:t>
            </a:r>
            <a:endParaRPr lang="en-US" sz="950" dirty="0"/>
          </a:p>
        </p:txBody>
      </p:sp>
      <p:sp>
        <p:nvSpPr>
          <p:cNvPr id="46" name="Text 44"/>
          <p:cNvSpPr/>
          <p:nvPr/>
        </p:nvSpPr>
        <p:spPr>
          <a:xfrm>
            <a:off x="530352" y="47091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Fingerprinting, cache registry, auto-invalidation</a:t>
            </a:r>
            <a:endParaRPr lang="en-US" sz="800" dirty="0"/>
          </a:p>
        </p:txBody>
      </p:sp>
      <p:sp>
        <p:nvSpPr>
          <p:cNvPr id="47" name="Shape 45"/>
          <p:cNvSpPr/>
          <p:nvPr/>
        </p:nvSpPr>
        <p:spPr>
          <a:xfrm>
            <a:off x="4617720" y="1298448"/>
            <a:ext cx="4206240" cy="393192"/>
          </a:xfrm>
          <a:prstGeom prst="rect">
            <a:avLst/>
          </a:prstGeom>
          <a:solidFill>
            <a:srgbClr val="0D1F3C"/>
          </a:solidFill>
          <a:ln w="12700">
            <a:solidFill>
              <a:srgbClr val="00FF9D"/>
            </a:solidFill>
            <a:prstDash val="solid"/>
          </a:ln>
        </p:spPr>
      </p:sp>
      <p:sp>
        <p:nvSpPr>
          <p:cNvPr id="48" name="Shape 46"/>
          <p:cNvSpPr/>
          <p:nvPr/>
        </p:nvSpPr>
        <p:spPr>
          <a:xfrm>
            <a:off x="4617720" y="1298448"/>
            <a:ext cx="292608" cy="393192"/>
          </a:xfrm>
          <a:prstGeom prst="rect">
            <a:avLst/>
          </a:prstGeom>
          <a:solidFill>
            <a:srgbClr val="00FF9D">
              <a:alpha val="80000"/>
            </a:srgbClr>
          </a:solidFill>
          <a:ln/>
        </p:spPr>
      </p:sp>
      <p:sp>
        <p:nvSpPr>
          <p:cNvPr id="49" name="Text 47"/>
          <p:cNvSpPr/>
          <p:nvPr/>
        </p:nvSpPr>
        <p:spPr>
          <a:xfrm>
            <a:off x="4617720" y="12984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9</a:t>
            </a:r>
            <a:endParaRPr lang="en-US" sz="1000" dirty="0"/>
          </a:p>
        </p:txBody>
      </p:sp>
      <p:sp>
        <p:nvSpPr>
          <p:cNvPr id="50" name="Text 48"/>
          <p:cNvSpPr/>
          <p:nvPr/>
        </p:nvSpPr>
        <p:spPr>
          <a:xfrm>
            <a:off x="4965192" y="1316736"/>
            <a:ext cx="3749040" cy="182880"/>
          </a:xfrm>
          <a:prstGeom prst="rect">
            <a:avLst/>
          </a:prstGeom>
          <a:noFill/>
          <a:ln/>
        </p:spPr>
        <p:txBody>
          <a:bodyPr wrap="square" lIns="0" tIns="0" rIns="0" bIns="0" rtlCol="0" anchor="ctr"/>
          <a:lstStyle/>
          <a:p>
            <a:pPr indent="0" marL="0">
              <a:buNone/>
            </a:pPr>
            <a:r>
              <a:rPr lang="en-US" sz="950" b="1" dirty="0">
                <a:solidFill>
                  <a:srgbClr val="00FF9D"/>
                </a:solidFill>
                <a:latin typeface="Calibri" pitchFamily="34" charset="0"/>
                <a:ea typeface="Calibri" pitchFamily="34" charset="-122"/>
                <a:cs typeface="Calibri" pitchFamily="34" charset="-120"/>
              </a:rPr>
              <a:t>Camera / OpenCV Utilities</a:t>
            </a:r>
            <a:endParaRPr lang="en-US" sz="950" dirty="0"/>
          </a:p>
        </p:txBody>
      </p:sp>
      <p:sp>
        <p:nvSpPr>
          <p:cNvPr id="51" name="Text 49"/>
          <p:cNvSpPr/>
          <p:nvPr/>
        </p:nvSpPr>
        <p:spPr>
          <a:xfrm>
            <a:off x="4965192" y="15087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Thread-safe capture, DirectShow/MSMF, frame buffers</a:t>
            </a:r>
            <a:endParaRPr lang="en-US" sz="800" dirty="0"/>
          </a:p>
        </p:txBody>
      </p:sp>
      <p:sp>
        <p:nvSpPr>
          <p:cNvPr id="52" name="Shape 50"/>
          <p:cNvSpPr/>
          <p:nvPr/>
        </p:nvSpPr>
        <p:spPr>
          <a:xfrm>
            <a:off x="4617720" y="1755648"/>
            <a:ext cx="4206240" cy="393192"/>
          </a:xfrm>
          <a:prstGeom prst="rect">
            <a:avLst/>
          </a:prstGeom>
          <a:solidFill>
            <a:srgbClr val="0D1F3C"/>
          </a:solidFill>
          <a:ln w="12700">
            <a:solidFill>
              <a:srgbClr val="FF6B35"/>
            </a:solidFill>
            <a:prstDash val="solid"/>
          </a:ln>
        </p:spPr>
      </p:sp>
      <p:sp>
        <p:nvSpPr>
          <p:cNvPr id="53" name="Shape 51"/>
          <p:cNvSpPr/>
          <p:nvPr/>
        </p:nvSpPr>
        <p:spPr>
          <a:xfrm>
            <a:off x="4617720" y="1755648"/>
            <a:ext cx="292608" cy="393192"/>
          </a:xfrm>
          <a:prstGeom prst="rect">
            <a:avLst/>
          </a:prstGeom>
          <a:solidFill>
            <a:srgbClr val="FF6B35">
              <a:alpha val="80000"/>
            </a:srgbClr>
          </a:solidFill>
          <a:ln/>
        </p:spPr>
      </p:sp>
      <p:sp>
        <p:nvSpPr>
          <p:cNvPr id="54" name="Text 52"/>
          <p:cNvSpPr/>
          <p:nvPr/>
        </p:nvSpPr>
        <p:spPr>
          <a:xfrm>
            <a:off x="4617720" y="17556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10</a:t>
            </a:r>
            <a:endParaRPr lang="en-US" sz="1000" dirty="0"/>
          </a:p>
        </p:txBody>
      </p:sp>
      <p:sp>
        <p:nvSpPr>
          <p:cNvPr id="55" name="Text 53"/>
          <p:cNvSpPr/>
          <p:nvPr/>
        </p:nvSpPr>
        <p:spPr>
          <a:xfrm>
            <a:off x="4965192" y="1773936"/>
            <a:ext cx="3749040" cy="182880"/>
          </a:xfrm>
          <a:prstGeom prst="rect">
            <a:avLst/>
          </a:prstGeom>
          <a:noFill/>
          <a:ln/>
        </p:spPr>
        <p:txBody>
          <a:bodyPr wrap="square" lIns="0" tIns="0" rIns="0" bIns="0" rtlCol="0" anchor="ctr"/>
          <a:lstStyle/>
          <a:p>
            <a:pPr indent="0" marL="0">
              <a:buNone/>
            </a:pPr>
            <a:r>
              <a:rPr lang="en-US" sz="950" b="1" dirty="0">
                <a:solidFill>
                  <a:srgbClr val="FF6B35"/>
                </a:solidFill>
                <a:latin typeface="Calibri" pitchFamily="34" charset="0"/>
                <a:ea typeface="Calibri" pitchFamily="34" charset="-122"/>
                <a:cs typeface="Calibri" pitchFamily="34" charset="-120"/>
              </a:rPr>
              <a:t>PySide6 Custom Widgets</a:t>
            </a:r>
            <a:endParaRPr lang="en-US" sz="950" dirty="0"/>
          </a:p>
        </p:txBody>
      </p:sp>
      <p:sp>
        <p:nvSpPr>
          <p:cNvPr id="56" name="Text 54"/>
          <p:cNvSpPr/>
          <p:nvPr/>
        </p:nvSpPr>
        <p:spPr>
          <a:xfrm>
            <a:off x="4965192" y="19659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Progress bars, colored text, custom buttons</a:t>
            </a:r>
            <a:endParaRPr lang="en-US" sz="800" dirty="0"/>
          </a:p>
        </p:txBody>
      </p:sp>
      <p:sp>
        <p:nvSpPr>
          <p:cNvPr id="57" name="Shape 55"/>
          <p:cNvSpPr/>
          <p:nvPr/>
        </p:nvSpPr>
        <p:spPr>
          <a:xfrm>
            <a:off x="4617720" y="2212848"/>
            <a:ext cx="4206240" cy="393192"/>
          </a:xfrm>
          <a:prstGeom prst="rect">
            <a:avLst/>
          </a:prstGeom>
          <a:solidFill>
            <a:srgbClr val="0D1F3C"/>
          </a:solidFill>
          <a:ln w="12700">
            <a:solidFill>
              <a:srgbClr val="FF2D78"/>
            </a:solidFill>
            <a:prstDash val="solid"/>
          </a:ln>
        </p:spPr>
      </p:sp>
      <p:sp>
        <p:nvSpPr>
          <p:cNvPr id="58" name="Shape 56"/>
          <p:cNvSpPr/>
          <p:nvPr/>
        </p:nvSpPr>
        <p:spPr>
          <a:xfrm>
            <a:off x="4617720" y="2212848"/>
            <a:ext cx="292608" cy="393192"/>
          </a:xfrm>
          <a:prstGeom prst="rect">
            <a:avLst/>
          </a:prstGeom>
          <a:solidFill>
            <a:srgbClr val="FF2D78">
              <a:alpha val="80000"/>
            </a:srgbClr>
          </a:solidFill>
          <a:ln/>
        </p:spPr>
      </p:sp>
      <p:sp>
        <p:nvSpPr>
          <p:cNvPr id="59" name="Text 57"/>
          <p:cNvSpPr/>
          <p:nvPr/>
        </p:nvSpPr>
        <p:spPr>
          <a:xfrm>
            <a:off x="4617720" y="22128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11</a:t>
            </a:r>
            <a:endParaRPr lang="en-US" sz="1000" dirty="0"/>
          </a:p>
        </p:txBody>
      </p:sp>
      <p:sp>
        <p:nvSpPr>
          <p:cNvPr id="60" name="Text 58"/>
          <p:cNvSpPr/>
          <p:nvPr/>
        </p:nvSpPr>
        <p:spPr>
          <a:xfrm>
            <a:off x="4965192" y="2231136"/>
            <a:ext cx="3749040" cy="182880"/>
          </a:xfrm>
          <a:prstGeom prst="rect">
            <a:avLst/>
          </a:prstGeom>
          <a:noFill/>
          <a:ln/>
        </p:spPr>
        <p:txBody>
          <a:bodyPr wrap="square" lIns="0" tIns="0" rIns="0" bIns="0" rtlCol="0" anchor="ctr"/>
          <a:lstStyle/>
          <a:p>
            <a:pPr indent="0" marL="0">
              <a:buNone/>
            </a:pPr>
            <a:r>
              <a:rPr lang="en-US" sz="950" b="1" dirty="0">
                <a:solidFill>
                  <a:srgbClr val="FF2D78"/>
                </a:solidFill>
                <a:latin typeface="Calibri" pitchFamily="34" charset="0"/>
                <a:ea typeface="Calibri" pitchFamily="34" charset="-122"/>
                <a:cs typeface="Calibri" pitchFamily="34" charset="-120"/>
              </a:rPr>
              <a:t>Χρώματα, HTML, Constants</a:t>
            </a:r>
            <a:endParaRPr lang="en-US" sz="950" dirty="0"/>
          </a:p>
        </p:txBody>
      </p:sp>
      <p:sp>
        <p:nvSpPr>
          <p:cNvPr id="61" name="Text 59"/>
          <p:cNvSpPr/>
          <p:nvPr/>
        </p:nvSpPr>
        <p:spPr>
          <a:xfrm>
            <a:off x="4965192" y="24231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Color palette, HTML log formatter, app constants</a:t>
            </a:r>
            <a:endParaRPr lang="en-US" sz="800" dirty="0"/>
          </a:p>
        </p:txBody>
      </p:sp>
      <p:sp>
        <p:nvSpPr>
          <p:cNvPr id="62" name="Shape 60"/>
          <p:cNvSpPr/>
          <p:nvPr/>
        </p:nvSpPr>
        <p:spPr>
          <a:xfrm>
            <a:off x="4617720" y="2670048"/>
            <a:ext cx="4206240" cy="393192"/>
          </a:xfrm>
          <a:prstGeom prst="rect">
            <a:avLst/>
          </a:prstGeom>
          <a:solidFill>
            <a:srgbClr val="0D1F3C"/>
          </a:solidFill>
          <a:ln w="12700">
            <a:solidFill>
              <a:srgbClr val="FFD700"/>
            </a:solidFill>
            <a:prstDash val="solid"/>
          </a:ln>
        </p:spPr>
      </p:sp>
      <p:sp>
        <p:nvSpPr>
          <p:cNvPr id="63" name="Shape 61"/>
          <p:cNvSpPr/>
          <p:nvPr/>
        </p:nvSpPr>
        <p:spPr>
          <a:xfrm>
            <a:off x="4617720" y="2670048"/>
            <a:ext cx="292608" cy="393192"/>
          </a:xfrm>
          <a:prstGeom prst="rect">
            <a:avLst/>
          </a:prstGeom>
          <a:solidFill>
            <a:srgbClr val="FFD700">
              <a:alpha val="80000"/>
            </a:srgbClr>
          </a:solidFill>
          <a:ln/>
        </p:spPr>
      </p:sp>
      <p:sp>
        <p:nvSpPr>
          <p:cNvPr id="64" name="Text 62"/>
          <p:cNvSpPr/>
          <p:nvPr/>
        </p:nvSpPr>
        <p:spPr>
          <a:xfrm>
            <a:off x="4617720" y="26700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12</a:t>
            </a:r>
            <a:endParaRPr lang="en-US" sz="1000" dirty="0"/>
          </a:p>
        </p:txBody>
      </p:sp>
      <p:sp>
        <p:nvSpPr>
          <p:cNvPr id="65" name="Text 63"/>
          <p:cNvSpPr/>
          <p:nvPr/>
        </p:nvSpPr>
        <p:spPr>
          <a:xfrm>
            <a:off x="4965192" y="2688336"/>
            <a:ext cx="3749040" cy="182880"/>
          </a:xfrm>
          <a:prstGeom prst="rect">
            <a:avLst/>
          </a:prstGeom>
          <a:noFill/>
          <a:ln/>
        </p:spPr>
        <p:txBody>
          <a:bodyPr wrap="square" lIns="0" tIns="0" rIns="0" bIns="0" rtlCol="0" anchor="ctr"/>
          <a:lstStyle/>
          <a:p>
            <a:pPr indent="0" marL="0">
              <a:buNone/>
            </a:pPr>
            <a:r>
              <a:rPr lang="en-US" sz="950" b="1" dirty="0">
                <a:solidFill>
                  <a:srgbClr val="FFD700"/>
                </a:solidFill>
                <a:latin typeface="Calibri" pitchFamily="34" charset="0"/>
                <a:ea typeface="Calibri" pitchFamily="34" charset="-122"/>
                <a:cs typeface="Calibri" pitchFamily="34" charset="-120"/>
              </a:rPr>
              <a:t>Dataset &amp; Model Configuration</a:t>
            </a:r>
            <a:endParaRPr lang="en-US" sz="950" dirty="0"/>
          </a:p>
        </p:txBody>
      </p:sp>
      <p:sp>
        <p:nvSpPr>
          <p:cNvPr id="66" name="Text 64"/>
          <p:cNvSpPr/>
          <p:nvPr/>
        </p:nvSpPr>
        <p:spPr>
          <a:xfrm>
            <a:off x="4965192" y="28803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COCO configs, model presets, hyperparameter defaults</a:t>
            </a:r>
            <a:endParaRPr lang="en-US" sz="800" dirty="0"/>
          </a:p>
        </p:txBody>
      </p:sp>
      <p:sp>
        <p:nvSpPr>
          <p:cNvPr id="67" name="Shape 65"/>
          <p:cNvSpPr/>
          <p:nvPr/>
        </p:nvSpPr>
        <p:spPr>
          <a:xfrm>
            <a:off x="4617720" y="3127248"/>
            <a:ext cx="4206240" cy="393192"/>
          </a:xfrm>
          <a:prstGeom prst="rect">
            <a:avLst/>
          </a:prstGeom>
          <a:solidFill>
            <a:srgbClr val="0D1F3C"/>
          </a:solidFill>
          <a:ln w="12700">
            <a:solidFill>
              <a:srgbClr val="00D4FF"/>
            </a:solidFill>
            <a:prstDash val="solid"/>
          </a:ln>
        </p:spPr>
      </p:sp>
      <p:sp>
        <p:nvSpPr>
          <p:cNvPr id="68" name="Shape 66"/>
          <p:cNvSpPr/>
          <p:nvPr/>
        </p:nvSpPr>
        <p:spPr>
          <a:xfrm>
            <a:off x="4617720" y="3127248"/>
            <a:ext cx="292608" cy="393192"/>
          </a:xfrm>
          <a:prstGeom prst="rect">
            <a:avLst/>
          </a:prstGeom>
          <a:solidFill>
            <a:srgbClr val="00D4FF">
              <a:alpha val="80000"/>
            </a:srgbClr>
          </a:solidFill>
          <a:ln/>
        </p:spPr>
      </p:sp>
      <p:sp>
        <p:nvSpPr>
          <p:cNvPr id="69" name="Text 67"/>
          <p:cNvSpPr/>
          <p:nvPr/>
        </p:nvSpPr>
        <p:spPr>
          <a:xfrm>
            <a:off x="4617720" y="31272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13</a:t>
            </a:r>
            <a:endParaRPr lang="en-US" sz="1000" dirty="0"/>
          </a:p>
        </p:txBody>
      </p:sp>
      <p:sp>
        <p:nvSpPr>
          <p:cNvPr id="70" name="Text 68"/>
          <p:cNvSpPr/>
          <p:nvPr/>
        </p:nvSpPr>
        <p:spPr>
          <a:xfrm>
            <a:off x="4965192" y="3145536"/>
            <a:ext cx="3749040" cy="18288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CNN Helpers</a:t>
            </a:r>
            <a:endParaRPr lang="en-US" sz="950" dirty="0"/>
          </a:p>
        </p:txBody>
      </p:sp>
      <p:sp>
        <p:nvSpPr>
          <p:cNvPr id="71" name="Text 69"/>
          <p:cNvSpPr/>
          <p:nvPr/>
        </p:nvSpPr>
        <p:spPr>
          <a:xfrm>
            <a:off x="4965192" y="33375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CNNInferenceHelper, CNNTrainingWorker, torchvision models</a:t>
            </a:r>
            <a:endParaRPr lang="en-US" sz="800" dirty="0"/>
          </a:p>
        </p:txBody>
      </p:sp>
      <p:sp>
        <p:nvSpPr>
          <p:cNvPr id="72" name="Shape 70"/>
          <p:cNvSpPr/>
          <p:nvPr/>
        </p:nvSpPr>
        <p:spPr>
          <a:xfrm>
            <a:off x="4617720" y="3584448"/>
            <a:ext cx="4206240" cy="393192"/>
          </a:xfrm>
          <a:prstGeom prst="rect">
            <a:avLst/>
          </a:prstGeom>
          <a:solidFill>
            <a:srgbClr val="0D1F3C"/>
          </a:solidFill>
          <a:ln w="12700">
            <a:solidFill>
              <a:srgbClr val="7B2FBE"/>
            </a:solidFill>
            <a:prstDash val="solid"/>
          </a:ln>
        </p:spPr>
      </p:sp>
      <p:sp>
        <p:nvSpPr>
          <p:cNvPr id="73" name="Shape 71"/>
          <p:cNvSpPr/>
          <p:nvPr/>
        </p:nvSpPr>
        <p:spPr>
          <a:xfrm>
            <a:off x="4617720" y="3584448"/>
            <a:ext cx="292608" cy="393192"/>
          </a:xfrm>
          <a:prstGeom prst="rect">
            <a:avLst/>
          </a:prstGeom>
          <a:solidFill>
            <a:srgbClr val="7B2FBE">
              <a:alpha val="80000"/>
            </a:srgbClr>
          </a:solidFill>
          <a:ln/>
        </p:spPr>
      </p:sp>
      <p:sp>
        <p:nvSpPr>
          <p:cNvPr id="74" name="Text 72"/>
          <p:cNvSpPr/>
          <p:nvPr/>
        </p:nvSpPr>
        <p:spPr>
          <a:xfrm>
            <a:off x="4617720" y="35844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14</a:t>
            </a:r>
            <a:endParaRPr lang="en-US" sz="1000" dirty="0"/>
          </a:p>
        </p:txBody>
      </p:sp>
      <p:sp>
        <p:nvSpPr>
          <p:cNvPr id="75" name="Text 73"/>
          <p:cNvSpPr/>
          <p:nvPr/>
        </p:nvSpPr>
        <p:spPr>
          <a:xfrm>
            <a:off x="4965192" y="3602736"/>
            <a:ext cx="3749040" cy="182880"/>
          </a:xfrm>
          <a:prstGeom prst="rect">
            <a:avLst/>
          </a:prstGeom>
          <a:noFill/>
          <a:ln/>
        </p:spPr>
        <p:txBody>
          <a:bodyPr wrap="square" lIns="0" tIns="0" rIns="0" bIns="0" rtlCol="0" anchor="ctr"/>
          <a:lstStyle/>
          <a:p>
            <a:pPr indent="0" marL="0">
              <a:buNone/>
            </a:pPr>
            <a:r>
              <a:rPr lang="en-US" sz="950" b="1" dirty="0">
                <a:solidFill>
                  <a:srgbClr val="7B2FBE"/>
                </a:solidFill>
                <a:latin typeface="Calibri" pitchFamily="34" charset="0"/>
                <a:ea typeface="Calibri" pitchFamily="34" charset="-122"/>
                <a:cs typeface="Calibri" pitchFamily="34" charset="-120"/>
              </a:rPr>
              <a:t>Κύριο Παράθυρο</a:t>
            </a:r>
            <a:endParaRPr lang="en-US" sz="950" dirty="0"/>
          </a:p>
        </p:txBody>
      </p:sp>
      <p:sp>
        <p:nvSpPr>
          <p:cNvPr id="76" name="Text 74"/>
          <p:cNvSpPr/>
          <p:nvPr/>
        </p:nvSpPr>
        <p:spPr>
          <a:xfrm>
            <a:off x="4965192" y="37947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YOLOProManager — κεντρικό QMainWindow με όλα τα tabs</a:t>
            </a:r>
            <a:endParaRPr lang="en-US" sz="800" dirty="0"/>
          </a:p>
        </p:txBody>
      </p:sp>
      <p:sp>
        <p:nvSpPr>
          <p:cNvPr id="77" name="Shape 75"/>
          <p:cNvSpPr/>
          <p:nvPr/>
        </p:nvSpPr>
        <p:spPr>
          <a:xfrm>
            <a:off x="4617720" y="4041648"/>
            <a:ext cx="4206240" cy="393192"/>
          </a:xfrm>
          <a:prstGeom prst="rect">
            <a:avLst/>
          </a:prstGeom>
          <a:solidFill>
            <a:srgbClr val="0D1F3C"/>
          </a:solidFill>
          <a:ln w="12700">
            <a:solidFill>
              <a:srgbClr val="00FF9D"/>
            </a:solidFill>
            <a:prstDash val="solid"/>
          </a:ln>
        </p:spPr>
      </p:sp>
      <p:sp>
        <p:nvSpPr>
          <p:cNvPr id="78" name="Shape 76"/>
          <p:cNvSpPr/>
          <p:nvPr/>
        </p:nvSpPr>
        <p:spPr>
          <a:xfrm>
            <a:off x="4617720" y="4041648"/>
            <a:ext cx="292608" cy="393192"/>
          </a:xfrm>
          <a:prstGeom prst="rect">
            <a:avLst/>
          </a:prstGeom>
          <a:solidFill>
            <a:srgbClr val="00FF9D">
              <a:alpha val="80000"/>
            </a:srgbClr>
          </a:solidFill>
          <a:ln/>
        </p:spPr>
      </p:sp>
      <p:sp>
        <p:nvSpPr>
          <p:cNvPr id="79" name="Text 77"/>
          <p:cNvSpPr/>
          <p:nvPr/>
        </p:nvSpPr>
        <p:spPr>
          <a:xfrm>
            <a:off x="4617720" y="4041648"/>
            <a:ext cx="292608" cy="393192"/>
          </a:xfrm>
          <a:prstGeom prst="rect">
            <a:avLst/>
          </a:prstGeom>
          <a:noFill/>
          <a:ln/>
        </p:spPr>
        <p:txBody>
          <a:bodyPr wrap="square" lIns="0" tIns="0" rIns="0" bIns="0" rtlCol="0" anchor="ctr"/>
          <a:lstStyle/>
          <a:p>
            <a:pPr algn="ctr" indent="0" marL="0">
              <a:buNone/>
            </a:pPr>
            <a:r>
              <a:rPr lang="en-US" sz="1000" b="1" dirty="0">
                <a:solidFill>
                  <a:srgbClr val="050D1A"/>
                </a:solidFill>
                <a:latin typeface="Consolas" pitchFamily="34" charset="0"/>
                <a:ea typeface="Consolas" pitchFamily="34" charset="-122"/>
                <a:cs typeface="Consolas" pitchFamily="34" charset="-120"/>
              </a:rPr>
              <a:t>15</a:t>
            </a:r>
            <a:endParaRPr lang="en-US" sz="1000" dirty="0"/>
          </a:p>
        </p:txBody>
      </p:sp>
      <p:sp>
        <p:nvSpPr>
          <p:cNvPr id="80" name="Text 78"/>
          <p:cNvSpPr/>
          <p:nvPr/>
        </p:nvSpPr>
        <p:spPr>
          <a:xfrm>
            <a:off x="4965192" y="4059936"/>
            <a:ext cx="3749040" cy="182880"/>
          </a:xfrm>
          <a:prstGeom prst="rect">
            <a:avLst/>
          </a:prstGeom>
          <a:noFill/>
          <a:ln/>
        </p:spPr>
        <p:txBody>
          <a:bodyPr wrap="square" lIns="0" tIns="0" rIns="0" bIns="0" rtlCol="0" anchor="ctr"/>
          <a:lstStyle/>
          <a:p>
            <a:pPr indent="0" marL="0">
              <a:buNone/>
            </a:pPr>
            <a:r>
              <a:rPr lang="en-US" sz="950" b="1" dirty="0">
                <a:solidFill>
                  <a:srgbClr val="00FF9D"/>
                </a:solidFill>
                <a:latin typeface="Calibri" pitchFamily="34" charset="0"/>
                <a:ea typeface="Calibri" pitchFamily="34" charset="-122"/>
                <a:cs typeface="Calibri" pitchFamily="34" charset="-120"/>
              </a:rPr>
              <a:t>Entry Point</a:t>
            </a:r>
            <a:endParaRPr lang="en-US" sz="950" dirty="0"/>
          </a:p>
        </p:txBody>
      </p:sp>
      <p:sp>
        <p:nvSpPr>
          <p:cNvPr id="81" name="Text 79"/>
          <p:cNvSpPr/>
          <p:nvPr/>
        </p:nvSpPr>
        <p:spPr>
          <a:xfrm>
            <a:off x="4965192" y="4251960"/>
            <a:ext cx="3749040" cy="155448"/>
          </a:xfrm>
          <a:prstGeom prst="rect">
            <a:avLst/>
          </a:prstGeom>
          <a:noFill/>
          <a:ln/>
        </p:spPr>
        <p:txBody>
          <a:bodyPr wrap="square" lIns="0" tIns="0" rIns="0" bIns="0" rtlCol="0" anchor="ctr"/>
          <a:lstStyle/>
          <a:p>
            <a:pPr indent="0" marL="0">
              <a:buNone/>
            </a:pPr>
            <a:r>
              <a:rPr lang="en-US" sz="800" dirty="0">
                <a:solidFill>
                  <a:srgbClr val="8899BB"/>
                </a:solidFill>
                <a:latin typeface="Calibri" pitchFamily="34" charset="0"/>
                <a:ea typeface="Calibri" pitchFamily="34" charset="-122"/>
                <a:cs typeface="Calibri" pitchFamily="34" charset="-120"/>
              </a:rPr>
              <a:t>main() — multiprocessing + COM init + QApplication</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22544"/>
          </a:solidFill>
          <a:ln w="38100">
            <a:solidFill>
              <a:srgbClr val="FF2D78"/>
            </a:solidFill>
            <a:prstDash val="solid"/>
          </a:ln>
        </p:spPr>
      </p:sp>
      <p:sp>
        <p:nvSpPr>
          <p:cNvPr id="3" name="Shape 1"/>
          <p:cNvSpPr/>
          <p:nvPr/>
        </p:nvSpPr>
        <p:spPr>
          <a:xfrm>
            <a:off x="0" y="0"/>
            <a:ext cx="73152" cy="822960"/>
          </a:xfrm>
          <a:prstGeom prst="rect">
            <a:avLst/>
          </a:prstGeom>
          <a:solidFill>
            <a:srgbClr val="FF2D78"/>
          </a:solidFill>
          <a:ln/>
        </p:spPr>
      </p:sp>
      <p:sp>
        <p:nvSpPr>
          <p:cNvPr id="4" name="Text 2"/>
          <p:cNvSpPr/>
          <p:nvPr/>
        </p:nvSpPr>
        <p:spPr>
          <a:xfrm>
            <a:off x="182880" y="45720"/>
            <a:ext cx="64008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12 — Video Inference Pipeline</a:t>
            </a:r>
            <a:endParaRPr lang="en-US" sz="2600" dirty="0"/>
          </a:p>
        </p:txBody>
      </p:sp>
      <p:sp>
        <p:nvSpPr>
          <p:cNvPr id="5" name="Text 3"/>
          <p:cNvSpPr/>
          <p:nvPr/>
        </p:nvSpPr>
        <p:spPr>
          <a:xfrm>
            <a:off x="6583680" y="91440"/>
            <a:ext cx="2468880" cy="640080"/>
          </a:xfrm>
          <a:prstGeom prst="rect">
            <a:avLst/>
          </a:prstGeom>
          <a:noFill/>
          <a:ln/>
        </p:spPr>
        <p:txBody>
          <a:bodyPr wrap="square" lIns="0" tIns="0" rIns="0" bIns="0" rtlCol="0" anchor="ctr"/>
          <a:lstStyle/>
          <a:p>
            <a:pPr algn="r" indent="0" marL="0">
              <a:buNone/>
            </a:pPr>
            <a:r>
              <a:rPr lang="en-US" sz="1100" i="1" dirty="0">
                <a:solidFill>
                  <a:srgbClr val="FF2D78"/>
                </a:solidFill>
                <a:latin typeface="Calibri" pitchFamily="34" charset="0"/>
                <a:ea typeface="Calibri" pitchFamily="34" charset="-122"/>
                <a:cs typeface="Calibri" pitchFamily="34" charset="-120"/>
              </a:rPr>
              <a:t>Frame-by-Frame Processing</a:t>
            </a:r>
            <a:endParaRPr lang="en-US" sz="1100" dirty="0"/>
          </a:p>
        </p:txBody>
      </p:sp>
      <p:sp>
        <p:nvSpPr>
          <p:cNvPr id="6" name="Text 4"/>
          <p:cNvSpPr/>
          <p:nvPr/>
        </p:nvSpPr>
        <p:spPr>
          <a:xfrm>
            <a:off x="274320" y="914400"/>
            <a:ext cx="8595360" cy="320040"/>
          </a:xfrm>
          <a:prstGeom prst="rect">
            <a:avLst/>
          </a:prstGeom>
          <a:noFill/>
          <a:ln/>
        </p:spPr>
        <p:txBody>
          <a:bodyPr wrap="square" lIns="0" tIns="0" rIns="0" bIns="0" rtlCol="0" anchor="ctr"/>
          <a:lstStyle/>
          <a:p>
            <a:pPr indent="0" marL="0">
              <a:buNone/>
            </a:pPr>
            <a:r>
              <a:rPr lang="en-US" sz="1200" i="1" dirty="0">
                <a:solidFill>
                  <a:srgbClr val="AABBCC"/>
                </a:solidFill>
                <a:latin typeface="Calibri" pitchFamily="34" charset="0"/>
                <a:ea typeface="Calibri" pitchFamily="34" charset="-122"/>
                <a:cs typeface="Calibri" pitchFamily="34" charset="-120"/>
              </a:rPr>
              <a:t>Επεξεργασία βίντεο για batch inference σε αρχεία:</a:t>
            </a:r>
            <a:endParaRPr lang="en-US" sz="1200" dirty="0"/>
          </a:p>
        </p:txBody>
      </p:sp>
      <p:sp>
        <p:nvSpPr>
          <p:cNvPr id="7" name="Shape 5"/>
          <p:cNvSpPr/>
          <p:nvPr/>
        </p:nvSpPr>
        <p:spPr>
          <a:xfrm>
            <a:off x="182880" y="1371600"/>
            <a:ext cx="2834640" cy="1325880"/>
          </a:xfrm>
          <a:prstGeom prst="rect">
            <a:avLst/>
          </a:prstGeom>
          <a:solidFill>
            <a:srgbClr val="0D1F3C"/>
          </a:solidFill>
          <a:ln w="19050">
            <a:solidFill>
              <a:srgbClr val="FF2D78"/>
            </a:solidFill>
            <a:prstDash val="solid"/>
          </a:ln>
          <a:effectLst>
            <a:outerShdw sx="100000" sy="100000" kx="0" ky="0" algn="bl" rotWithShape="0" blurRad="127000" dist="38100" dir="8100000">
              <a:srgbClr val="000000">
                <a:alpha val="40000"/>
              </a:srgbClr>
            </a:outerShdw>
          </a:effectLst>
        </p:spPr>
      </p:sp>
      <p:sp>
        <p:nvSpPr>
          <p:cNvPr id="8" name="Shape 6"/>
          <p:cNvSpPr/>
          <p:nvPr/>
        </p:nvSpPr>
        <p:spPr>
          <a:xfrm>
            <a:off x="182880" y="1371600"/>
            <a:ext cx="2834640" cy="64008"/>
          </a:xfrm>
          <a:prstGeom prst="rect">
            <a:avLst/>
          </a:prstGeom>
          <a:solidFill>
            <a:srgbClr val="FF2D78"/>
          </a:solidFill>
          <a:ln/>
        </p:spPr>
      </p:sp>
      <p:sp>
        <p:nvSpPr>
          <p:cNvPr id="9" name="Text 7"/>
          <p:cNvSpPr/>
          <p:nvPr/>
        </p:nvSpPr>
        <p:spPr>
          <a:xfrm>
            <a:off x="320040" y="1463040"/>
            <a:ext cx="2606040" cy="320040"/>
          </a:xfrm>
          <a:prstGeom prst="rect">
            <a:avLst/>
          </a:prstGeom>
          <a:noFill/>
          <a:ln/>
        </p:spPr>
        <p:txBody>
          <a:bodyPr wrap="square" lIns="0" tIns="0" rIns="0" bIns="0" rtlCol="0" anchor="ctr"/>
          <a:lstStyle/>
          <a:p>
            <a:pPr indent="0" marL="0">
              <a:buNone/>
            </a:pPr>
            <a:r>
              <a:rPr lang="en-US" sz="1300" b="1" dirty="0">
                <a:solidFill>
                  <a:srgbClr val="FF2D78"/>
                </a:solidFill>
                <a:latin typeface="Calibri" pitchFamily="34" charset="0"/>
                <a:ea typeface="Calibri" pitchFamily="34" charset="-122"/>
                <a:cs typeface="Calibri" pitchFamily="34" charset="-120"/>
              </a:rPr>
              <a:t>Video Load</a:t>
            </a:r>
            <a:endParaRPr lang="en-US" sz="1300" dirty="0"/>
          </a:p>
        </p:txBody>
      </p:sp>
      <p:sp>
        <p:nvSpPr>
          <p:cNvPr id="10" name="Text 8"/>
          <p:cNvSpPr/>
          <p:nvPr/>
        </p:nvSpPr>
        <p:spPr>
          <a:xfrm>
            <a:off x="320040" y="1847088"/>
            <a:ext cx="2560320" cy="7589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cv2.VideoCapture(path)</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Ανάγνωση metadata</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(fps, width, height)</a:t>
            </a:r>
            <a:endParaRPr lang="en-US" sz="1050" dirty="0"/>
          </a:p>
        </p:txBody>
      </p:sp>
      <p:sp>
        <p:nvSpPr>
          <p:cNvPr id="11" name="Shape 9"/>
          <p:cNvSpPr/>
          <p:nvPr/>
        </p:nvSpPr>
        <p:spPr>
          <a:xfrm>
            <a:off x="3017520" y="2011680"/>
            <a:ext cx="137160" cy="0"/>
          </a:xfrm>
          <a:prstGeom prst="line">
            <a:avLst/>
          </a:prstGeom>
          <a:noFill/>
          <a:ln w="19050">
            <a:solidFill>
              <a:srgbClr val="8899BB"/>
            </a:solidFill>
            <a:prstDash val="solid"/>
          </a:ln>
        </p:spPr>
      </p:sp>
      <p:sp>
        <p:nvSpPr>
          <p:cNvPr id="12" name="Shape 10"/>
          <p:cNvSpPr/>
          <p:nvPr/>
        </p:nvSpPr>
        <p:spPr>
          <a:xfrm>
            <a:off x="3154680" y="1371600"/>
            <a:ext cx="2834640" cy="1325880"/>
          </a:xfrm>
          <a:prstGeom prst="rect">
            <a:avLst/>
          </a:prstGeom>
          <a:solidFill>
            <a:srgbClr val="0D1F3C"/>
          </a:solidFill>
          <a:ln w="19050">
            <a:solidFill>
              <a:srgbClr val="00D4FF"/>
            </a:solidFill>
            <a:prstDash val="solid"/>
          </a:ln>
          <a:effectLst>
            <a:outerShdw sx="100000" sy="100000" kx="0" ky="0" algn="bl" rotWithShape="0" blurRad="127000" dist="38100" dir="8100000">
              <a:srgbClr val="000000">
                <a:alpha val="40000"/>
              </a:srgbClr>
            </a:outerShdw>
          </a:effectLst>
        </p:spPr>
      </p:sp>
      <p:sp>
        <p:nvSpPr>
          <p:cNvPr id="13" name="Shape 11"/>
          <p:cNvSpPr/>
          <p:nvPr/>
        </p:nvSpPr>
        <p:spPr>
          <a:xfrm>
            <a:off x="3154680" y="1371600"/>
            <a:ext cx="2834640" cy="64008"/>
          </a:xfrm>
          <a:prstGeom prst="rect">
            <a:avLst/>
          </a:prstGeom>
          <a:solidFill>
            <a:srgbClr val="00D4FF"/>
          </a:solidFill>
          <a:ln/>
        </p:spPr>
      </p:sp>
      <p:sp>
        <p:nvSpPr>
          <p:cNvPr id="14" name="Text 12"/>
          <p:cNvSpPr/>
          <p:nvPr/>
        </p:nvSpPr>
        <p:spPr>
          <a:xfrm>
            <a:off x="3291840" y="1463040"/>
            <a:ext cx="2606040" cy="32004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Frame Loop</a:t>
            </a:r>
            <a:endParaRPr lang="en-US" sz="1300" dirty="0"/>
          </a:p>
        </p:txBody>
      </p:sp>
      <p:sp>
        <p:nvSpPr>
          <p:cNvPr id="15" name="Text 13"/>
          <p:cNvSpPr/>
          <p:nvPr/>
        </p:nvSpPr>
        <p:spPr>
          <a:xfrm>
            <a:off x="3291840" y="1847088"/>
            <a:ext cx="2560320" cy="7589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cv2.read() → frame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Skip frames για speed</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(frame_skip param)</a:t>
            </a:r>
            <a:endParaRPr lang="en-US" sz="1050" dirty="0"/>
          </a:p>
        </p:txBody>
      </p:sp>
      <p:sp>
        <p:nvSpPr>
          <p:cNvPr id="16" name="Shape 14"/>
          <p:cNvSpPr/>
          <p:nvPr/>
        </p:nvSpPr>
        <p:spPr>
          <a:xfrm>
            <a:off x="5989320" y="2011680"/>
            <a:ext cx="137160" cy="0"/>
          </a:xfrm>
          <a:prstGeom prst="line">
            <a:avLst/>
          </a:prstGeom>
          <a:noFill/>
          <a:ln w="19050">
            <a:solidFill>
              <a:srgbClr val="8899BB"/>
            </a:solidFill>
            <a:prstDash val="solid"/>
          </a:ln>
        </p:spPr>
      </p:sp>
      <p:sp>
        <p:nvSpPr>
          <p:cNvPr id="17" name="Shape 15"/>
          <p:cNvSpPr/>
          <p:nvPr/>
        </p:nvSpPr>
        <p:spPr>
          <a:xfrm>
            <a:off x="6126480" y="1371600"/>
            <a:ext cx="2834640" cy="1325880"/>
          </a:xfrm>
          <a:prstGeom prst="rect">
            <a:avLst/>
          </a:prstGeom>
          <a:solidFill>
            <a:srgbClr val="0D1F3C"/>
          </a:solidFill>
          <a:ln w="19050">
            <a:solidFill>
              <a:srgbClr val="00FF9D"/>
            </a:solidFill>
            <a:prstDash val="solid"/>
          </a:ln>
          <a:effectLst>
            <a:outerShdw sx="100000" sy="100000" kx="0" ky="0" algn="bl" rotWithShape="0" blurRad="127000" dist="38100" dir="8100000">
              <a:srgbClr val="000000">
                <a:alpha val="40000"/>
              </a:srgbClr>
            </a:outerShdw>
          </a:effectLst>
        </p:spPr>
      </p:sp>
      <p:sp>
        <p:nvSpPr>
          <p:cNvPr id="18" name="Shape 16"/>
          <p:cNvSpPr/>
          <p:nvPr/>
        </p:nvSpPr>
        <p:spPr>
          <a:xfrm>
            <a:off x="6126480" y="1371600"/>
            <a:ext cx="2834640" cy="64008"/>
          </a:xfrm>
          <a:prstGeom prst="rect">
            <a:avLst/>
          </a:prstGeom>
          <a:solidFill>
            <a:srgbClr val="00FF9D"/>
          </a:solidFill>
          <a:ln/>
        </p:spPr>
      </p:sp>
      <p:sp>
        <p:nvSpPr>
          <p:cNvPr id="19" name="Text 17"/>
          <p:cNvSpPr/>
          <p:nvPr/>
        </p:nvSpPr>
        <p:spPr>
          <a:xfrm>
            <a:off x="6263640" y="1463040"/>
            <a:ext cx="2606040" cy="320040"/>
          </a:xfrm>
          <a:prstGeom prst="rect">
            <a:avLst/>
          </a:prstGeom>
          <a:noFill/>
          <a:ln/>
        </p:spPr>
        <p:txBody>
          <a:bodyPr wrap="square" lIns="0" tIns="0" rIns="0" bIns="0" rtlCol="0" anchor="ctr"/>
          <a:lstStyle/>
          <a:p>
            <a:pPr indent="0" marL="0">
              <a:buNone/>
            </a:pPr>
            <a:r>
              <a:rPr lang="en-US" sz="1300" b="1" dirty="0">
                <a:solidFill>
                  <a:srgbClr val="00FF9D"/>
                </a:solidFill>
                <a:latin typeface="Calibri" pitchFamily="34" charset="0"/>
                <a:ea typeface="Calibri" pitchFamily="34" charset="-122"/>
                <a:cs typeface="Calibri" pitchFamily="34" charset="-120"/>
              </a:rPr>
              <a:t>Preprocess</a:t>
            </a:r>
            <a:endParaRPr lang="en-US" sz="1300" dirty="0"/>
          </a:p>
        </p:txBody>
      </p:sp>
      <p:sp>
        <p:nvSpPr>
          <p:cNvPr id="20" name="Text 18"/>
          <p:cNvSpPr/>
          <p:nvPr/>
        </p:nvSpPr>
        <p:spPr>
          <a:xfrm>
            <a:off x="6263640" y="1847088"/>
            <a:ext cx="2560320" cy="7589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BGR → RGB conversion</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Resize to imgsz</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Normalize 0-1</a:t>
            </a:r>
            <a:endParaRPr lang="en-US" sz="1050" dirty="0"/>
          </a:p>
        </p:txBody>
      </p:sp>
      <p:sp>
        <p:nvSpPr>
          <p:cNvPr id="21" name="Shape 19"/>
          <p:cNvSpPr/>
          <p:nvPr/>
        </p:nvSpPr>
        <p:spPr>
          <a:xfrm>
            <a:off x="182880" y="2834640"/>
            <a:ext cx="2834640" cy="1325880"/>
          </a:xfrm>
          <a:prstGeom prst="rect">
            <a:avLst/>
          </a:prstGeom>
          <a:solidFill>
            <a:srgbClr val="0D1F3C"/>
          </a:solidFill>
          <a:ln w="19050">
            <a:solidFill>
              <a:srgbClr val="7B2FBE"/>
            </a:solidFill>
            <a:prstDash val="solid"/>
          </a:ln>
          <a:effectLst>
            <a:outerShdw sx="100000" sy="100000" kx="0" ky="0" algn="bl" rotWithShape="0" blurRad="127000" dist="38100" dir="8100000">
              <a:srgbClr val="000000">
                <a:alpha val="40000"/>
              </a:srgbClr>
            </a:outerShdw>
          </a:effectLst>
        </p:spPr>
      </p:sp>
      <p:sp>
        <p:nvSpPr>
          <p:cNvPr id="22" name="Shape 20"/>
          <p:cNvSpPr/>
          <p:nvPr/>
        </p:nvSpPr>
        <p:spPr>
          <a:xfrm>
            <a:off x="182880" y="2834640"/>
            <a:ext cx="2834640" cy="64008"/>
          </a:xfrm>
          <a:prstGeom prst="rect">
            <a:avLst/>
          </a:prstGeom>
          <a:solidFill>
            <a:srgbClr val="7B2FBE"/>
          </a:solidFill>
          <a:ln/>
        </p:spPr>
      </p:sp>
      <p:sp>
        <p:nvSpPr>
          <p:cNvPr id="23" name="Text 21"/>
          <p:cNvSpPr/>
          <p:nvPr/>
        </p:nvSpPr>
        <p:spPr>
          <a:xfrm>
            <a:off x="320040" y="2926080"/>
            <a:ext cx="2606040" cy="320040"/>
          </a:xfrm>
          <a:prstGeom prst="rect">
            <a:avLst/>
          </a:prstGeom>
          <a:noFill/>
          <a:ln/>
        </p:spPr>
        <p:txBody>
          <a:bodyPr wrap="square" lIns="0" tIns="0" rIns="0" bIns="0"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YOLO Infer</a:t>
            </a:r>
            <a:endParaRPr lang="en-US" sz="1300" dirty="0"/>
          </a:p>
        </p:txBody>
      </p:sp>
      <p:sp>
        <p:nvSpPr>
          <p:cNvPr id="24" name="Text 22"/>
          <p:cNvSpPr/>
          <p:nvPr/>
        </p:nvSpPr>
        <p:spPr>
          <a:xfrm>
            <a:off x="320040" y="3310128"/>
            <a:ext cx="2560320" cy="7589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model(frame)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NMS + filtering</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Conf threshold</a:t>
            </a:r>
            <a:endParaRPr lang="en-US" sz="1050" dirty="0"/>
          </a:p>
        </p:txBody>
      </p:sp>
      <p:sp>
        <p:nvSpPr>
          <p:cNvPr id="25" name="Shape 23"/>
          <p:cNvSpPr/>
          <p:nvPr/>
        </p:nvSpPr>
        <p:spPr>
          <a:xfrm>
            <a:off x="3017520" y="3474720"/>
            <a:ext cx="137160" cy="0"/>
          </a:xfrm>
          <a:prstGeom prst="line">
            <a:avLst/>
          </a:prstGeom>
          <a:noFill/>
          <a:ln w="19050">
            <a:solidFill>
              <a:srgbClr val="8899BB"/>
            </a:solidFill>
            <a:prstDash val="solid"/>
          </a:ln>
        </p:spPr>
      </p:sp>
      <p:sp>
        <p:nvSpPr>
          <p:cNvPr id="26" name="Shape 24"/>
          <p:cNvSpPr/>
          <p:nvPr/>
        </p:nvSpPr>
        <p:spPr>
          <a:xfrm>
            <a:off x="3154680" y="2834640"/>
            <a:ext cx="2834640" cy="1325880"/>
          </a:xfrm>
          <a:prstGeom prst="rect">
            <a:avLst/>
          </a:prstGeom>
          <a:solidFill>
            <a:srgbClr val="0D1F3C"/>
          </a:solidFill>
          <a:ln w="19050">
            <a:solidFill>
              <a:srgbClr val="FF6B35"/>
            </a:solidFill>
            <a:prstDash val="solid"/>
          </a:ln>
          <a:effectLst>
            <a:outerShdw sx="100000" sy="100000" kx="0" ky="0" algn="bl" rotWithShape="0" blurRad="127000" dist="38100" dir="8100000">
              <a:srgbClr val="000000">
                <a:alpha val="40000"/>
              </a:srgbClr>
            </a:outerShdw>
          </a:effectLst>
        </p:spPr>
      </p:sp>
      <p:sp>
        <p:nvSpPr>
          <p:cNvPr id="27" name="Shape 25"/>
          <p:cNvSpPr/>
          <p:nvPr/>
        </p:nvSpPr>
        <p:spPr>
          <a:xfrm>
            <a:off x="3154680" y="2834640"/>
            <a:ext cx="2834640" cy="64008"/>
          </a:xfrm>
          <a:prstGeom prst="rect">
            <a:avLst/>
          </a:prstGeom>
          <a:solidFill>
            <a:srgbClr val="FF6B35"/>
          </a:solidFill>
          <a:ln/>
        </p:spPr>
      </p:sp>
      <p:sp>
        <p:nvSpPr>
          <p:cNvPr id="28" name="Text 26"/>
          <p:cNvSpPr/>
          <p:nvPr/>
        </p:nvSpPr>
        <p:spPr>
          <a:xfrm>
            <a:off x="3291840" y="2926080"/>
            <a:ext cx="2606040" cy="32004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Annotate</a:t>
            </a:r>
            <a:endParaRPr lang="en-US" sz="1300" dirty="0"/>
          </a:p>
        </p:txBody>
      </p:sp>
      <p:sp>
        <p:nvSpPr>
          <p:cNvPr id="29" name="Text 27"/>
          <p:cNvSpPr/>
          <p:nvPr/>
        </p:nvSpPr>
        <p:spPr>
          <a:xfrm>
            <a:off x="3291840" y="3310128"/>
            <a:ext cx="2560320" cy="7589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cv2.rectangle()</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cv2.putText()</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Draw bboxes &amp; labels</a:t>
            </a:r>
            <a:endParaRPr lang="en-US" sz="1050" dirty="0"/>
          </a:p>
        </p:txBody>
      </p:sp>
      <p:sp>
        <p:nvSpPr>
          <p:cNvPr id="30" name="Shape 28"/>
          <p:cNvSpPr/>
          <p:nvPr/>
        </p:nvSpPr>
        <p:spPr>
          <a:xfrm>
            <a:off x="5989320" y="3474720"/>
            <a:ext cx="137160" cy="0"/>
          </a:xfrm>
          <a:prstGeom prst="line">
            <a:avLst/>
          </a:prstGeom>
          <a:noFill/>
          <a:ln w="19050">
            <a:solidFill>
              <a:srgbClr val="8899BB"/>
            </a:solidFill>
            <a:prstDash val="solid"/>
          </a:ln>
        </p:spPr>
      </p:sp>
      <p:sp>
        <p:nvSpPr>
          <p:cNvPr id="31" name="Shape 29"/>
          <p:cNvSpPr/>
          <p:nvPr/>
        </p:nvSpPr>
        <p:spPr>
          <a:xfrm>
            <a:off x="6126480" y="2834640"/>
            <a:ext cx="2834640" cy="1325880"/>
          </a:xfrm>
          <a:prstGeom prst="rect">
            <a:avLst/>
          </a:prstGeom>
          <a:solidFill>
            <a:srgbClr val="0D1F3C"/>
          </a:solidFill>
          <a:ln w="19050">
            <a:solidFill>
              <a:srgbClr val="FFD700"/>
            </a:solidFill>
            <a:prstDash val="solid"/>
          </a:ln>
          <a:effectLst>
            <a:outerShdw sx="100000" sy="100000" kx="0" ky="0" algn="bl" rotWithShape="0" blurRad="127000" dist="38100" dir="8100000">
              <a:srgbClr val="000000">
                <a:alpha val="40000"/>
              </a:srgbClr>
            </a:outerShdw>
          </a:effectLst>
        </p:spPr>
      </p:sp>
      <p:sp>
        <p:nvSpPr>
          <p:cNvPr id="32" name="Shape 30"/>
          <p:cNvSpPr/>
          <p:nvPr/>
        </p:nvSpPr>
        <p:spPr>
          <a:xfrm>
            <a:off x="6126480" y="2834640"/>
            <a:ext cx="2834640" cy="64008"/>
          </a:xfrm>
          <a:prstGeom prst="rect">
            <a:avLst/>
          </a:prstGeom>
          <a:solidFill>
            <a:srgbClr val="FFD700"/>
          </a:solidFill>
          <a:ln/>
        </p:spPr>
      </p:sp>
      <p:sp>
        <p:nvSpPr>
          <p:cNvPr id="33" name="Text 31"/>
          <p:cNvSpPr/>
          <p:nvPr/>
        </p:nvSpPr>
        <p:spPr>
          <a:xfrm>
            <a:off x="6263640" y="2926080"/>
            <a:ext cx="2606040" cy="320040"/>
          </a:xfrm>
          <a:prstGeom prst="rect">
            <a:avLst/>
          </a:prstGeom>
          <a:noFill/>
          <a:ln/>
        </p:spPr>
        <p:txBody>
          <a:bodyPr wrap="square" lIns="0" tIns="0" rIns="0" bIns="0"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Save/Show</a:t>
            </a:r>
            <a:endParaRPr lang="en-US" sz="1300" dirty="0"/>
          </a:p>
        </p:txBody>
      </p:sp>
      <p:sp>
        <p:nvSpPr>
          <p:cNvPr id="34" name="Text 32"/>
          <p:cNvSpPr/>
          <p:nvPr/>
        </p:nvSpPr>
        <p:spPr>
          <a:xfrm>
            <a:off x="6263640" y="3310128"/>
            <a:ext cx="2560320" cy="758952"/>
          </a:xfrm>
          <a:prstGeom prst="rect">
            <a:avLst/>
          </a:prstGeom>
          <a:noFill/>
          <a:ln/>
        </p:spPr>
        <p:txBody>
          <a:bodyPr wrap="square" lIns="0" tIns="0" rIns="0" bIns="0" rtlCol="0" anchor="t"/>
          <a:lstStyle/>
          <a:p>
            <a:pPr indent="0" marL="0">
              <a:buNone/>
            </a:pPr>
            <a:r>
              <a:rPr lang="en-US" sz="1050" dirty="0">
                <a:solidFill>
                  <a:srgbClr val="AABBCC"/>
                </a:solidFill>
                <a:latin typeface="Calibri" pitchFamily="34" charset="0"/>
                <a:ea typeface="Calibri" pitchFamily="34" charset="-122"/>
                <a:cs typeface="Calibri" pitchFamily="34" charset="-120"/>
              </a:rPr>
              <a:t>cv2.VideoWriter()</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Optional live preview</a:t>
            </a:r>
            <a:endParaRPr lang="en-US" sz="1050" dirty="0"/>
          </a:p>
          <a:p>
            <a:pPr indent="0" marL="0">
              <a:buNone/>
            </a:pPr>
            <a:r>
              <a:rPr lang="en-US" sz="1050" dirty="0">
                <a:solidFill>
                  <a:srgbClr val="AABBCC"/>
                </a:solidFill>
                <a:latin typeface="Calibri" pitchFamily="34" charset="0"/>
                <a:ea typeface="Calibri" pitchFamily="34" charset="-122"/>
                <a:cs typeface="Calibri" pitchFamily="34" charset="-120"/>
              </a:rPr>
              <a:t>FPS overlay</a:t>
            </a:r>
            <a:endParaRPr lang="en-US" sz="1050" dirty="0"/>
          </a:p>
        </p:txBody>
      </p:sp>
      <p:sp>
        <p:nvSpPr>
          <p:cNvPr id="35" name="Shape 33"/>
          <p:cNvSpPr/>
          <p:nvPr/>
        </p:nvSpPr>
        <p:spPr>
          <a:xfrm>
            <a:off x="182880" y="4663440"/>
            <a:ext cx="8778240" cy="347472"/>
          </a:xfrm>
          <a:prstGeom prst="rect">
            <a:avLst/>
          </a:prstGeom>
          <a:solidFill>
            <a:srgbClr val="122544"/>
          </a:solidFill>
          <a:ln w="12700">
            <a:solidFill>
              <a:srgbClr val="FF2D78"/>
            </a:solidFill>
            <a:prstDash val="solid"/>
          </a:ln>
        </p:spPr>
      </p:sp>
      <p:sp>
        <p:nvSpPr>
          <p:cNvPr id="36" name="Text 34"/>
          <p:cNvSpPr/>
          <p:nvPr/>
        </p:nvSpPr>
        <p:spPr>
          <a:xfrm>
            <a:off x="274320" y="4718304"/>
            <a:ext cx="8503920" cy="256032"/>
          </a:xfrm>
          <a:prstGeom prst="rect">
            <a:avLst/>
          </a:prstGeom>
          <a:noFill/>
          <a:ln/>
        </p:spPr>
        <p:txBody>
          <a:bodyPr wrap="square" lIns="0" tIns="0" rIns="0" bIns="0" rtlCol="0" anchor="ctr"/>
          <a:lstStyle/>
          <a:p>
            <a:pPr algn="ctr" indent="0" marL="0">
              <a:buNone/>
            </a:pPr>
            <a:r>
              <a:rPr lang="en-US" sz="950" dirty="0">
                <a:solidFill>
                  <a:srgbClr val="FF2D78"/>
                </a:solidFill>
                <a:latin typeface="Calibri" pitchFamily="34" charset="0"/>
                <a:ea typeface="Calibri" pitchFamily="34" charset="-122"/>
                <a:cs typeface="Calibri" pitchFamily="34" charset="-120"/>
              </a:rPr>
              <a:t>Υποστηριζόμενα formats: .mp4 · .avi · .mkv · .mov · .wmv · .flv  |  Έξοδος: annotated .mp4 + CSV με frame-by-frame detections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50D1A"/>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6350">
            <a:solidFill>
              <a:srgbClr val="1A3A6A"/>
            </a:solidFill>
            <a:prstDash val="solid"/>
          </a:ln>
        </p:spPr>
      </p:sp>
      <p:sp>
        <p:nvSpPr>
          <p:cNvPr id="3" name="Shape 1"/>
          <p:cNvSpPr/>
          <p:nvPr/>
        </p:nvSpPr>
        <p:spPr>
          <a:xfrm>
            <a:off x="1143000" y="0"/>
            <a:ext cx="0" cy="5143500"/>
          </a:xfrm>
          <a:prstGeom prst="line">
            <a:avLst/>
          </a:prstGeom>
          <a:noFill/>
          <a:ln w="6350">
            <a:solidFill>
              <a:srgbClr val="1A3A6A"/>
            </a:solidFill>
            <a:prstDash val="solid"/>
          </a:ln>
        </p:spPr>
      </p:sp>
      <p:sp>
        <p:nvSpPr>
          <p:cNvPr id="4" name="Shape 2"/>
          <p:cNvSpPr/>
          <p:nvPr/>
        </p:nvSpPr>
        <p:spPr>
          <a:xfrm>
            <a:off x="2286000" y="0"/>
            <a:ext cx="0" cy="5143500"/>
          </a:xfrm>
          <a:prstGeom prst="line">
            <a:avLst/>
          </a:prstGeom>
          <a:noFill/>
          <a:ln w="6350">
            <a:solidFill>
              <a:srgbClr val="1A3A6A"/>
            </a:solidFill>
            <a:prstDash val="solid"/>
          </a:ln>
        </p:spPr>
      </p:sp>
      <p:sp>
        <p:nvSpPr>
          <p:cNvPr id="5" name="Shape 3"/>
          <p:cNvSpPr/>
          <p:nvPr/>
        </p:nvSpPr>
        <p:spPr>
          <a:xfrm>
            <a:off x="3429000" y="0"/>
            <a:ext cx="0" cy="5143500"/>
          </a:xfrm>
          <a:prstGeom prst="line">
            <a:avLst/>
          </a:prstGeom>
          <a:noFill/>
          <a:ln w="6350">
            <a:solidFill>
              <a:srgbClr val="1A3A6A"/>
            </a:solidFill>
            <a:prstDash val="solid"/>
          </a:ln>
        </p:spPr>
      </p:sp>
      <p:sp>
        <p:nvSpPr>
          <p:cNvPr id="6" name="Shape 4"/>
          <p:cNvSpPr/>
          <p:nvPr/>
        </p:nvSpPr>
        <p:spPr>
          <a:xfrm>
            <a:off x="4572000" y="0"/>
            <a:ext cx="0" cy="5143500"/>
          </a:xfrm>
          <a:prstGeom prst="line">
            <a:avLst/>
          </a:prstGeom>
          <a:noFill/>
          <a:ln w="6350">
            <a:solidFill>
              <a:srgbClr val="1A3A6A"/>
            </a:solidFill>
            <a:prstDash val="solid"/>
          </a:ln>
        </p:spPr>
      </p:sp>
      <p:sp>
        <p:nvSpPr>
          <p:cNvPr id="7" name="Shape 5"/>
          <p:cNvSpPr/>
          <p:nvPr/>
        </p:nvSpPr>
        <p:spPr>
          <a:xfrm>
            <a:off x="5715000" y="0"/>
            <a:ext cx="0" cy="5143500"/>
          </a:xfrm>
          <a:prstGeom prst="line">
            <a:avLst/>
          </a:prstGeom>
          <a:noFill/>
          <a:ln w="6350">
            <a:solidFill>
              <a:srgbClr val="1A3A6A"/>
            </a:solidFill>
            <a:prstDash val="solid"/>
          </a:ln>
        </p:spPr>
      </p:sp>
      <p:sp>
        <p:nvSpPr>
          <p:cNvPr id="8" name="Shape 6"/>
          <p:cNvSpPr/>
          <p:nvPr/>
        </p:nvSpPr>
        <p:spPr>
          <a:xfrm>
            <a:off x="6858000" y="0"/>
            <a:ext cx="0" cy="5143500"/>
          </a:xfrm>
          <a:prstGeom prst="line">
            <a:avLst/>
          </a:prstGeom>
          <a:noFill/>
          <a:ln w="6350">
            <a:solidFill>
              <a:srgbClr val="1A3A6A"/>
            </a:solidFill>
            <a:prstDash val="solid"/>
          </a:ln>
        </p:spPr>
      </p:sp>
      <p:sp>
        <p:nvSpPr>
          <p:cNvPr id="9" name="Shape 7"/>
          <p:cNvSpPr/>
          <p:nvPr/>
        </p:nvSpPr>
        <p:spPr>
          <a:xfrm>
            <a:off x="8001000" y="0"/>
            <a:ext cx="0" cy="5143500"/>
          </a:xfrm>
          <a:prstGeom prst="line">
            <a:avLst/>
          </a:prstGeom>
          <a:noFill/>
          <a:ln w="6350">
            <a:solidFill>
              <a:srgbClr val="1A3A6A"/>
            </a:solidFill>
            <a:prstDash val="solid"/>
          </a:ln>
        </p:spPr>
      </p:sp>
      <p:sp>
        <p:nvSpPr>
          <p:cNvPr id="10" name="Shape 8"/>
          <p:cNvSpPr/>
          <p:nvPr/>
        </p:nvSpPr>
        <p:spPr>
          <a:xfrm>
            <a:off x="9144000" y="0"/>
            <a:ext cx="0" cy="5143500"/>
          </a:xfrm>
          <a:prstGeom prst="line">
            <a:avLst/>
          </a:prstGeom>
          <a:noFill/>
          <a:ln w="6350">
            <a:solidFill>
              <a:srgbClr val="1A3A6A"/>
            </a:solidFill>
            <a:prstDash val="solid"/>
          </a:ln>
        </p:spPr>
      </p:sp>
      <p:sp>
        <p:nvSpPr>
          <p:cNvPr id="11" name="Shape 9"/>
          <p:cNvSpPr/>
          <p:nvPr/>
        </p:nvSpPr>
        <p:spPr>
          <a:xfrm>
            <a:off x="0" y="0"/>
            <a:ext cx="9144000" cy="0"/>
          </a:xfrm>
          <a:prstGeom prst="line">
            <a:avLst/>
          </a:prstGeom>
          <a:noFill/>
          <a:ln w="6350">
            <a:solidFill>
              <a:srgbClr val="1A3A6A"/>
            </a:solidFill>
            <a:prstDash val="solid"/>
          </a:ln>
        </p:spPr>
      </p:sp>
      <p:sp>
        <p:nvSpPr>
          <p:cNvPr id="12" name="Shape 10"/>
          <p:cNvSpPr/>
          <p:nvPr/>
        </p:nvSpPr>
        <p:spPr>
          <a:xfrm>
            <a:off x="0" y="640080"/>
            <a:ext cx="9144000" cy="0"/>
          </a:xfrm>
          <a:prstGeom prst="line">
            <a:avLst/>
          </a:prstGeom>
          <a:noFill/>
          <a:ln w="6350">
            <a:solidFill>
              <a:srgbClr val="1A3A6A"/>
            </a:solidFill>
            <a:prstDash val="solid"/>
          </a:ln>
        </p:spPr>
      </p:sp>
      <p:sp>
        <p:nvSpPr>
          <p:cNvPr id="13" name="Shape 11"/>
          <p:cNvSpPr/>
          <p:nvPr/>
        </p:nvSpPr>
        <p:spPr>
          <a:xfrm>
            <a:off x="0" y="1280160"/>
            <a:ext cx="9144000" cy="0"/>
          </a:xfrm>
          <a:prstGeom prst="line">
            <a:avLst/>
          </a:prstGeom>
          <a:noFill/>
          <a:ln w="6350">
            <a:solidFill>
              <a:srgbClr val="1A3A6A"/>
            </a:solidFill>
            <a:prstDash val="solid"/>
          </a:ln>
        </p:spPr>
      </p:sp>
      <p:sp>
        <p:nvSpPr>
          <p:cNvPr id="14" name="Shape 12"/>
          <p:cNvSpPr/>
          <p:nvPr/>
        </p:nvSpPr>
        <p:spPr>
          <a:xfrm>
            <a:off x="0" y="1920240"/>
            <a:ext cx="9144000" cy="0"/>
          </a:xfrm>
          <a:prstGeom prst="line">
            <a:avLst/>
          </a:prstGeom>
          <a:noFill/>
          <a:ln w="6350">
            <a:solidFill>
              <a:srgbClr val="1A3A6A"/>
            </a:solidFill>
            <a:prstDash val="solid"/>
          </a:ln>
        </p:spPr>
      </p:sp>
      <p:sp>
        <p:nvSpPr>
          <p:cNvPr id="15" name="Shape 13"/>
          <p:cNvSpPr/>
          <p:nvPr/>
        </p:nvSpPr>
        <p:spPr>
          <a:xfrm>
            <a:off x="0" y="2560320"/>
            <a:ext cx="9144000" cy="0"/>
          </a:xfrm>
          <a:prstGeom prst="line">
            <a:avLst/>
          </a:prstGeom>
          <a:noFill/>
          <a:ln w="6350">
            <a:solidFill>
              <a:srgbClr val="1A3A6A"/>
            </a:solidFill>
            <a:prstDash val="solid"/>
          </a:ln>
        </p:spPr>
      </p:sp>
      <p:sp>
        <p:nvSpPr>
          <p:cNvPr id="16" name="Shape 14"/>
          <p:cNvSpPr/>
          <p:nvPr/>
        </p:nvSpPr>
        <p:spPr>
          <a:xfrm>
            <a:off x="0" y="3200400"/>
            <a:ext cx="9144000" cy="0"/>
          </a:xfrm>
          <a:prstGeom prst="line">
            <a:avLst/>
          </a:prstGeom>
          <a:noFill/>
          <a:ln w="6350">
            <a:solidFill>
              <a:srgbClr val="1A3A6A"/>
            </a:solidFill>
            <a:prstDash val="solid"/>
          </a:ln>
        </p:spPr>
      </p:sp>
      <p:sp>
        <p:nvSpPr>
          <p:cNvPr id="17" name="Shape 15"/>
          <p:cNvSpPr/>
          <p:nvPr/>
        </p:nvSpPr>
        <p:spPr>
          <a:xfrm>
            <a:off x="0" y="3840480"/>
            <a:ext cx="9144000" cy="0"/>
          </a:xfrm>
          <a:prstGeom prst="line">
            <a:avLst/>
          </a:prstGeom>
          <a:noFill/>
          <a:ln w="6350">
            <a:solidFill>
              <a:srgbClr val="1A3A6A"/>
            </a:solidFill>
            <a:prstDash val="solid"/>
          </a:ln>
        </p:spPr>
      </p:sp>
      <p:sp>
        <p:nvSpPr>
          <p:cNvPr id="18" name="Shape 16"/>
          <p:cNvSpPr/>
          <p:nvPr/>
        </p:nvSpPr>
        <p:spPr>
          <a:xfrm>
            <a:off x="0" y="4480560"/>
            <a:ext cx="9144000" cy="0"/>
          </a:xfrm>
          <a:prstGeom prst="line">
            <a:avLst/>
          </a:prstGeom>
          <a:noFill/>
          <a:ln w="6350">
            <a:solidFill>
              <a:srgbClr val="1A3A6A"/>
            </a:solidFill>
            <a:prstDash val="solid"/>
          </a:ln>
        </p:spPr>
      </p:sp>
      <p:sp>
        <p:nvSpPr>
          <p:cNvPr id="19" name="Shape 17"/>
          <p:cNvSpPr/>
          <p:nvPr/>
        </p:nvSpPr>
        <p:spPr>
          <a:xfrm>
            <a:off x="0" y="5120640"/>
            <a:ext cx="9144000" cy="0"/>
          </a:xfrm>
          <a:prstGeom prst="line">
            <a:avLst/>
          </a:prstGeom>
          <a:noFill/>
          <a:ln w="6350">
            <a:solidFill>
              <a:srgbClr val="1A3A6A"/>
            </a:solidFill>
            <a:prstDash val="solid"/>
          </a:ln>
        </p:spPr>
      </p:sp>
      <p:sp>
        <p:nvSpPr>
          <p:cNvPr id="20" name="Shape 18"/>
          <p:cNvSpPr/>
          <p:nvPr/>
        </p:nvSpPr>
        <p:spPr>
          <a:xfrm>
            <a:off x="2286000" y="274320"/>
            <a:ext cx="4572000" cy="3657600"/>
          </a:xfrm>
          <a:prstGeom prst="ellipse">
            <a:avLst/>
          </a:prstGeom>
          <a:solidFill>
            <a:srgbClr val="00D4FF">
              <a:alpha val="7000"/>
            </a:srgbClr>
          </a:solidFill>
          <a:ln w="12700">
            <a:solidFill>
              <a:srgbClr val="00D4FF"/>
            </a:solidFill>
            <a:prstDash val="solid"/>
          </a:ln>
        </p:spPr>
      </p:sp>
      <p:sp>
        <p:nvSpPr>
          <p:cNvPr id="21" name="Text 19"/>
          <p:cNvSpPr/>
          <p:nvPr/>
        </p:nvSpPr>
        <p:spPr>
          <a:xfrm>
            <a:off x="274320" y="274320"/>
            <a:ext cx="8595360" cy="457200"/>
          </a:xfrm>
          <a:prstGeom prst="rect">
            <a:avLst/>
          </a:prstGeom>
          <a:noFill/>
          <a:ln/>
        </p:spPr>
        <p:txBody>
          <a:bodyPr wrap="square" lIns="0" tIns="0" rIns="0" bIns="0" rtlCol="0" anchor="ctr"/>
          <a:lstStyle/>
          <a:p>
            <a:pPr indent="0" marL="0">
              <a:buNone/>
            </a:pPr>
            <a:r>
              <a:rPr lang="en-US" sz="2000" b="1" spc="100" kern="0" dirty="0">
                <a:solidFill>
                  <a:srgbClr val="00D4FF"/>
                </a:solidFill>
                <a:latin typeface="Calibri" pitchFamily="34" charset="0"/>
                <a:ea typeface="Calibri" pitchFamily="34" charset="-122"/>
                <a:cs typeface="Calibri" pitchFamily="34" charset="-120"/>
              </a:rPr>
              <a:t>30 — Συμπεράσματα &amp; Επόμενα Βήματα</a:t>
            </a:r>
            <a:endParaRPr lang="en-US" sz="2000" dirty="0"/>
          </a:p>
        </p:txBody>
      </p:sp>
      <p:sp>
        <p:nvSpPr>
          <p:cNvPr id="22" name="Text 20"/>
          <p:cNvSpPr/>
          <p:nvPr/>
        </p:nvSpPr>
        <p:spPr>
          <a:xfrm>
            <a:off x="274320" y="868680"/>
            <a:ext cx="8595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Τι μάθαμε:</a:t>
            </a:r>
            <a:endParaRPr lang="en-US" sz="1400" dirty="0"/>
          </a:p>
        </p:txBody>
      </p:sp>
      <p:sp>
        <p:nvSpPr>
          <p:cNvPr id="23" name="Shape 21"/>
          <p:cNvSpPr/>
          <p:nvPr/>
        </p:nvSpPr>
        <p:spPr>
          <a:xfrm>
            <a:off x="182880" y="1298448"/>
            <a:ext cx="8778240" cy="457200"/>
          </a:xfrm>
          <a:prstGeom prst="rect">
            <a:avLst/>
          </a:prstGeom>
          <a:solidFill>
            <a:srgbClr val="0D1F3C"/>
          </a:solidFill>
          <a:ln w="19050">
            <a:solidFill>
              <a:srgbClr val="00D4FF"/>
            </a:solidFill>
            <a:prstDash val="solid"/>
          </a:ln>
        </p:spPr>
      </p:sp>
      <p:sp>
        <p:nvSpPr>
          <p:cNvPr id="24" name="Shape 22"/>
          <p:cNvSpPr/>
          <p:nvPr/>
        </p:nvSpPr>
        <p:spPr>
          <a:xfrm>
            <a:off x="182880" y="1298448"/>
            <a:ext cx="54864" cy="457200"/>
          </a:xfrm>
          <a:prstGeom prst="rect">
            <a:avLst/>
          </a:prstGeom>
          <a:solidFill>
            <a:srgbClr val="00D4FF"/>
          </a:solidFill>
          <a:ln/>
        </p:spPr>
      </p:sp>
      <p:pic>
        <p:nvPicPr>
          <p:cNvPr id="25" name="Image 0" descr="preencoded.png">    </p:cNvPr>
          <p:cNvPicPr>
            <a:picLocks noChangeAspect="1"/>
          </p:cNvPicPr>
          <p:nvPr/>
        </p:nvPicPr>
        <p:blipFill>
          <a:blip r:embed="rId1"/>
          <a:stretch>
            <a:fillRect/>
          </a:stretch>
        </p:blipFill>
        <p:spPr>
          <a:xfrm>
            <a:off x="274320" y="1389888"/>
            <a:ext cx="274320" cy="274320"/>
          </a:xfrm>
          <a:prstGeom prst="rect">
            <a:avLst/>
          </a:prstGeom>
        </p:spPr>
      </p:pic>
      <p:sp>
        <p:nvSpPr>
          <p:cNvPr id="26" name="Text 23"/>
          <p:cNvSpPr/>
          <p:nvPr/>
        </p:nvSpPr>
        <p:spPr>
          <a:xfrm>
            <a:off x="658368" y="1316736"/>
            <a:ext cx="2286000" cy="201168"/>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AI Models Management</a:t>
            </a:r>
            <a:endParaRPr lang="en-US" sz="1050" dirty="0"/>
          </a:p>
        </p:txBody>
      </p:sp>
      <p:sp>
        <p:nvSpPr>
          <p:cNvPr id="27" name="Text 24"/>
          <p:cNvSpPr/>
          <p:nvPr/>
        </p:nvSpPr>
        <p:spPr>
          <a:xfrm>
            <a:off x="658368" y="1527048"/>
            <a:ext cx="8229600" cy="201168"/>
          </a:xfrm>
          <a:prstGeom prst="rect">
            <a:avLst/>
          </a:prstGeom>
          <a:noFill/>
          <a:ln/>
        </p:spPr>
        <p:txBody>
          <a:bodyPr wrap="square" lIns="0" tIns="0" rIns="0" bIns="0" rtlCol="0" anchor="ctr"/>
          <a:lstStyle/>
          <a:p>
            <a:pPr indent="0" marL="0">
              <a:buNone/>
            </a:pPr>
            <a:r>
              <a:rPr lang="en-US" sz="950" dirty="0">
                <a:solidFill>
                  <a:srgbClr val="8899BB"/>
                </a:solidFill>
                <a:latin typeface="Calibri" pitchFamily="34" charset="0"/>
                <a:ea typeface="Calibri" pitchFamily="34" charset="-122"/>
                <a:cs typeface="Calibri" pitchFamily="34" charset="-120"/>
              </a:rPr>
              <a:t>Πλήρης κύκλος: εκπαίδευση → αξιολόγηση → εξαγωγή → deployment</a:t>
            </a:r>
            <a:endParaRPr lang="en-US" sz="950" dirty="0"/>
          </a:p>
        </p:txBody>
      </p:sp>
      <p:sp>
        <p:nvSpPr>
          <p:cNvPr id="28" name="Shape 25"/>
          <p:cNvSpPr/>
          <p:nvPr/>
        </p:nvSpPr>
        <p:spPr>
          <a:xfrm>
            <a:off x="182880" y="1828800"/>
            <a:ext cx="8778240" cy="457200"/>
          </a:xfrm>
          <a:prstGeom prst="rect">
            <a:avLst/>
          </a:prstGeom>
          <a:solidFill>
            <a:srgbClr val="0D1F3C"/>
          </a:solidFill>
          <a:ln w="19050">
            <a:solidFill>
              <a:srgbClr val="7B2FBE"/>
            </a:solidFill>
            <a:prstDash val="solid"/>
          </a:ln>
        </p:spPr>
      </p:sp>
      <p:sp>
        <p:nvSpPr>
          <p:cNvPr id="29" name="Shape 26"/>
          <p:cNvSpPr/>
          <p:nvPr/>
        </p:nvSpPr>
        <p:spPr>
          <a:xfrm>
            <a:off x="182880" y="1828800"/>
            <a:ext cx="54864" cy="457200"/>
          </a:xfrm>
          <a:prstGeom prst="rect">
            <a:avLst/>
          </a:prstGeom>
          <a:solidFill>
            <a:srgbClr val="7B2FBE"/>
          </a:solidFill>
          <a:ln/>
        </p:spPr>
      </p:sp>
      <p:pic>
        <p:nvPicPr>
          <p:cNvPr id="30" name="Image 1" descr="preencoded.png">    </p:cNvPr>
          <p:cNvPicPr>
            <a:picLocks noChangeAspect="1"/>
          </p:cNvPicPr>
          <p:nvPr/>
        </p:nvPicPr>
        <p:blipFill>
          <a:blip r:embed="rId2"/>
          <a:stretch>
            <a:fillRect/>
          </a:stretch>
        </p:blipFill>
        <p:spPr>
          <a:xfrm>
            <a:off x="274320" y="1920240"/>
            <a:ext cx="274320" cy="274320"/>
          </a:xfrm>
          <a:prstGeom prst="rect">
            <a:avLst/>
          </a:prstGeom>
        </p:spPr>
      </p:pic>
      <p:sp>
        <p:nvSpPr>
          <p:cNvPr id="31" name="Text 27"/>
          <p:cNvSpPr/>
          <p:nvPr/>
        </p:nvSpPr>
        <p:spPr>
          <a:xfrm>
            <a:off x="658368" y="1847088"/>
            <a:ext cx="2286000" cy="201168"/>
          </a:xfrm>
          <a:prstGeom prst="rect">
            <a:avLst/>
          </a:prstGeom>
          <a:noFill/>
          <a:ln/>
        </p:spPr>
        <p:txBody>
          <a:bodyPr wrap="square" lIns="0" tIns="0" rIns="0" bIns="0" rtlCol="0" anchor="ctr"/>
          <a:lstStyle/>
          <a:p>
            <a:pPr indent="0" marL="0">
              <a:buNone/>
            </a:pPr>
            <a:r>
              <a:rPr lang="en-US" sz="1050" b="1" dirty="0">
                <a:solidFill>
                  <a:srgbClr val="7B2FBE"/>
                </a:solidFill>
                <a:latin typeface="Calibri" pitchFamily="34" charset="0"/>
                <a:ea typeface="Calibri" pitchFamily="34" charset="-122"/>
                <a:cs typeface="Calibri" pitchFamily="34" charset="-120"/>
              </a:rPr>
              <a:t>Dual Architecture</a:t>
            </a:r>
            <a:endParaRPr lang="en-US" sz="1050" dirty="0"/>
          </a:p>
        </p:txBody>
      </p:sp>
      <p:sp>
        <p:nvSpPr>
          <p:cNvPr id="32" name="Text 28"/>
          <p:cNvSpPr/>
          <p:nvPr/>
        </p:nvSpPr>
        <p:spPr>
          <a:xfrm>
            <a:off x="658368" y="2057400"/>
            <a:ext cx="8229600" cy="201168"/>
          </a:xfrm>
          <a:prstGeom prst="rect">
            <a:avLst/>
          </a:prstGeom>
          <a:noFill/>
          <a:ln/>
        </p:spPr>
        <p:txBody>
          <a:bodyPr wrap="square" lIns="0" tIns="0" rIns="0" bIns="0" rtlCol="0" anchor="ctr"/>
          <a:lstStyle/>
          <a:p>
            <a:pPr indent="0" marL="0">
              <a:buNone/>
            </a:pPr>
            <a:r>
              <a:rPr lang="en-US" sz="950" dirty="0">
                <a:solidFill>
                  <a:srgbClr val="8899BB"/>
                </a:solidFill>
                <a:latin typeface="Calibri" pitchFamily="34" charset="0"/>
                <a:ea typeface="Calibri" pitchFamily="34" charset="-122"/>
                <a:cs typeface="Calibri" pitchFamily="34" charset="-120"/>
              </a:rPr>
              <a:t>YOLO v5–v12 + CNN Classifiers σε ενιαίο επαγγελματικό περιβάλλον</a:t>
            </a:r>
            <a:endParaRPr lang="en-US" sz="950" dirty="0"/>
          </a:p>
        </p:txBody>
      </p:sp>
      <p:sp>
        <p:nvSpPr>
          <p:cNvPr id="33" name="Shape 29"/>
          <p:cNvSpPr/>
          <p:nvPr/>
        </p:nvSpPr>
        <p:spPr>
          <a:xfrm>
            <a:off x="182880" y="2359152"/>
            <a:ext cx="8778240" cy="457200"/>
          </a:xfrm>
          <a:prstGeom prst="rect">
            <a:avLst/>
          </a:prstGeom>
          <a:solidFill>
            <a:srgbClr val="0D1F3C"/>
          </a:solidFill>
          <a:ln w="19050">
            <a:solidFill>
              <a:srgbClr val="00FF9D"/>
            </a:solidFill>
            <a:prstDash val="solid"/>
          </a:ln>
        </p:spPr>
      </p:sp>
      <p:sp>
        <p:nvSpPr>
          <p:cNvPr id="34" name="Shape 30"/>
          <p:cNvSpPr/>
          <p:nvPr/>
        </p:nvSpPr>
        <p:spPr>
          <a:xfrm>
            <a:off x="182880" y="2359152"/>
            <a:ext cx="54864" cy="457200"/>
          </a:xfrm>
          <a:prstGeom prst="rect">
            <a:avLst/>
          </a:prstGeom>
          <a:solidFill>
            <a:srgbClr val="00FF9D"/>
          </a:solidFill>
          <a:ln/>
        </p:spPr>
      </p:sp>
      <p:pic>
        <p:nvPicPr>
          <p:cNvPr id="35" name="Image 2" descr="preencoded.png">    </p:cNvPr>
          <p:cNvPicPr>
            <a:picLocks noChangeAspect="1"/>
          </p:cNvPicPr>
          <p:nvPr/>
        </p:nvPicPr>
        <p:blipFill>
          <a:blip r:embed="rId3"/>
          <a:stretch>
            <a:fillRect/>
          </a:stretch>
        </p:blipFill>
        <p:spPr>
          <a:xfrm>
            <a:off x="274320" y="2450592"/>
            <a:ext cx="274320" cy="274320"/>
          </a:xfrm>
          <a:prstGeom prst="rect">
            <a:avLst/>
          </a:prstGeom>
        </p:spPr>
      </p:pic>
      <p:sp>
        <p:nvSpPr>
          <p:cNvPr id="36" name="Text 31"/>
          <p:cNvSpPr/>
          <p:nvPr/>
        </p:nvSpPr>
        <p:spPr>
          <a:xfrm>
            <a:off x="658368" y="2377440"/>
            <a:ext cx="2286000" cy="201168"/>
          </a:xfrm>
          <a:prstGeom prst="rect">
            <a:avLst/>
          </a:prstGeom>
          <a:noFill/>
          <a:ln/>
        </p:spPr>
        <p:txBody>
          <a:bodyPr wrap="square" lIns="0" tIns="0" rIns="0" bIns="0" rtlCol="0" anchor="ctr"/>
          <a:lstStyle/>
          <a:p>
            <a:pPr indent="0" marL="0">
              <a:buNone/>
            </a:pPr>
            <a:r>
              <a:rPr lang="en-US" sz="1050" b="1" dirty="0">
                <a:solidFill>
                  <a:srgbClr val="00FF9D"/>
                </a:solidFill>
                <a:latin typeface="Calibri" pitchFamily="34" charset="0"/>
                <a:ea typeface="Calibri" pitchFamily="34" charset="-122"/>
                <a:cs typeface="Calibri" pitchFamily="34" charset="-120"/>
              </a:rPr>
              <a:t>Multi-Format Export</a:t>
            </a:r>
            <a:endParaRPr lang="en-US" sz="1050" dirty="0"/>
          </a:p>
        </p:txBody>
      </p:sp>
      <p:sp>
        <p:nvSpPr>
          <p:cNvPr id="37" name="Text 32"/>
          <p:cNvSpPr/>
          <p:nvPr/>
        </p:nvSpPr>
        <p:spPr>
          <a:xfrm>
            <a:off x="658368" y="2587752"/>
            <a:ext cx="8229600" cy="201168"/>
          </a:xfrm>
          <a:prstGeom prst="rect">
            <a:avLst/>
          </a:prstGeom>
          <a:noFill/>
          <a:ln/>
        </p:spPr>
        <p:txBody>
          <a:bodyPr wrap="square" lIns="0" tIns="0" rIns="0" bIns="0" rtlCol="0" anchor="ctr"/>
          <a:lstStyle/>
          <a:p>
            <a:pPr indent="0" marL="0">
              <a:buNone/>
            </a:pPr>
            <a:r>
              <a:rPr lang="en-US" sz="950" dirty="0">
                <a:solidFill>
                  <a:srgbClr val="8899BB"/>
                </a:solidFill>
                <a:latin typeface="Calibri" pitchFamily="34" charset="0"/>
                <a:ea typeface="Calibri" pitchFamily="34" charset="-122"/>
                <a:cs typeface="Calibri" pitchFamily="34" charset="-120"/>
              </a:rPr>
              <a:t>ONNX για universality, TensorRT για max performance, NCNN για mobile</a:t>
            </a:r>
            <a:endParaRPr lang="en-US" sz="950" dirty="0"/>
          </a:p>
        </p:txBody>
      </p:sp>
      <p:sp>
        <p:nvSpPr>
          <p:cNvPr id="38" name="Shape 33"/>
          <p:cNvSpPr/>
          <p:nvPr/>
        </p:nvSpPr>
        <p:spPr>
          <a:xfrm>
            <a:off x="182880" y="2889504"/>
            <a:ext cx="8778240" cy="457200"/>
          </a:xfrm>
          <a:prstGeom prst="rect">
            <a:avLst/>
          </a:prstGeom>
          <a:solidFill>
            <a:srgbClr val="0D1F3C"/>
          </a:solidFill>
          <a:ln w="19050">
            <a:solidFill>
              <a:srgbClr val="FF6B35"/>
            </a:solidFill>
            <a:prstDash val="solid"/>
          </a:ln>
        </p:spPr>
      </p:sp>
      <p:sp>
        <p:nvSpPr>
          <p:cNvPr id="39" name="Shape 34"/>
          <p:cNvSpPr/>
          <p:nvPr/>
        </p:nvSpPr>
        <p:spPr>
          <a:xfrm>
            <a:off x="182880" y="2889504"/>
            <a:ext cx="54864" cy="457200"/>
          </a:xfrm>
          <a:prstGeom prst="rect">
            <a:avLst/>
          </a:prstGeom>
          <a:solidFill>
            <a:srgbClr val="FF6B35"/>
          </a:solidFill>
          <a:ln/>
        </p:spPr>
      </p:sp>
      <p:pic>
        <p:nvPicPr>
          <p:cNvPr id="40" name="Image 3" descr="preencoded.png">    </p:cNvPr>
          <p:cNvPicPr>
            <a:picLocks noChangeAspect="1"/>
          </p:cNvPicPr>
          <p:nvPr/>
        </p:nvPicPr>
        <p:blipFill>
          <a:blip r:embed="rId4"/>
          <a:stretch>
            <a:fillRect/>
          </a:stretch>
        </p:blipFill>
        <p:spPr>
          <a:xfrm>
            <a:off x="274320" y="2980944"/>
            <a:ext cx="274320" cy="274320"/>
          </a:xfrm>
          <a:prstGeom prst="rect">
            <a:avLst/>
          </a:prstGeom>
        </p:spPr>
      </p:pic>
      <p:sp>
        <p:nvSpPr>
          <p:cNvPr id="41" name="Text 35"/>
          <p:cNvSpPr/>
          <p:nvPr/>
        </p:nvSpPr>
        <p:spPr>
          <a:xfrm>
            <a:off x="658368" y="2907792"/>
            <a:ext cx="2286000" cy="201168"/>
          </a:xfrm>
          <a:prstGeom prst="rect">
            <a:avLst/>
          </a:prstGeom>
          <a:noFill/>
          <a:ln/>
        </p:spPr>
        <p:txBody>
          <a:bodyPr wrap="square" lIns="0" tIns="0" rIns="0" bIns="0" rtlCol="0" anchor="ctr"/>
          <a:lstStyle/>
          <a:p>
            <a:pPr indent="0" marL="0">
              <a:buNone/>
            </a:pPr>
            <a:r>
              <a:rPr lang="en-US" sz="1050" b="1" dirty="0">
                <a:solidFill>
                  <a:srgbClr val="FF6B35"/>
                </a:solidFill>
                <a:latin typeface="Calibri" pitchFamily="34" charset="0"/>
                <a:ea typeface="Calibri" pitchFamily="34" charset="-122"/>
                <a:cs typeface="Calibri" pitchFamily="34" charset="-120"/>
              </a:rPr>
              <a:t>Production-Ready</a:t>
            </a:r>
            <a:endParaRPr lang="en-US" sz="1050" dirty="0"/>
          </a:p>
        </p:txBody>
      </p:sp>
      <p:sp>
        <p:nvSpPr>
          <p:cNvPr id="42" name="Text 36"/>
          <p:cNvSpPr/>
          <p:nvPr/>
        </p:nvSpPr>
        <p:spPr>
          <a:xfrm>
            <a:off x="658368" y="3118104"/>
            <a:ext cx="8229600" cy="201168"/>
          </a:xfrm>
          <a:prstGeom prst="rect">
            <a:avLst/>
          </a:prstGeom>
          <a:noFill/>
          <a:ln/>
        </p:spPr>
        <p:txBody>
          <a:bodyPr wrap="square" lIns="0" tIns="0" rIns="0" bIns="0" rtlCol="0" anchor="ctr"/>
          <a:lstStyle/>
          <a:p>
            <a:pPr indent="0" marL="0">
              <a:buNone/>
            </a:pPr>
            <a:r>
              <a:rPr lang="en-US" sz="950" dirty="0">
                <a:solidFill>
                  <a:srgbClr val="8899BB"/>
                </a:solidFill>
                <a:latin typeface="Calibri" pitchFamily="34" charset="0"/>
                <a:ea typeface="Calibri" pitchFamily="34" charset="-122"/>
                <a:cs typeface="Calibri" pitchFamily="34" charset="-120"/>
              </a:rPr>
              <a:t>Crash logs, threading, Windows wrappers, hardware diagnostics</a:t>
            </a:r>
            <a:endParaRPr lang="en-US" sz="950" dirty="0"/>
          </a:p>
        </p:txBody>
      </p:sp>
      <p:sp>
        <p:nvSpPr>
          <p:cNvPr id="43" name="Shape 37"/>
          <p:cNvSpPr/>
          <p:nvPr/>
        </p:nvSpPr>
        <p:spPr>
          <a:xfrm>
            <a:off x="182880" y="3419856"/>
            <a:ext cx="8778240" cy="457200"/>
          </a:xfrm>
          <a:prstGeom prst="rect">
            <a:avLst/>
          </a:prstGeom>
          <a:solidFill>
            <a:srgbClr val="0D1F3C"/>
          </a:solidFill>
          <a:ln w="19050">
            <a:solidFill>
              <a:srgbClr val="FF2D78"/>
            </a:solidFill>
            <a:prstDash val="solid"/>
          </a:ln>
        </p:spPr>
      </p:sp>
      <p:sp>
        <p:nvSpPr>
          <p:cNvPr id="44" name="Shape 38"/>
          <p:cNvSpPr/>
          <p:nvPr/>
        </p:nvSpPr>
        <p:spPr>
          <a:xfrm>
            <a:off x="182880" y="3419856"/>
            <a:ext cx="54864" cy="457200"/>
          </a:xfrm>
          <a:prstGeom prst="rect">
            <a:avLst/>
          </a:prstGeom>
          <a:solidFill>
            <a:srgbClr val="FF2D78"/>
          </a:solidFill>
          <a:ln/>
        </p:spPr>
      </p:sp>
      <p:pic>
        <p:nvPicPr>
          <p:cNvPr id="45" name="Image 4" descr="preencoded.png">    </p:cNvPr>
          <p:cNvPicPr>
            <a:picLocks noChangeAspect="1"/>
          </p:cNvPicPr>
          <p:nvPr/>
        </p:nvPicPr>
        <p:blipFill>
          <a:blip r:embed="rId5"/>
          <a:stretch>
            <a:fillRect/>
          </a:stretch>
        </p:blipFill>
        <p:spPr>
          <a:xfrm>
            <a:off x="274320" y="3511296"/>
            <a:ext cx="274320" cy="274320"/>
          </a:xfrm>
          <a:prstGeom prst="rect">
            <a:avLst/>
          </a:prstGeom>
        </p:spPr>
      </p:pic>
      <p:sp>
        <p:nvSpPr>
          <p:cNvPr id="46" name="Text 39"/>
          <p:cNvSpPr/>
          <p:nvPr/>
        </p:nvSpPr>
        <p:spPr>
          <a:xfrm>
            <a:off x="658368" y="3438144"/>
            <a:ext cx="2286000" cy="201168"/>
          </a:xfrm>
          <a:prstGeom prst="rect">
            <a:avLst/>
          </a:prstGeom>
          <a:noFill/>
          <a:ln/>
        </p:spPr>
        <p:txBody>
          <a:bodyPr wrap="square" lIns="0" tIns="0" rIns="0" bIns="0" rtlCol="0" anchor="ctr"/>
          <a:lstStyle/>
          <a:p>
            <a:pPr indent="0" marL="0">
              <a:buNone/>
            </a:pPr>
            <a:r>
              <a:rPr lang="en-US" sz="1050" b="1" dirty="0">
                <a:solidFill>
                  <a:srgbClr val="FF2D78"/>
                </a:solidFill>
                <a:latin typeface="Calibri" pitchFamily="34" charset="0"/>
                <a:ea typeface="Calibri" pitchFamily="34" charset="-122"/>
                <a:cs typeface="Calibri" pitchFamily="34" charset="-120"/>
              </a:rPr>
              <a:t>AI-Powered Assistance</a:t>
            </a:r>
            <a:endParaRPr lang="en-US" sz="1050" dirty="0"/>
          </a:p>
        </p:txBody>
      </p:sp>
      <p:sp>
        <p:nvSpPr>
          <p:cNvPr id="47" name="Text 40"/>
          <p:cNvSpPr/>
          <p:nvPr/>
        </p:nvSpPr>
        <p:spPr>
          <a:xfrm>
            <a:off x="658368" y="3648456"/>
            <a:ext cx="8229600" cy="201168"/>
          </a:xfrm>
          <a:prstGeom prst="rect">
            <a:avLst/>
          </a:prstGeom>
          <a:noFill/>
          <a:ln/>
        </p:spPr>
        <p:txBody>
          <a:bodyPr wrap="square" lIns="0" tIns="0" rIns="0" bIns="0" rtlCol="0" anchor="ctr"/>
          <a:lstStyle/>
          <a:p>
            <a:pPr indent="0" marL="0">
              <a:buNone/>
            </a:pPr>
            <a:r>
              <a:rPr lang="en-US" sz="950" dirty="0">
                <a:solidFill>
                  <a:srgbClr val="8899BB"/>
                </a:solidFill>
                <a:latin typeface="Calibri" pitchFamily="34" charset="0"/>
                <a:ea typeface="Calibri" pitchFamily="34" charset="-122"/>
                <a:cs typeface="Calibri" pitchFamily="34" charset="-120"/>
              </a:rPr>
              <a:t>Groq LLM integration για αυτόματη βελτιστοποίηση ρυθμίσεων</a:t>
            </a:r>
            <a:endParaRPr lang="en-US" sz="950" dirty="0"/>
          </a:p>
        </p:txBody>
      </p:sp>
      <p:sp>
        <p:nvSpPr>
          <p:cNvPr id="48" name="Text 41"/>
          <p:cNvSpPr/>
          <p:nvPr/>
        </p:nvSpPr>
        <p:spPr>
          <a:xfrm>
            <a:off x="274320" y="4041648"/>
            <a:ext cx="4572000" cy="292608"/>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Επόμενα Βήματα για Φοιτητές:</a:t>
            </a:r>
            <a:endParaRPr lang="en-US" sz="1300" dirty="0"/>
          </a:p>
        </p:txBody>
      </p:sp>
      <p:sp>
        <p:nvSpPr>
          <p:cNvPr id="49" name="Shape 42"/>
          <p:cNvSpPr/>
          <p:nvPr/>
        </p:nvSpPr>
        <p:spPr>
          <a:xfrm>
            <a:off x="182880" y="4389120"/>
            <a:ext cx="8778240" cy="594360"/>
          </a:xfrm>
          <a:prstGeom prst="rect">
            <a:avLst/>
          </a:prstGeom>
          <a:solidFill>
            <a:srgbClr val="122544"/>
          </a:solidFill>
          <a:ln w="19050">
            <a:solidFill>
              <a:srgbClr val="00D4FF"/>
            </a:solidFill>
            <a:prstDash val="solid"/>
          </a:ln>
        </p:spPr>
      </p:sp>
      <p:sp>
        <p:nvSpPr>
          <p:cNvPr id="50" name="Text 43"/>
          <p:cNvSpPr/>
          <p:nvPr/>
        </p:nvSpPr>
        <p:spPr>
          <a:xfrm>
            <a:off x="320040" y="4453128"/>
            <a:ext cx="8412480" cy="438912"/>
          </a:xfrm>
          <a:prstGeom prst="rect">
            <a:avLst/>
          </a:prstGeom>
          <a:noFill/>
          <a:ln/>
        </p:spPr>
        <p:txBody>
          <a:bodyPr wrap="square" lIns="0" tIns="0" rIns="0" bIns="0" rtlCol="0" anchor="ctr"/>
          <a:lstStyle/>
          <a:p>
            <a:pPr indent="0" marL="0">
              <a:buNone/>
            </a:pPr>
            <a:r>
              <a:rPr lang="en-US" sz="1100" dirty="0">
                <a:solidFill>
                  <a:srgbClr val="00FF9D"/>
                </a:solidFill>
                <a:latin typeface="Calibri" pitchFamily="34" charset="0"/>
                <a:ea typeface="Calibri" pitchFamily="34" charset="-122"/>
                <a:cs typeface="Calibri" pitchFamily="34" charset="-120"/>
              </a:rPr>
              <a:t>1. Εγκατάσταση &amp; Δοκιμή με COCO8  •  </a:t>
            </a:r>
            <a:pPr indent="0" marL="0">
              <a:buNone/>
            </a:pPr>
            <a:r>
              <a:rPr lang="en-US" sz="1100" dirty="0">
                <a:solidFill>
                  <a:srgbClr val="00D4FF"/>
                </a:solidFill>
                <a:latin typeface="Calibri" pitchFamily="34" charset="0"/>
                <a:ea typeface="Calibri" pitchFamily="34" charset="-122"/>
                <a:cs typeface="Calibri" pitchFamily="34" charset="-120"/>
              </a:rPr>
              <a:t>2. Εκπαίδευση YOLOv8n/v11s  •  </a:t>
            </a:r>
            <a:pPr indent="0" marL="0">
              <a:buNone/>
            </a:pPr>
            <a:r>
              <a:rPr lang="en-US" sz="1100" dirty="0">
                <a:solidFill>
                  <a:srgbClr val="FF6B35"/>
                </a:solidFill>
                <a:latin typeface="Calibri" pitchFamily="34" charset="0"/>
                <a:ea typeface="Calibri" pitchFamily="34" charset="-122"/>
                <a:cs typeface="Calibri" pitchFamily="34" charset="-120"/>
              </a:rPr>
              <a:t>3. Export σε ONNX  •  </a:t>
            </a:r>
            <a:pPr indent="0" marL="0">
              <a:buNone/>
            </a:pPr>
            <a:r>
              <a:rPr lang="en-US" sz="1100" dirty="0">
                <a:solidFill>
                  <a:srgbClr val="7B2FBE"/>
                </a:solidFill>
                <a:latin typeface="Calibri" pitchFamily="34" charset="0"/>
                <a:ea typeface="Calibri" pitchFamily="34" charset="-122"/>
                <a:cs typeface="Calibri" pitchFamily="34" charset="-120"/>
              </a:rPr>
              <a:t>4. Live Camera Detection  •  </a:t>
            </a:r>
            <a:pPr indent="0" marL="0">
              <a:buNone/>
            </a:pPr>
            <a:r>
              <a:rPr lang="en-US" sz="1100" dirty="0">
                <a:solidFill>
                  <a:srgbClr val="FF2D78"/>
                </a:solidFill>
                <a:latin typeface="Calibri" pitchFamily="34" charset="0"/>
                <a:ea typeface="Calibri" pitchFamily="34" charset="-122"/>
                <a:cs typeface="Calibri" pitchFamily="34" charset="-120"/>
              </a:rPr>
              <a:t>5. Custom Dataset</a:t>
            </a:r>
            <a:endParaRPr lang="en-US" sz="1100" dirty="0"/>
          </a:p>
        </p:txBody>
      </p:sp>
      <p:sp>
        <p:nvSpPr>
          <p:cNvPr id="51" name="Shape 44"/>
          <p:cNvSpPr/>
          <p:nvPr/>
        </p:nvSpPr>
        <p:spPr>
          <a:xfrm>
            <a:off x="0" y="4846320"/>
            <a:ext cx="9144000" cy="297180"/>
          </a:xfrm>
          <a:prstGeom prst="rect">
            <a:avLst/>
          </a:prstGeom>
          <a:solidFill>
            <a:srgbClr val="122544"/>
          </a:solidFill>
          <a:ln w="12700">
            <a:solidFill>
              <a:srgbClr val="7B2FBE"/>
            </a:solidFill>
            <a:prstDash val="solid"/>
          </a:ln>
        </p:spPr>
      </p:sp>
      <p:sp>
        <p:nvSpPr>
          <p:cNvPr id="52" name="Text 45"/>
          <p:cNvSpPr/>
          <p:nvPr/>
        </p:nvSpPr>
        <p:spPr>
          <a:xfrm>
            <a:off x="274320" y="4873752"/>
            <a:ext cx="8595360" cy="246888"/>
          </a:xfrm>
          <a:prstGeom prst="rect">
            <a:avLst/>
          </a:prstGeom>
          <a:noFill/>
          <a:ln/>
        </p:spPr>
        <p:txBody>
          <a:bodyPr wrap="square" lIns="0" tIns="0" rIns="0" bIns="0" rtlCol="0" anchor="ctr"/>
          <a:lstStyle/>
          <a:p>
            <a:pPr algn="ctr" indent="0" marL="0">
              <a:buNone/>
            </a:pPr>
            <a:r>
              <a:rPr lang="en-US" sz="900" dirty="0">
                <a:solidFill>
                  <a:srgbClr val="8899BB"/>
                </a:solidFill>
                <a:latin typeface="Calibri" pitchFamily="34" charset="0"/>
                <a:ea typeface="Calibri" pitchFamily="34" charset="-122"/>
                <a:cs typeface="Calibri" pitchFamily="34" charset="-120"/>
              </a:rPr>
              <a:t>© Πεφάνης Ευάγγελος  |  Models Manager Pro v4.0 – AI Copilot Edition  |  Python 3.12 + PyTorch + Ultralytics + PySide6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Models Manager Pro v4.0 – AI Copilot Edition</dc:title>
  <dc:subject>PptxGenJS Presentation</dc:subject>
  <dc:creator>Πεφάνης Ευάγγελος</dc:creator>
  <cp:lastModifiedBy>Πεφάνης Ευάγγελος</cp:lastModifiedBy>
  <cp:revision>1</cp:revision>
  <dcterms:created xsi:type="dcterms:W3CDTF">2026-03-15T17:12:13Z</dcterms:created>
  <dcterms:modified xsi:type="dcterms:W3CDTF">2026-03-15T17:12:13Z</dcterms:modified>
</cp:coreProperties>
</file>